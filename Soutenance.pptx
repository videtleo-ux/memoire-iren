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Inter" panose="020B0604020202020204" charset="0"/>
      <p:bold r:id="rId15"/>
      <p:boldItalic r:id="rId16"/>
    </p:embeddedFont>
    <p:embeddedFont>
      <p:font typeface="Playfair Display" panose="00000500000000000000" pitchFamily="2" charset="0"/>
      <p:regular r:id="rId17"/>
      <p:bold r:id="rId18"/>
      <p:boldItalic r:id="rId19"/>
    </p:embeddedFont>
    <p:embeddedFont>
      <p:font typeface="Playfair Display SemiBold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3567" autoAdjust="0"/>
    <p:restoredTop sz="95020" autoAdjust="0"/>
  </p:normalViewPr>
  <p:slideViewPr>
    <p:cSldViewPr snapToGrid="0">
      <p:cViewPr varScale="1">
        <p:scale>
          <a:sx n="109" d="100"/>
          <a:sy n="109" d="100"/>
        </p:scale>
        <p:origin x="1310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g3f43d40a468_3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" name="Google Shape;9;g3f43d40a468_3_2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Bonjour. Je </a:t>
            </a:r>
            <a:r>
              <a:rPr dirty="0" err="1"/>
              <a:t>vais</a:t>
            </a:r>
            <a:r>
              <a:rPr dirty="0"/>
              <a:t> vous </a:t>
            </a:r>
            <a:r>
              <a:rPr dirty="0" err="1"/>
              <a:t>présenter</a:t>
            </a:r>
            <a:r>
              <a:rPr dirty="0"/>
              <a:t> un travail qui pose </a:t>
            </a:r>
            <a:r>
              <a:rPr dirty="0" err="1"/>
              <a:t>une</a:t>
            </a:r>
            <a:r>
              <a:rPr dirty="0"/>
              <a:t> question simple : </a:t>
            </a:r>
            <a:r>
              <a:rPr dirty="0" err="1"/>
              <a:t>quand</a:t>
            </a:r>
            <a:r>
              <a:rPr dirty="0"/>
              <a:t> on </a:t>
            </a:r>
            <a:r>
              <a:rPr dirty="0" err="1"/>
              <a:t>donne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 à un agent </a:t>
            </a:r>
            <a:r>
              <a:rPr dirty="0" err="1"/>
              <a:t>doté</a:t>
            </a:r>
            <a:r>
              <a:rPr dirty="0"/>
              <a:t> d'un </a:t>
            </a:r>
            <a:r>
              <a:rPr dirty="0" err="1"/>
              <a:t>modèle</a:t>
            </a:r>
            <a:r>
              <a:rPr dirty="0"/>
              <a:t> de </a:t>
            </a:r>
            <a:r>
              <a:rPr dirty="0" err="1"/>
              <a:t>langage</a:t>
            </a:r>
            <a:r>
              <a:rPr dirty="0"/>
              <a:t>, et </a:t>
            </a:r>
            <a:r>
              <a:rPr dirty="0" err="1"/>
              <a:t>qu'on</a:t>
            </a:r>
            <a:r>
              <a:rPr dirty="0"/>
              <a:t> le place dans </a:t>
            </a:r>
            <a:r>
              <a:rPr dirty="0" err="1"/>
              <a:t>une</a:t>
            </a:r>
            <a:r>
              <a:rPr dirty="0"/>
              <a:t> situation </a:t>
            </a:r>
            <a:r>
              <a:rPr dirty="0" err="1"/>
              <a:t>stratégique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il faut </a:t>
            </a:r>
            <a:r>
              <a:rPr dirty="0" err="1"/>
              <a:t>deviner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fait </a:t>
            </a:r>
            <a:r>
              <a:rPr dirty="0" err="1"/>
              <a:t>l'autre</a:t>
            </a:r>
            <a:r>
              <a:rPr dirty="0"/>
              <a:t>, </a:t>
            </a:r>
            <a:r>
              <a:rPr dirty="0" err="1"/>
              <a:t>développe</a:t>
            </a:r>
            <a:r>
              <a:rPr dirty="0"/>
              <a:t>-t-il quelque chose qui mérite le nom de </a:t>
            </a:r>
            <a:r>
              <a:rPr dirty="0" err="1"/>
              <a:t>stratégie</a:t>
            </a:r>
            <a:r>
              <a:rPr dirty="0"/>
              <a:t> ?</a:t>
            </a:r>
          </a:p>
          <a:p>
            <a:pPr>
              <a:buNone/>
            </a:pPr>
            <a:r>
              <a:rPr dirty="0"/>
              <a:t>Je </a:t>
            </a:r>
            <a:r>
              <a:rPr dirty="0" err="1"/>
              <a:t>procéderai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trois temps : </a:t>
            </a:r>
            <a:r>
              <a:rPr dirty="0" err="1"/>
              <a:t>d'où</a:t>
            </a:r>
            <a:r>
              <a:rPr dirty="0"/>
              <a:t> </a:t>
            </a:r>
            <a:r>
              <a:rPr dirty="0" err="1"/>
              <a:t>vient</a:t>
            </a:r>
            <a:r>
              <a:rPr dirty="0"/>
              <a:t> la question, comment je </a:t>
            </a:r>
            <a:r>
              <a:rPr dirty="0" err="1"/>
              <a:t>l'ai</a:t>
            </a:r>
            <a:r>
              <a:rPr dirty="0"/>
              <a:t> </a:t>
            </a:r>
            <a:r>
              <a:rPr dirty="0" err="1"/>
              <a:t>rendue</a:t>
            </a:r>
            <a:r>
              <a:rPr dirty="0"/>
              <a:t> </a:t>
            </a:r>
            <a:r>
              <a:rPr dirty="0" err="1"/>
              <a:t>mesurable</a:t>
            </a:r>
            <a:r>
              <a:rPr dirty="0"/>
              <a:t>, et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les </a:t>
            </a:r>
            <a:r>
              <a:rPr dirty="0" err="1"/>
              <a:t>mesures</a:t>
            </a:r>
            <a:r>
              <a:rPr dirty="0"/>
              <a:t> </a:t>
            </a:r>
            <a:r>
              <a:rPr dirty="0" err="1"/>
              <a:t>disent</a:t>
            </a:r>
            <a:r>
              <a:rPr dirty="0"/>
              <a:t>. </a:t>
            </a:r>
            <a:r>
              <a:rPr dirty="0" err="1"/>
              <a:t>J'ai</a:t>
            </a:r>
            <a:r>
              <a:rPr dirty="0"/>
              <a:t> </a:t>
            </a:r>
            <a:r>
              <a:rPr dirty="0" err="1"/>
              <a:t>construit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arène</a:t>
            </a:r>
            <a:r>
              <a:rPr dirty="0"/>
              <a:t> </a:t>
            </a:r>
            <a:r>
              <a:rPr dirty="0" err="1"/>
              <a:t>expérimentale</a:t>
            </a:r>
            <a:r>
              <a:rPr dirty="0"/>
              <a:t> pour </a:t>
            </a:r>
            <a:r>
              <a:rPr dirty="0" err="1"/>
              <a:t>cela</a:t>
            </a:r>
            <a:r>
              <a:rPr dirty="0"/>
              <a:t>, et </a:t>
            </a:r>
            <a:r>
              <a:rPr dirty="0" err="1"/>
              <a:t>j'y</a:t>
            </a:r>
            <a:r>
              <a:rPr dirty="0"/>
              <a:t> ai fait </a:t>
            </a:r>
            <a:r>
              <a:rPr dirty="0" err="1"/>
              <a:t>jouer</a:t>
            </a:r>
            <a:r>
              <a:rPr dirty="0"/>
              <a:t> un agent sur plus de </a:t>
            </a:r>
            <a:r>
              <a:rPr dirty="0" err="1"/>
              <a:t>vingt</a:t>
            </a:r>
            <a:r>
              <a:rPr dirty="0"/>
              <a:t>-sept </a:t>
            </a:r>
            <a:r>
              <a:rPr dirty="0" err="1"/>
              <a:t>mille</a:t>
            </a:r>
            <a:r>
              <a:rPr dirty="0"/>
              <a:t> </a:t>
            </a:r>
            <a:r>
              <a:rPr dirty="0" err="1"/>
              <a:t>décisions</a:t>
            </a:r>
            <a:r>
              <a:rPr dirty="0"/>
              <a:t>.</a:t>
            </a:r>
          </a:p>
        </p:txBody>
      </p:sp>
      <p:sp>
        <p:nvSpPr>
          <p:cNvPr id="10" name="Google Shape;10;g3f43d40a468_3_2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fb2f260372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1" name="Google Shape;21;g3fb2f260372_1_9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Les </a:t>
            </a:r>
            <a:r>
              <a:rPr dirty="0" err="1"/>
              <a:t>modèles</a:t>
            </a:r>
            <a:r>
              <a:rPr dirty="0"/>
              <a:t> de </a:t>
            </a:r>
            <a:r>
              <a:rPr dirty="0" err="1"/>
              <a:t>langage</a:t>
            </a:r>
            <a:r>
              <a:rPr dirty="0"/>
              <a:t> ne </a:t>
            </a:r>
            <a:r>
              <a:rPr dirty="0" err="1"/>
              <a:t>produisent</a:t>
            </a:r>
            <a:r>
              <a:rPr dirty="0"/>
              <a:t> pas </a:t>
            </a:r>
            <a:r>
              <a:rPr dirty="0" err="1"/>
              <a:t>seulement</a:t>
            </a:r>
            <a:r>
              <a:rPr dirty="0"/>
              <a:t> du </a:t>
            </a:r>
            <a:r>
              <a:rPr dirty="0" err="1"/>
              <a:t>texte</a:t>
            </a:r>
            <a:r>
              <a:rPr dirty="0"/>
              <a:t>. </a:t>
            </a:r>
            <a:r>
              <a:rPr dirty="0" err="1"/>
              <a:t>Ils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déployés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agents </a:t>
            </a:r>
            <a:r>
              <a:rPr dirty="0" err="1"/>
              <a:t>autonomes</a:t>
            </a:r>
            <a:r>
              <a:rPr dirty="0"/>
              <a:t> : </a:t>
            </a:r>
            <a:r>
              <a:rPr dirty="0" err="1"/>
              <a:t>ils</a:t>
            </a:r>
            <a:r>
              <a:rPr dirty="0"/>
              <a:t> </a:t>
            </a:r>
            <a:r>
              <a:rPr dirty="0" err="1"/>
              <a:t>négocient</a:t>
            </a:r>
            <a:r>
              <a:rPr dirty="0"/>
              <a:t> des </a:t>
            </a:r>
            <a:r>
              <a:rPr dirty="0" err="1"/>
              <a:t>contrats</a:t>
            </a:r>
            <a:r>
              <a:rPr dirty="0"/>
              <a:t>, </a:t>
            </a:r>
            <a:r>
              <a:rPr dirty="0" err="1"/>
              <a:t>enchérissent</a:t>
            </a:r>
            <a:r>
              <a:rPr dirty="0"/>
              <a:t>, </a:t>
            </a:r>
            <a:r>
              <a:rPr dirty="0" err="1"/>
              <a:t>fixent</a:t>
            </a:r>
            <a:r>
              <a:rPr dirty="0"/>
              <a:t> des prix, </a:t>
            </a:r>
            <a:r>
              <a:rPr dirty="0" err="1"/>
              <a:t>arbitrent</a:t>
            </a:r>
            <a:r>
              <a:rPr dirty="0"/>
              <a:t> des allocations, et de plus </a:t>
            </a:r>
            <a:r>
              <a:rPr dirty="0" err="1"/>
              <a:t>en</a:t>
            </a:r>
            <a:r>
              <a:rPr dirty="0"/>
              <a:t> plus </a:t>
            </a:r>
            <a:r>
              <a:rPr dirty="0" err="1"/>
              <a:t>souvent</a:t>
            </a:r>
            <a:r>
              <a:rPr dirty="0"/>
              <a:t> face à </a:t>
            </a:r>
            <a:r>
              <a:rPr dirty="0" err="1"/>
              <a:t>d'autres</a:t>
            </a:r>
            <a:r>
              <a:rPr dirty="0"/>
              <a:t> agents </a:t>
            </a:r>
            <a:r>
              <a:rPr dirty="0" err="1"/>
              <a:t>dont</a:t>
            </a:r>
            <a:r>
              <a:rPr dirty="0"/>
              <a:t> les </a:t>
            </a:r>
            <a:r>
              <a:rPr dirty="0" err="1"/>
              <a:t>intérêts</a:t>
            </a:r>
            <a:r>
              <a:rPr dirty="0"/>
              <a:t> divergent des </a:t>
            </a:r>
            <a:r>
              <a:rPr dirty="0" err="1"/>
              <a:t>leurs</a:t>
            </a:r>
            <a:r>
              <a:rPr dirty="0"/>
              <a:t>. </a:t>
            </a:r>
            <a:r>
              <a:rPr dirty="0" err="1"/>
              <a:t>L'enjeu</a:t>
            </a:r>
            <a:r>
              <a:rPr dirty="0"/>
              <a:t> est économique avant d'être technique :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ces</a:t>
            </a:r>
            <a:r>
              <a:rPr dirty="0"/>
              <a:t> agents </a:t>
            </a:r>
            <a:r>
              <a:rPr dirty="0" err="1"/>
              <a:t>prennent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part </a:t>
            </a:r>
            <a:r>
              <a:rPr dirty="0" err="1"/>
              <a:t>croissante</a:t>
            </a:r>
            <a:r>
              <a:rPr dirty="0"/>
              <a:t> des </a:t>
            </a:r>
            <a:r>
              <a:rPr dirty="0" err="1"/>
              <a:t>décisions</a:t>
            </a:r>
            <a:r>
              <a:rPr dirty="0"/>
              <a:t> de </a:t>
            </a:r>
            <a:r>
              <a:rPr dirty="0" err="1"/>
              <a:t>marché</a:t>
            </a:r>
            <a:r>
              <a:rPr dirty="0"/>
              <a:t>, </a:t>
            </a:r>
            <a:r>
              <a:rPr dirty="0" err="1"/>
              <a:t>alors</a:t>
            </a:r>
            <a:r>
              <a:rPr dirty="0"/>
              <a:t> la nature de </a:t>
            </a:r>
            <a:r>
              <a:rPr dirty="0" err="1"/>
              <a:t>leur</a:t>
            </a:r>
            <a:r>
              <a:rPr dirty="0"/>
              <a:t> </a:t>
            </a:r>
            <a:r>
              <a:rPr dirty="0" err="1"/>
              <a:t>rationalité</a:t>
            </a:r>
            <a:r>
              <a:rPr dirty="0"/>
              <a:t> </a:t>
            </a:r>
            <a:r>
              <a:rPr dirty="0" err="1"/>
              <a:t>détermine</a:t>
            </a:r>
            <a:r>
              <a:rPr dirty="0"/>
              <a:t> les </a:t>
            </a:r>
            <a:r>
              <a:rPr dirty="0" err="1"/>
              <a:t>équilibres</a:t>
            </a:r>
            <a:r>
              <a:rPr dirty="0"/>
              <a:t> qui </a:t>
            </a:r>
            <a:r>
              <a:rPr dirty="0" err="1"/>
              <a:t>s'y</a:t>
            </a:r>
            <a:r>
              <a:rPr dirty="0"/>
              <a:t> </a:t>
            </a:r>
            <a:r>
              <a:rPr dirty="0" err="1"/>
              <a:t>forment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Ce </a:t>
            </a:r>
            <a:r>
              <a:rPr dirty="0" err="1"/>
              <a:t>n'est</a:t>
            </a:r>
            <a:r>
              <a:rPr dirty="0"/>
              <a:t> pas </a:t>
            </a:r>
            <a:r>
              <a:rPr dirty="0" err="1"/>
              <a:t>une</a:t>
            </a:r>
            <a:r>
              <a:rPr dirty="0"/>
              <a:t> projection. Je </a:t>
            </a:r>
            <a:r>
              <a:rPr dirty="0" err="1"/>
              <a:t>l'ai</a:t>
            </a:r>
            <a:r>
              <a:rPr dirty="0"/>
              <a:t> </a:t>
            </a:r>
            <a:r>
              <a:rPr dirty="0" err="1"/>
              <a:t>observé</a:t>
            </a:r>
            <a:r>
              <a:rPr dirty="0"/>
              <a:t> pendant </a:t>
            </a:r>
            <a:r>
              <a:rPr lang="fr-FR" dirty="0"/>
              <a:t>un</a:t>
            </a:r>
            <a:r>
              <a:rPr dirty="0"/>
              <a:t> an </a:t>
            </a:r>
            <a:r>
              <a:rPr dirty="0" err="1"/>
              <a:t>en</a:t>
            </a:r>
            <a:r>
              <a:rPr dirty="0"/>
              <a:t> conseil </a:t>
            </a:r>
            <a:r>
              <a:rPr dirty="0" err="1"/>
              <a:t>en</a:t>
            </a:r>
            <a:r>
              <a:rPr dirty="0"/>
              <a:t> innovation, et </a:t>
            </a:r>
            <a:r>
              <a:rPr dirty="0" err="1"/>
              <a:t>toujours</a:t>
            </a:r>
            <a:r>
              <a:rPr dirty="0"/>
              <a:t> dans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ordre</a:t>
            </a:r>
            <a:r>
              <a:rPr dirty="0"/>
              <a:t>.</a:t>
            </a:r>
          </a:p>
          <a:p>
            <a:pPr>
              <a:buNone/>
            </a:pPr>
            <a:r>
              <a:rPr dirty="0" err="1"/>
              <a:t>D'abord</a:t>
            </a:r>
            <a:r>
              <a:rPr dirty="0"/>
              <a:t> </a:t>
            </a:r>
            <a:r>
              <a:rPr dirty="0" err="1"/>
              <a:t>l'IA</a:t>
            </a:r>
            <a:r>
              <a:rPr dirty="0"/>
              <a:t> </a:t>
            </a:r>
            <a:r>
              <a:rPr dirty="0" err="1"/>
              <a:t>outille</a:t>
            </a:r>
            <a:r>
              <a:rPr dirty="0"/>
              <a:t> la </a:t>
            </a:r>
            <a:r>
              <a:rPr dirty="0" err="1"/>
              <a:t>décision</a:t>
            </a:r>
            <a:r>
              <a:rPr dirty="0"/>
              <a:t>. Chez FDJ United, </a:t>
            </a:r>
            <a:r>
              <a:rPr dirty="0" err="1"/>
              <a:t>j'ai</a:t>
            </a:r>
            <a:r>
              <a:rPr dirty="0"/>
              <a:t> </a:t>
            </a:r>
            <a:r>
              <a:rPr dirty="0" err="1"/>
              <a:t>contribué</a:t>
            </a:r>
            <a:r>
              <a:rPr dirty="0"/>
              <a:t> à un </a:t>
            </a:r>
            <a:r>
              <a:rPr dirty="0" err="1"/>
              <a:t>dispositif</a:t>
            </a:r>
            <a:r>
              <a:rPr dirty="0"/>
              <a:t> de </a:t>
            </a:r>
            <a:r>
              <a:rPr dirty="0" err="1"/>
              <a:t>veille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</a:t>
            </a:r>
            <a:r>
              <a:rPr dirty="0" err="1"/>
              <a:t>l'analyse</a:t>
            </a:r>
            <a:r>
              <a:rPr dirty="0"/>
              <a:t> </a:t>
            </a:r>
            <a:r>
              <a:rPr dirty="0" err="1"/>
              <a:t>automatique</a:t>
            </a:r>
            <a:r>
              <a:rPr dirty="0"/>
              <a:t> </a:t>
            </a:r>
            <a:r>
              <a:rPr dirty="0" err="1"/>
              <a:t>filtre</a:t>
            </a:r>
            <a:r>
              <a:rPr dirty="0"/>
              <a:t> plus de cent articles par </a:t>
            </a:r>
            <a:r>
              <a:rPr dirty="0" err="1"/>
              <a:t>semaine</a:t>
            </a:r>
            <a:r>
              <a:rPr dirty="0"/>
              <a:t> avant </a:t>
            </a:r>
            <a:r>
              <a:rPr dirty="0" err="1"/>
              <a:t>que</a:t>
            </a:r>
            <a:r>
              <a:rPr dirty="0"/>
              <a:t> nous les </a:t>
            </a:r>
            <a:r>
              <a:rPr dirty="0" err="1"/>
              <a:t>éditorialisions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Ensuite </a:t>
            </a:r>
            <a:r>
              <a:rPr dirty="0" err="1"/>
              <a:t>elle</a:t>
            </a:r>
            <a:r>
              <a:rPr dirty="0"/>
              <a:t> entre dans les process. Dans </a:t>
            </a:r>
            <a:r>
              <a:rPr dirty="0" err="1"/>
              <a:t>une</a:t>
            </a:r>
            <a:r>
              <a:rPr dirty="0"/>
              <a:t> maison de luxe, </a:t>
            </a:r>
            <a:r>
              <a:rPr dirty="0" err="1"/>
              <a:t>j'ai</a:t>
            </a:r>
            <a:r>
              <a:rPr dirty="0"/>
              <a:t> conduit </a:t>
            </a:r>
            <a:r>
              <a:rPr dirty="0" err="1"/>
              <a:t>quarante</a:t>
            </a:r>
            <a:r>
              <a:rPr dirty="0"/>
              <a:t>-quatre </a:t>
            </a:r>
            <a:r>
              <a:rPr dirty="0" err="1"/>
              <a:t>entretiens</a:t>
            </a:r>
            <a:r>
              <a:rPr dirty="0"/>
              <a:t>, de la vente au </a:t>
            </a:r>
            <a:r>
              <a:rPr dirty="0" err="1"/>
              <a:t>comité</a:t>
            </a:r>
            <a:r>
              <a:rPr dirty="0"/>
              <a:t> </a:t>
            </a:r>
            <a:r>
              <a:rPr dirty="0" err="1"/>
              <a:t>exécutif</a:t>
            </a:r>
            <a:r>
              <a:rPr dirty="0"/>
              <a:t>, pour </a:t>
            </a:r>
            <a:r>
              <a:rPr dirty="0" err="1"/>
              <a:t>aboutir</a:t>
            </a:r>
            <a:r>
              <a:rPr dirty="0"/>
              <a:t> à cinq </a:t>
            </a:r>
            <a:r>
              <a:rPr dirty="0" err="1"/>
              <a:t>cas</a:t>
            </a:r>
            <a:r>
              <a:rPr dirty="0"/>
              <a:t> </a:t>
            </a:r>
            <a:r>
              <a:rPr dirty="0" err="1"/>
              <a:t>d'usage</a:t>
            </a:r>
            <a:r>
              <a:rPr dirty="0"/>
              <a:t> </a:t>
            </a:r>
            <a:r>
              <a:rPr dirty="0" err="1"/>
              <a:t>prototypés</a:t>
            </a:r>
            <a:r>
              <a:rPr dirty="0"/>
              <a:t> et </a:t>
            </a:r>
            <a:r>
              <a:rPr dirty="0" err="1"/>
              <a:t>chiffrés</a:t>
            </a:r>
            <a:r>
              <a:rPr dirty="0"/>
              <a:t> pour le retail. Dans un </a:t>
            </a:r>
            <a:r>
              <a:rPr dirty="0" err="1"/>
              <a:t>groupe</a:t>
            </a:r>
            <a:r>
              <a:rPr dirty="0"/>
              <a:t> </a:t>
            </a:r>
            <a:r>
              <a:rPr dirty="0" err="1"/>
              <a:t>industriel</a:t>
            </a:r>
            <a:r>
              <a:rPr dirty="0"/>
              <a:t>, la question </a:t>
            </a:r>
            <a:r>
              <a:rPr dirty="0" err="1"/>
              <a:t>posée</a:t>
            </a:r>
            <a:r>
              <a:rPr dirty="0"/>
              <a:t> au </a:t>
            </a:r>
            <a:r>
              <a:rPr dirty="0" err="1"/>
              <a:t>comité</a:t>
            </a:r>
            <a:r>
              <a:rPr dirty="0"/>
              <a:t> </a:t>
            </a:r>
            <a:r>
              <a:rPr dirty="0" err="1"/>
              <a:t>exécutif</a:t>
            </a:r>
            <a:r>
              <a:rPr dirty="0"/>
              <a:t> </a:t>
            </a:r>
            <a:r>
              <a:rPr dirty="0" err="1"/>
              <a:t>n'était</a:t>
            </a:r>
            <a:r>
              <a:rPr dirty="0"/>
              <a:t> déjà plus </a:t>
            </a:r>
            <a:r>
              <a:rPr dirty="0" err="1"/>
              <a:t>l'outil</a:t>
            </a:r>
            <a:r>
              <a:rPr dirty="0"/>
              <a:t>, </a:t>
            </a:r>
            <a:r>
              <a:rPr dirty="0" err="1"/>
              <a:t>mais</a:t>
            </a:r>
            <a:r>
              <a:rPr dirty="0"/>
              <a:t> la </a:t>
            </a:r>
            <a:r>
              <a:rPr dirty="0" err="1"/>
              <a:t>feuille</a:t>
            </a:r>
            <a:r>
              <a:rPr dirty="0"/>
              <a:t> de route.</a:t>
            </a:r>
          </a:p>
          <a:p>
            <a:pPr>
              <a:buNone/>
            </a:pPr>
            <a:r>
              <a:rPr dirty="0" err="1"/>
              <a:t>Puis</a:t>
            </a:r>
            <a:r>
              <a:rPr dirty="0"/>
              <a:t> </a:t>
            </a:r>
            <a:r>
              <a:rPr dirty="0" err="1"/>
              <a:t>elle</a:t>
            </a:r>
            <a:r>
              <a:rPr dirty="0"/>
              <a:t> agit </a:t>
            </a:r>
            <a:r>
              <a:rPr dirty="0" err="1"/>
              <a:t>seule</a:t>
            </a:r>
            <a:r>
              <a:rPr dirty="0"/>
              <a:t>. </a:t>
            </a:r>
            <a:r>
              <a:rPr dirty="0" err="1"/>
              <a:t>J'ai</a:t>
            </a:r>
            <a:r>
              <a:rPr dirty="0"/>
              <a:t> </a:t>
            </a:r>
            <a:r>
              <a:rPr dirty="0" err="1"/>
              <a:t>construit</a:t>
            </a:r>
            <a:r>
              <a:rPr dirty="0"/>
              <a:t> un assistant qui </a:t>
            </a:r>
            <a:r>
              <a:rPr dirty="0" err="1"/>
              <a:t>cartographie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chaîne</a:t>
            </a:r>
            <a:r>
              <a:rPr dirty="0"/>
              <a:t> de </a:t>
            </a:r>
            <a:r>
              <a:rPr dirty="0" err="1"/>
              <a:t>valeur</a:t>
            </a:r>
            <a:r>
              <a:rPr dirty="0"/>
              <a:t> sans moi : cinq minutes, </a:t>
            </a:r>
            <a:r>
              <a:rPr dirty="0" err="1"/>
              <a:t>contre</a:t>
            </a:r>
            <a:r>
              <a:rPr dirty="0"/>
              <a:t> </a:t>
            </a:r>
            <a:r>
              <a:rPr dirty="0" err="1"/>
              <a:t>plusieurs</a:t>
            </a:r>
            <a:r>
              <a:rPr dirty="0"/>
              <a:t> </a:t>
            </a:r>
            <a:r>
              <a:rPr dirty="0" err="1"/>
              <a:t>heures</a:t>
            </a:r>
            <a:r>
              <a:rPr dirty="0"/>
              <a:t>. Il ne me </a:t>
            </a:r>
            <a:r>
              <a:rPr dirty="0" err="1"/>
              <a:t>répond</a:t>
            </a:r>
            <a:r>
              <a:rPr dirty="0"/>
              <a:t> pas, il </a:t>
            </a:r>
            <a:r>
              <a:rPr dirty="0" err="1"/>
              <a:t>produit</a:t>
            </a:r>
            <a:r>
              <a:rPr dirty="0"/>
              <a:t>.</a:t>
            </a:r>
          </a:p>
          <a:p>
            <a:pPr>
              <a:buNone/>
            </a:pPr>
            <a:r>
              <a:rPr dirty="0" err="1"/>
              <a:t>C'est</a:t>
            </a:r>
            <a:r>
              <a:rPr dirty="0"/>
              <a:t> à </a:t>
            </a:r>
            <a:r>
              <a:rPr dirty="0" err="1"/>
              <a:t>ce</a:t>
            </a:r>
            <a:r>
              <a:rPr dirty="0"/>
              <a:t> dernier </a:t>
            </a:r>
            <a:r>
              <a:rPr dirty="0" err="1"/>
              <a:t>palier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ma question se pose, et </a:t>
            </a:r>
            <a:r>
              <a:rPr dirty="0" err="1"/>
              <a:t>personne</a:t>
            </a:r>
            <a:r>
              <a:rPr dirty="0"/>
              <a:t> </a:t>
            </a:r>
            <a:r>
              <a:rPr dirty="0" err="1"/>
              <a:t>autour</a:t>
            </a:r>
            <a:r>
              <a:rPr dirty="0"/>
              <a:t> de la table ne </a:t>
            </a:r>
            <a:r>
              <a:rPr dirty="0" err="1"/>
              <a:t>savait</a:t>
            </a:r>
            <a:r>
              <a:rPr dirty="0"/>
              <a:t> y </a:t>
            </a:r>
            <a:r>
              <a:rPr dirty="0" err="1"/>
              <a:t>répondre</a:t>
            </a:r>
            <a:r>
              <a:rPr dirty="0"/>
              <a:t> : sur quoi </a:t>
            </a:r>
            <a:r>
              <a:rPr dirty="0" err="1"/>
              <a:t>ces</a:t>
            </a:r>
            <a:r>
              <a:rPr dirty="0"/>
              <a:t> agents </a:t>
            </a:r>
            <a:r>
              <a:rPr dirty="0" err="1"/>
              <a:t>fondent-ils</a:t>
            </a:r>
            <a:r>
              <a:rPr dirty="0"/>
              <a:t> </a:t>
            </a:r>
            <a:r>
              <a:rPr dirty="0" err="1"/>
              <a:t>leurs</a:t>
            </a:r>
            <a:r>
              <a:rPr dirty="0"/>
              <a:t> </a:t>
            </a:r>
            <a:r>
              <a:rPr dirty="0" err="1"/>
              <a:t>décisions</a:t>
            </a:r>
            <a:r>
              <a:rPr dirty="0"/>
              <a:t> ? </a:t>
            </a:r>
            <a:r>
              <a:rPr dirty="0" err="1"/>
              <a:t>D'où</a:t>
            </a:r>
            <a:r>
              <a:rPr dirty="0"/>
              <a:t> </a:t>
            </a:r>
            <a:r>
              <a:rPr dirty="0" err="1"/>
              <a:t>l'énoncé</a:t>
            </a:r>
            <a:r>
              <a:rPr dirty="0"/>
              <a:t> du bandeau. Il a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seconde</a:t>
            </a:r>
            <a:r>
              <a:rPr dirty="0"/>
              <a:t> </a:t>
            </a:r>
            <a:r>
              <a:rPr dirty="0" err="1"/>
              <a:t>branche</a:t>
            </a:r>
            <a:r>
              <a:rPr dirty="0"/>
              <a:t>, </a:t>
            </a:r>
            <a:r>
              <a:rPr dirty="0" err="1"/>
              <a:t>que</a:t>
            </a:r>
            <a:r>
              <a:rPr dirty="0"/>
              <a:t> je garde pour la fin : </a:t>
            </a:r>
            <a:r>
              <a:rPr dirty="0" err="1"/>
              <a:t>cette</a:t>
            </a:r>
            <a:r>
              <a:rPr dirty="0"/>
              <a:t> adaptation </a:t>
            </a:r>
            <a:r>
              <a:rPr dirty="0" err="1"/>
              <a:t>rapproche</a:t>
            </a:r>
            <a:r>
              <a:rPr dirty="0"/>
              <a:t>-t-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l'agent</a:t>
            </a:r>
            <a:r>
              <a:rPr dirty="0"/>
              <a:t> de </a:t>
            </a:r>
            <a:r>
              <a:rPr dirty="0" err="1"/>
              <a:t>l'optimalité</a:t>
            </a:r>
            <a:r>
              <a:rPr dirty="0"/>
              <a:t>,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reproduit-elle</a:t>
            </a:r>
            <a:r>
              <a:rPr dirty="0"/>
              <a:t> des </a:t>
            </a:r>
            <a:r>
              <a:rPr dirty="0" err="1"/>
              <a:t>biais</a:t>
            </a:r>
            <a:r>
              <a:rPr dirty="0"/>
              <a:t> ?</a:t>
            </a:r>
          </a:p>
        </p:txBody>
      </p:sp>
      <p:sp>
        <p:nvSpPr>
          <p:cNvPr id="22" name="Google Shape;22;g3fb2f260372_1_9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fb2f260372_1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9" name="Google Shape;29;g3fb2f260372_1_6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Trois </a:t>
            </a:r>
            <a:r>
              <a:rPr dirty="0" err="1"/>
              <a:t>littératures</a:t>
            </a:r>
            <a:r>
              <a:rPr dirty="0"/>
              <a:t>, et </a:t>
            </a:r>
            <a:r>
              <a:rPr dirty="0" err="1"/>
              <a:t>elles</a:t>
            </a:r>
            <a:r>
              <a:rPr dirty="0"/>
              <a:t> ne </a:t>
            </a:r>
            <a:r>
              <a:rPr dirty="0" err="1"/>
              <a:t>jouent</a:t>
            </a:r>
            <a:r>
              <a:rPr dirty="0"/>
              <a:t> pas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rôle</a:t>
            </a:r>
            <a:r>
              <a:rPr dirty="0"/>
              <a:t> : la première </a:t>
            </a:r>
            <a:r>
              <a:rPr dirty="0" err="1"/>
              <a:t>fournit</a:t>
            </a:r>
            <a:r>
              <a:rPr dirty="0"/>
              <a:t> la </a:t>
            </a:r>
            <a:r>
              <a:rPr dirty="0" err="1"/>
              <a:t>méthode</a:t>
            </a:r>
            <a:r>
              <a:rPr dirty="0"/>
              <a:t>, la deuxième le </a:t>
            </a:r>
            <a:r>
              <a:rPr dirty="0" err="1"/>
              <a:t>sujet</a:t>
            </a:r>
            <a:r>
              <a:rPr dirty="0"/>
              <a:t>, la </a:t>
            </a:r>
            <a:r>
              <a:rPr dirty="0" err="1"/>
              <a:t>troisième</a:t>
            </a:r>
            <a:r>
              <a:rPr dirty="0"/>
              <a:t> le terrain.</a:t>
            </a:r>
          </a:p>
          <a:p>
            <a:pPr>
              <a:buNone/>
            </a:pPr>
            <a:r>
              <a:rPr dirty="0" err="1"/>
              <a:t>L'économie</a:t>
            </a:r>
            <a:r>
              <a:rPr dirty="0"/>
              <a:t> </a:t>
            </a:r>
            <a:r>
              <a:rPr dirty="0" err="1"/>
              <a:t>comportementale</a:t>
            </a:r>
            <a:r>
              <a:rPr dirty="0"/>
              <a:t> et </a:t>
            </a:r>
            <a:r>
              <a:rPr dirty="0" err="1"/>
              <a:t>expérimentale</a:t>
            </a:r>
            <a:r>
              <a:rPr dirty="0"/>
              <a:t> </a:t>
            </a:r>
            <a:r>
              <a:rPr dirty="0" err="1"/>
              <a:t>substitue</a:t>
            </a:r>
            <a:r>
              <a:rPr dirty="0"/>
              <a:t> à </a:t>
            </a:r>
            <a:r>
              <a:rPr dirty="0" err="1"/>
              <a:t>l'Homo</a:t>
            </a:r>
            <a:r>
              <a:rPr dirty="0"/>
              <a:t> </a:t>
            </a:r>
            <a:r>
              <a:rPr dirty="0" err="1"/>
              <a:t>œconomicus</a:t>
            </a:r>
            <a:r>
              <a:rPr dirty="0"/>
              <a:t> un agent </a:t>
            </a:r>
            <a:r>
              <a:rPr dirty="0" err="1"/>
              <a:t>psychologiquement</a:t>
            </a:r>
            <a:r>
              <a:rPr dirty="0"/>
              <a:t> </a:t>
            </a:r>
            <a:r>
              <a:rPr dirty="0" err="1"/>
              <a:t>situé</a:t>
            </a:r>
            <a:r>
              <a:rPr dirty="0"/>
              <a:t>, </a:t>
            </a:r>
            <a:r>
              <a:rPr dirty="0" err="1"/>
              <a:t>comme</a:t>
            </a:r>
            <a:r>
              <a:rPr dirty="0"/>
              <a:t> le </a:t>
            </a:r>
            <a:r>
              <a:rPr dirty="0" err="1"/>
              <a:t>posent</a:t>
            </a:r>
            <a:r>
              <a:rPr dirty="0"/>
              <a:t> </a:t>
            </a:r>
            <a:r>
              <a:rPr dirty="0" err="1"/>
              <a:t>Jacquemet</a:t>
            </a:r>
            <a:r>
              <a:rPr dirty="0"/>
              <a:t> et </a:t>
            </a:r>
            <a:r>
              <a:rPr dirty="0" err="1"/>
              <a:t>L'Haridon</a:t>
            </a:r>
            <a:r>
              <a:rPr dirty="0"/>
              <a:t>. Elle </a:t>
            </a:r>
            <a:r>
              <a:rPr dirty="0" err="1"/>
              <a:t>m'apporte</a:t>
            </a:r>
            <a:r>
              <a:rPr dirty="0"/>
              <a:t> surtout un instrument : le </a:t>
            </a:r>
            <a:r>
              <a:rPr dirty="0" err="1"/>
              <a:t>laboratoire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moyen de </a:t>
            </a:r>
            <a:r>
              <a:rPr dirty="0" err="1"/>
              <a:t>preuve</a:t>
            </a:r>
            <a:r>
              <a:rPr dirty="0"/>
              <a:t>. </a:t>
            </a:r>
            <a:r>
              <a:rPr dirty="0" err="1"/>
              <a:t>Plutôt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de </a:t>
            </a:r>
            <a:r>
              <a:rPr dirty="0" err="1"/>
              <a:t>décrire</a:t>
            </a:r>
            <a:r>
              <a:rPr dirty="0"/>
              <a:t> un </a:t>
            </a:r>
            <a:r>
              <a:rPr dirty="0" err="1"/>
              <a:t>comportement</a:t>
            </a:r>
            <a:r>
              <a:rPr dirty="0"/>
              <a:t>, on le </a:t>
            </a:r>
            <a:r>
              <a:rPr dirty="0" err="1"/>
              <a:t>confronte</a:t>
            </a:r>
            <a:r>
              <a:rPr dirty="0"/>
              <a:t> à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norme</a:t>
            </a:r>
            <a:r>
              <a:rPr dirty="0"/>
              <a:t> </a:t>
            </a:r>
            <a:r>
              <a:rPr dirty="0" err="1"/>
              <a:t>théorique</a:t>
            </a:r>
            <a:r>
              <a:rPr dirty="0"/>
              <a:t> et on </a:t>
            </a:r>
            <a:r>
              <a:rPr dirty="0" err="1"/>
              <a:t>mesure</a:t>
            </a:r>
            <a:r>
              <a:rPr dirty="0"/>
              <a:t> </a:t>
            </a:r>
            <a:r>
              <a:rPr dirty="0" err="1"/>
              <a:t>l'écart</a:t>
            </a:r>
            <a:r>
              <a:rPr dirty="0"/>
              <a:t>, </a:t>
            </a:r>
            <a:r>
              <a:rPr dirty="0" err="1"/>
              <a:t>si</a:t>
            </a:r>
            <a:r>
              <a:rPr dirty="0"/>
              <a:t> bien </a:t>
            </a:r>
            <a:r>
              <a:rPr dirty="0" err="1"/>
              <a:t>que</a:t>
            </a:r>
            <a:r>
              <a:rPr dirty="0"/>
              <a:t> le </a:t>
            </a:r>
            <a:r>
              <a:rPr dirty="0" err="1"/>
              <a:t>biais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un </a:t>
            </a:r>
            <a:r>
              <a:rPr dirty="0" err="1"/>
              <a:t>objet</a:t>
            </a:r>
            <a:r>
              <a:rPr dirty="0"/>
              <a:t> </a:t>
            </a:r>
            <a:r>
              <a:rPr dirty="0" err="1"/>
              <a:t>structuré</a:t>
            </a:r>
            <a:r>
              <a:rPr dirty="0"/>
              <a:t>, un </a:t>
            </a:r>
            <a:r>
              <a:rPr dirty="0" err="1"/>
              <a:t>écart</a:t>
            </a:r>
            <a:r>
              <a:rPr dirty="0"/>
              <a:t> </a:t>
            </a:r>
            <a:r>
              <a:rPr dirty="0" err="1"/>
              <a:t>systématique</a:t>
            </a:r>
            <a:r>
              <a:rPr dirty="0"/>
              <a:t> à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norme</a:t>
            </a:r>
            <a:r>
              <a:rPr dirty="0"/>
              <a:t>, et non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erreur</a:t>
            </a:r>
            <a:r>
              <a:rPr dirty="0"/>
              <a:t> </a:t>
            </a:r>
            <a:r>
              <a:rPr dirty="0" err="1"/>
              <a:t>aléatoire</a:t>
            </a:r>
            <a:r>
              <a:rPr dirty="0"/>
              <a:t>. Cot et Ferey </a:t>
            </a:r>
            <a:r>
              <a:rPr dirty="0" err="1"/>
              <a:t>ajoutent</a:t>
            </a:r>
            <a:r>
              <a:rPr dirty="0"/>
              <a:t> un </a:t>
            </a:r>
            <a:r>
              <a:rPr dirty="0" err="1"/>
              <a:t>avertissement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je </a:t>
            </a:r>
            <a:r>
              <a:rPr dirty="0" err="1"/>
              <a:t>reprends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conclusion, avec </a:t>
            </a:r>
            <a:r>
              <a:rPr dirty="0" err="1"/>
              <a:t>leur</a:t>
            </a:r>
            <a:r>
              <a:rPr dirty="0"/>
              <a:t> scission tripartite de la </a:t>
            </a:r>
            <a:r>
              <a:rPr dirty="0" err="1"/>
              <a:t>rationalité</a:t>
            </a:r>
            <a:r>
              <a:rPr dirty="0"/>
              <a:t> : </a:t>
            </a:r>
            <a:r>
              <a:rPr dirty="0" err="1"/>
              <a:t>l'optimalité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pas </a:t>
            </a:r>
            <a:r>
              <a:rPr dirty="0" err="1"/>
              <a:t>univoque</a:t>
            </a:r>
            <a:r>
              <a:rPr dirty="0"/>
              <a:t>,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du cadre qui la </a:t>
            </a:r>
            <a:r>
              <a:rPr dirty="0" err="1"/>
              <a:t>juge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Le deuxième </a:t>
            </a:r>
            <a:r>
              <a:rPr dirty="0" err="1"/>
              <a:t>pôle</a:t>
            </a:r>
            <a:r>
              <a:rPr dirty="0"/>
              <a:t> transpose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laboratoire</a:t>
            </a:r>
            <a:r>
              <a:rPr dirty="0"/>
              <a:t> aux machines. Rahwan et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coauteurs</a:t>
            </a:r>
            <a:r>
              <a:rPr dirty="0"/>
              <a:t> </a:t>
            </a:r>
            <a:r>
              <a:rPr dirty="0" err="1"/>
              <a:t>proposent</a:t>
            </a:r>
            <a:r>
              <a:rPr dirty="0"/>
              <a:t> </a:t>
            </a:r>
            <a:r>
              <a:rPr dirty="0" err="1"/>
              <a:t>d'étudier</a:t>
            </a:r>
            <a:r>
              <a:rPr dirty="0"/>
              <a:t> les machines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d'acteurs</a:t>
            </a:r>
            <a:r>
              <a:rPr dirty="0"/>
              <a:t>, et non </a:t>
            </a:r>
            <a:r>
              <a:rPr dirty="0" err="1"/>
              <a:t>comme</a:t>
            </a:r>
            <a:r>
              <a:rPr dirty="0"/>
              <a:t> du code : </a:t>
            </a:r>
            <a:r>
              <a:rPr dirty="0" err="1"/>
              <a:t>leur</a:t>
            </a:r>
            <a:r>
              <a:rPr dirty="0"/>
              <a:t> </a:t>
            </a:r>
            <a:r>
              <a:rPr dirty="0" err="1"/>
              <a:t>comportement</a:t>
            </a:r>
            <a:r>
              <a:rPr dirty="0"/>
              <a:t> </a:t>
            </a:r>
            <a:r>
              <a:rPr dirty="0" err="1"/>
              <a:t>émergent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pas </a:t>
            </a:r>
            <a:r>
              <a:rPr dirty="0" err="1"/>
              <a:t>formalisable</a:t>
            </a:r>
            <a:r>
              <a:rPr dirty="0"/>
              <a:t> </a:t>
            </a:r>
            <a:r>
              <a:rPr dirty="0" err="1"/>
              <a:t>analytiquement</a:t>
            </a:r>
            <a:r>
              <a:rPr dirty="0"/>
              <a:t>, il faut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l'expérimenter</a:t>
            </a:r>
            <a:r>
              <a:rPr dirty="0"/>
              <a:t>. Horton et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coauteurs</a:t>
            </a:r>
            <a:r>
              <a:rPr dirty="0"/>
              <a:t> </a:t>
            </a:r>
            <a:r>
              <a:rPr dirty="0" err="1"/>
              <a:t>vont</a:t>
            </a:r>
            <a:r>
              <a:rPr dirty="0"/>
              <a:t> plus loin,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traitant</a:t>
            </a:r>
            <a:r>
              <a:rPr dirty="0"/>
              <a:t> le </a:t>
            </a:r>
            <a:r>
              <a:rPr dirty="0" err="1"/>
              <a:t>modèle</a:t>
            </a:r>
            <a:r>
              <a:rPr dirty="0"/>
              <a:t> de </a:t>
            </a:r>
            <a:r>
              <a:rPr dirty="0" err="1"/>
              <a:t>langage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un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computationnel</a:t>
            </a:r>
            <a:r>
              <a:rPr dirty="0"/>
              <a:t> </a:t>
            </a:r>
            <a:r>
              <a:rPr dirty="0" err="1"/>
              <a:t>implicite</a:t>
            </a:r>
            <a:r>
              <a:rPr dirty="0"/>
              <a:t> de </a:t>
            </a:r>
            <a:r>
              <a:rPr dirty="0" err="1"/>
              <a:t>l'humain</a:t>
            </a:r>
            <a:r>
              <a:rPr dirty="0"/>
              <a:t>, </a:t>
            </a:r>
            <a:r>
              <a:rPr dirty="0" err="1"/>
              <a:t>doté</a:t>
            </a:r>
            <a:r>
              <a:rPr dirty="0"/>
              <a:t> par le </a:t>
            </a:r>
            <a:r>
              <a:rPr dirty="0" err="1"/>
              <a:t>langage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dotation et de </a:t>
            </a:r>
            <a:r>
              <a:rPr dirty="0" err="1"/>
              <a:t>croyances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je me </a:t>
            </a:r>
            <a:r>
              <a:rPr dirty="0" err="1"/>
              <a:t>démarque</a:t>
            </a:r>
            <a:r>
              <a:rPr dirty="0"/>
              <a:t> : on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simuler</a:t>
            </a:r>
            <a:r>
              <a:rPr dirty="0"/>
              <a:t> </a:t>
            </a:r>
            <a:r>
              <a:rPr dirty="0" err="1"/>
              <a:t>l'humain</a:t>
            </a:r>
            <a:r>
              <a:rPr dirty="0"/>
              <a:t>, </a:t>
            </a:r>
            <a:r>
              <a:rPr dirty="0" err="1"/>
              <a:t>ou</a:t>
            </a:r>
            <a:r>
              <a:rPr dirty="0"/>
              <a:t> observer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entité</a:t>
            </a:r>
            <a:r>
              <a:rPr dirty="0"/>
              <a:t> </a:t>
            </a:r>
            <a:r>
              <a:rPr dirty="0" err="1"/>
              <a:t>artificielle</a:t>
            </a:r>
            <a:r>
              <a:rPr dirty="0"/>
              <a:t> pour </a:t>
            </a:r>
            <a:r>
              <a:rPr dirty="0" err="1"/>
              <a:t>elle-même</a:t>
            </a:r>
            <a:r>
              <a:rPr dirty="0"/>
              <a:t>. Je </a:t>
            </a:r>
            <a:r>
              <a:rPr dirty="0" err="1"/>
              <a:t>fais</a:t>
            </a:r>
            <a:r>
              <a:rPr dirty="0"/>
              <a:t> le second choix, et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pourquoi</a:t>
            </a:r>
            <a:r>
              <a:rPr dirty="0"/>
              <a:t> je ne </a:t>
            </a:r>
            <a:r>
              <a:rPr dirty="0" err="1"/>
              <a:t>conclurai</a:t>
            </a:r>
            <a:r>
              <a:rPr dirty="0"/>
              <a:t> pas sur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l'agent</a:t>
            </a:r>
            <a:r>
              <a:rPr dirty="0"/>
              <a:t> partage avec nous.</a:t>
            </a:r>
          </a:p>
          <a:p>
            <a:pPr>
              <a:buNone/>
            </a:pPr>
            <a:r>
              <a:rPr dirty="0"/>
              <a:t>Le terrain, </a:t>
            </a:r>
            <a:r>
              <a:rPr dirty="0" err="1"/>
              <a:t>enfin</a:t>
            </a:r>
            <a:r>
              <a:rPr dirty="0"/>
              <a:t>, est le poker de Kuhn, et il </a:t>
            </a:r>
            <a:r>
              <a:rPr dirty="0" err="1"/>
              <a:t>vient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filiation </a:t>
            </a:r>
            <a:r>
              <a:rPr dirty="0" err="1"/>
              <a:t>directe</a:t>
            </a:r>
            <a:r>
              <a:rPr dirty="0"/>
              <a:t> : Borel, von Neumann, </a:t>
            </a:r>
            <a:r>
              <a:rPr dirty="0" err="1"/>
              <a:t>puis</a:t>
            </a:r>
            <a:r>
              <a:rPr dirty="0"/>
              <a:t> Kuhn. Ce </a:t>
            </a:r>
            <a:r>
              <a:rPr dirty="0" err="1"/>
              <a:t>qu'elle</a:t>
            </a:r>
            <a:r>
              <a:rPr dirty="0"/>
              <a:t> </a:t>
            </a:r>
            <a:r>
              <a:rPr dirty="0" err="1"/>
              <a:t>établit</a:t>
            </a:r>
            <a:r>
              <a:rPr dirty="0"/>
              <a:t> </a:t>
            </a:r>
            <a:r>
              <a:rPr dirty="0" err="1"/>
              <a:t>tient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deux points. Le bluff </a:t>
            </a:r>
            <a:r>
              <a:rPr dirty="0" err="1"/>
              <a:t>n'est</a:t>
            </a:r>
            <a:r>
              <a:rPr dirty="0"/>
              <a:t> pas </a:t>
            </a:r>
            <a:r>
              <a:rPr dirty="0" err="1"/>
              <a:t>une</a:t>
            </a:r>
            <a:r>
              <a:rPr dirty="0"/>
              <a:t> ruse </a:t>
            </a:r>
            <a:r>
              <a:rPr dirty="0" err="1"/>
              <a:t>psychologique</a:t>
            </a:r>
            <a:r>
              <a:rPr dirty="0"/>
              <a:t>,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conduite</a:t>
            </a:r>
            <a:r>
              <a:rPr dirty="0"/>
              <a:t> </a:t>
            </a:r>
            <a:r>
              <a:rPr dirty="0" err="1"/>
              <a:t>rationnelle</a:t>
            </a:r>
            <a:r>
              <a:rPr dirty="0"/>
              <a:t>. Et </a:t>
            </a:r>
            <a:r>
              <a:rPr dirty="0" err="1"/>
              <a:t>l'équilibre</a:t>
            </a:r>
            <a:r>
              <a:rPr dirty="0"/>
              <a:t> y est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stratégies</a:t>
            </a:r>
            <a:r>
              <a:rPr dirty="0"/>
              <a:t> mixtes. </a:t>
            </a:r>
            <a:r>
              <a:rPr dirty="0" err="1"/>
              <a:t>Retenez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second point :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lui</a:t>
            </a:r>
            <a:r>
              <a:rPr dirty="0"/>
              <a:t> qui </a:t>
            </a:r>
            <a:r>
              <a:rPr dirty="0" err="1"/>
              <a:t>reviendra</a:t>
            </a:r>
            <a:r>
              <a:rPr dirty="0"/>
              <a:t> à ma </a:t>
            </a:r>
            <a:r>
              <a:rPr dirty="0" err="1"/>
              <a:t>dernière</a:t>
            </a:r>
            <a:r>
              <a:rPr dirty="0"/>
              <a:t> </a:t>
            </a:r>
            <a:r>
              <a:rPr dirty="0" err="1"/>
              <a:t>hypothèse</a:t>
            </a:r>
            <a:r>
              <a:rPr dirty="0"/>
              <a:t>.</a:t>
            </a:r>
          </a:p>
        </p:txBody>
      </p:sp>
      <p:sp>
        <p:nvSpPr>
          <p:cNvPr id="30" name="Google Shape;30;g3fb2f260372_1_6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fb2f260372_1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7" name="Google Shape;37;g3fb2f260372_1_152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Il </a:t>
            </a:r>
            <a:r>
              <a:rPr dirty="0" err="1"/>
              <a:t>existe</a:t>
            </a:r>
            <a:r>
              <a:rPr dirty="0"/>
              <a:t> trois façons </a:t>
            </a:r>
            <a:r>
              <a:rPr dirty="0" err="1"/>
              <a:t>d'adapter</a:t>
            </a:r>
            <a:r>
              <a:rPr dirty="0"/>
              <a:t> un </a:t>
            </a:r>
            <a:r>
              <a:rPr dirty="0" err="1"/>
              <a:t>modèle</a:t>
            </a:r>
            <a:r>
              <a:rPr dirty="0"/>
              <a:t> sans le </a:t>
            </a:r>
            <a:r>
              <a:rPr dirty="0" err="1"/>
              <a:t>réentraîner</a:t>
            </a:r>
            <a:r>
              <a:rPr dirty="0"/>
              <a:t>, et </a:t>
            </a:r>
            <a:r>
              <a:rPr dirty="0" err="1"/>
              <a:t>chacune</a:t>
            </a:r>
            <a:r>
              <a:rPr dirty="0"/>
              <a:t> a son </a:t>
            </a:r>
            <a:r>
              <a:rPr dirty="0" err="1"/>
              <a:t>défaut</a:t>
            </a:r>
            <a:r>
              <a:rPr dirty="0"/>
              <a:t>. La </a:t>
            </a:r>
            <a:r>
              <a:rPr dirty="0" err="1"/>
              <a:t>réinjection</a:t>
            </a:r>
            <a:r>
              <a:rPr dirty="0"/>
              <a:t> dans la </a:t>
            </a:r>
            <a:r>
              <a:rPr dirty="0" err="1"/>
              <a:t>fenêtre</a:t>
            </a:r>
            <a:r>
              <a:rPr dirty="0"/>
              <a:t> de </a:t>
            </a:r>
            <a:r>
              <a:rPr dirty="0" err="1"/>
              <a:t>contexte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fait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 de travail : </a:t>
            </a:r>
            <a:r>
              <a:rPr dirty="0" err="1"/>
              <a:t>c'est</a:t>
            </a:r>
            <a:r>
              <a:rPr dirty="0"/>
              <a:t> flexible, </a:t>
            </a:r>
            <a:r>
              <a:rPr dirty="0" err="1"/>
              <a:t>mais</a:t>
            </a:r>
            <a:r>
              <a:rPr dirty="0"/>
              <a:t> volatile, tout </a:t>
            </a:r>
            <a:r>
              <a:rPr dirty="0" err="1"/>
              <a:t>s'effondre</a:t>
            </a:r>
            <a:r>
              <a:rPr dirty="0"/>
              <a:t> à la fermeture de la session. La gestion </a:t>
            </a:r>
            <a:r>
              <a:rPr dirty="0" err="1"/>
              <a:t>sémantique</a:t>
            </a:r>
            <a:r>
              <a:rPr dirty="0"/>
              <a:t> </a:t>
            </a:r>
            <a:r>
              <a:rPr dirty="0" err="1"/>
              <a:t>résume</a:t>
            </a:r>
            <a:r>
              <a:rPr dirty="0"/>
              <a:t> pour ne pas </a:t>
            </a:r>
            <a:r>
              <a:rPr dirty="0" err="1"/>
              <a:t>saturer</a:t>
            </a:r>
            <a:r>
              <a:rPr dirty="0"/>
              <a:t>, au prix des micro-</a:t>
            </a:r>
            <a:r>
              <a:rPr dirty="0" err="1"/>
              <a:t>signaux</a:t>
            </a:r>
            <a:r>
              <a:rPr dirty="0"/>
              <a:t> </a:t>
            </a:r>
            <a:r>
              <a:rPr dirty="0" err="1"/>
              <a:t>quantitatifs</a:t>
            </a:r>
            <a:r>
              <a:rPr dirty="0"/>
              <a:t>, </a:t>
            </a:r>
            <a:r>
              <a:rPr dirty="0" err="1"/>
              <a:t>comme</a:t>
            </a:r>
            <a:r>
              <a:rPr dirty="0"/>
              <a:t> le </a:t>
            </a:r>
            <a:r>
              <a:rPr dirty="0" err="1"/>
              <a:t>montrent</a:t>
            </a:r>
            <a:r>
              <a:rPr dirty="0"/>
              <a:t> Chen et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coauteurs</a:t>
            </a:r>
            <a:r>
              <a:rPr dirty="0"/>
              <a:t> — or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ceux</a:t>
            </a:r>
            <a:r>
              <a:rPr dirty="0"/>
              <a:t> </a:t>
            </a:r>
            <a:r>
              <a:rPr dirty="0" err="1"/>
              <a:t>dont</a:t>
            </a:r>
            <a:r>
              <a:rPr dirty="0"/>
              <a:t> on a </a:t>
            </a:r>
            <a:r>
              <a:rPr dirty="0" err="1"/>
              <a:t>besoin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stratégie</a:t>
            </a:r>
            <a:r>
              <a:rPr dirty="0"/>
              <a:t> fine. </a:t>
            </a:r>
            <a:r>
              <a:rPr dirty="0" err="1"/>
              <a:t>L'apprentissage</a:t>
            </a:r>
            <a:r>
              <a:rPr dirty="0"/>
              <a:t> par </a:t>
            </a:r>
            <a:r>
              <a:rPr dirty="0" err="1"/>
              <a:t>renforcement</a:t>
            </a:r>
            <a:r>
              <a:rPr dirty="0"/>
              <a:t> et le </a:t>
            </a:r>
            <a:r>
              <a:rPr dirty="0" err="1"/>
              <a:t>réglage</a:t>
            </a:r>
            <a:r>
              <a:rPr dirty="0"/>
              <a:t> fin </a:t>
            </a:r>
            <a:r>
              <a:rPr dirty="0" err="1"/>
              <a:t>sont</a:t>
            </a:r>
            <a:r>
              <a:rPr dirty="0"/>
              <a:t> permanents,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rigides</a:t>
            </a:r>
            <a:r>
              <a:rPr dirty="0"/>
              <a:t>, </a:t>
            </a:r>
            <a:r>
              <a:rPr dirty="0" err="1"/>
              <a:t>coûteux</a:t>
            </a:r>
            <a:r>
              <a:rPr dirty="0"/>
              <a:t>, et </a:t>
            </a:r>
            <a:r>
              <a:rPr dirty="0" err="1"/>
              <a:t>ils</a:t>
            </a:r>
            <a:r>
              <a:rPr dirty="0"/>
              <a:t> </a:t>
            </a:r>
            <a:r>
              <a:rPr dirty="0" err="1"/>
              <a:t>imitent</a:t>
            </a:r>
            <a:r>
              <a:rPr dirty="0"/>
              <a:t> </a:t>
            </a:r>
            <a:r>
              <a:rPr dirty="0" err="1"/>
              <a:t>passivement</a:t>
            </a:r>
            <a:r>
              <a:rPr dirty="0"/>
              <a:t> les </a:t>
            </a:r>
            <a:r>
              <a:rPr dirty="0" err="1"/>
              <a:t>biais</a:t>
            </a:r>
            <a:r>
              <a:rPr dirty="0"/>
              <a:t> du jeu de données.</a:t>
            </a:r>
          </a:p>
          <a:p>
            <a:pPr>
              <a:buNone/>
            </a:pPr>
            <a:r>
              <a:rPr dirty="0"/>
              <a:t>La </a:t>
            </a:r>
            <a:r>
              <a:rPr dirty="0" err="1"/>
              <a:t>mémoire</a:t>
            </a:r>
            <a:r>
              <a:rPr dirty="0"/>
              <a:t> auto-</a:t>
            </a:r>
            <a:r>
              <a:rPr dirty="0" err="1"/>
              <a:t>rédigée</a:t>
            </a:r>
            <a:r>
              <a:rPr dirty="0"/>
              <a:t> </a:t>
            </a:r>
            <a:r>
              <a:rPr dirty="0" err="1"/>
              <a:t>lève</a:t>
            </a:r>
            <a:r>
              <a:rPr dirty="0"/>
              <a:t> la contradiction. Voyager </a:t>
            </a:r>
            <a:r>
              <a:rPr dirty="0" err="1"/>
              <a:t>stocke</a:t>
            </a:r>
            <a:r>
              <a:rPr dirty="0"/>
              <a:t> </a:t>
            </a:r>
            <a:r>
              <a:rPr dirty="0" err="1"/>
              <a:t>l'expérience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programmes</a:t>
            </a:r>
            <a:r>
              <a:rPr dirty="0"/>
              <a:t> </a:t>
            </a:r>
            <a:r>
              <a:rPr dirty="0" err="1"/>
              <a:t>réutilisables</a:t>
            </a:r>
            <a:r>
              <a:rPr dirty="0"/>
              <a:t>, jamais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poids</a:t>
            </a:r>
            <a:r>
              <a:rPr dirty="0"/>
              <a:t>. </a:t>
            </a:r>
            <a:r>
              <a:rPr dirty="0" err="1"/>
              <a:t>Reflexion</a:t>
            </a:r>
            <a:r>
              <a:rPr dirty="0"/>
              <a:t> fait </a:t>
            </a:r>
            <a:r>
              <a:rPr dirty="0" err="1"/>
              <a:t>analyser</a:t>
            </a:r>
            <a:r>
              <a:rPr dirty="0"/>
              <a:t> son </a:t>
            </a:r>
            <a:r>
              <a:rPr dirty="0" err="1"/>
              <a:t>échec</a:t>
            </a:r>
            <a:r>
              <a:rPr dirty="0"/>
              <a:t> à </a:t>
            </a:r>
            <a:r>
              <a:rPr dirty="0" err="1"/>
              <a:t>l'agent</a:t>
            </a:r>
            <a:r>
              <a:rPr dirty="0"/>
              <a:t>, </a:t>
            </a:r>
            <a:r>
              <a:rPr dirty="0" err="1"/>
              <a:t>lui</a:t>
            </a:r>
            <a:r>
              <a:rPr dirty="0"/>
              <a:t> fait </a:t>
            </a:r>
            <a:r>
              <a:rPr dirty="0" err="1"/>
              <a:t>rédiger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auto-</a:t>
            </a:r>
            <a:r>
              <a:rPr dirty="0" err="1"/>
              <a:t>réflexion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langue naturelle, </a:t>
            </a:r>
            <a:r>
              <a:rPr dirty="0" err="1"/>
              <a:t>qu'il</a:t>
            </a:r>
            <a:r>
              <a:rPr dirty="0"/>
              <a:t> relit au tour </a:t>
            </a:r>
            <a:r>
              <a:rPr dirty="0" err="1"/>
              <a:t>suivant</a:t>
            </a:r>
            <a:r>
              <a:rPr dirty="0"/>
              <a:t>. </a:t>
            </a:r>
            <a:r>
              <a:rPr dirty="0" err="1"/>
              <a:t>L'agent</a:t>
            </a:r>
            <a:r>
              <a:rPr dirty="0"/>
              <a:t> </a:t>
            </a:r>
            <a:r>
              <a:rPr dirty="0" err="1"/>
              <a:t>écrit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lui-même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qu'il</a:t>
            </a:r>
            <a:r>
              <a:rPr dirty="0"/>
              <a:t> </a:t>
            </a:r>
            <a:r>
              <a:rPr dirty="0" err="1"/>
              <a:t>retient</a:t>
            </a:r>
            <a:r>
              <a:rPr dirty="0"/>
              <a:t>, sans </a:t>
            </a:r>
            <a:r>
              <a:rPr dirty="0" err="1"/>
              <a:t>qu'on</a:t>
            </a:r>
            <a:r>
              <a:rPr dirty="0"/>
              <a:t> </a:t>
            </a:r>
            <a:r>
              <a:rPr dirty="0" err="1"/>
              <a:t>touche</a:t>
            </a:r>
            <a:r>
              <a:rPr dirty="0"/>
              <a:t> à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paramètres</a:t>
            </a:r>
            <a:r>
              <a:rPr dirty="0"/>
              <a:t>.</a:t>
            </a:r>
          </a:p>
          <a:p>
            <a:pPr>
              <a:buNone/>
            </a:pPr>
            <a:r>
              <a:rPr dirty="0" err="1"/>
              <a:t>Voici</a:t>
            </a:r>
            <a:r>
              <a:rPr dirty="0"/>
              <a:t> la </a:t>
            </a:r>
            <a:r>
              <a:rPr dirty="0" err="1"/>
              <a:t>charnière</a:t>
            </a:r>
            <a:r>
              <a:rPr dirty="0"/>
              <a:t> de </a:t>
            </a:r>
            <a:r>
              <a:rPr dirty="0" err="1"/>
              <a:t>mon</a:t>
            </a:r>
            <a:r>
              <a:rPr dirty="0"/>
              <a:t> travail : </a:t>
            </a:r>
            <a:r>
              <a:rPr dirty="0" err="1"/>
              <a:t>ces</a:t>
            </a:r>
            <a:r>
              <a:rPr dirty="0"/>
              <a:t> architectures </a:t>
            </a:r>
            <a:r>
              <a:rPr dirty="0" err="1"/>
              <a:t>ont</a:t>
            </a:r>
            <a:r>
              <a:rPr dirty="0"/>
              <a:t> </a:t>
            </a:r>
            <a:r>
              <a:rPr dirty="0" err="1"/>
              <a:t>toutes</a:t>
            </a:r>
            <a:r>
              <a:rPr dirty="0"/>
              <a:t> </a:t>
            </a:r>
            <a:r>
              <a:rPr dirty="0" err="1"/>
              <a:t>été</a:t>
            </a:r>
            <a:r>
              <a:rPr dirty="0"/>
              <a:t> </a:t>
            </a:r>
            <a:r>
              <a:rPr dirty="0" err="1"/>
              <a:t>validées</a:t>
            </a:r>
            <a:r>
              <a:rPr dirty="0"/>
              <a:t> dans des </a:t>
            </a:r>
            <a:r>
              <a:rPr dirty="0" err="1"/>
              <a:t>environnements</a:t>
            </a:r>
            <a:r>
              <a:rPr dirty="0"/>
              <a:t> qui ne </a:t>
            </a:r>
            <a:r>
              <a:rPr dirty="0" err="1"/>
              <a:t>cherchent</a:t>
            </a:r>
            <a:r>
              <a:rPr dirty="0"/>
              <a:t> jamais à </a:t>
            </a:r>
            <a:r>
              <a:rPr dirty="0" err="1"/>
              <a:t>tromper</a:t>
            </a:r>
            <a:r>
              <a:rPr dirty="0"/>
              <a:t> </a:t>
            </a:r>
            <a:r>
              <a:rPr dirty="0" err="1"/>
              <a:t>l'agent</a:t>
            </a:r>
            <a:r>
              <a:rPr dirty="0"/>
              <a:t>. Minecraft ne </a:t>
            </a:r>
            <a:r>
              <a:rPr dirty="0" err="1"/>
              <a:t>bluffe</a:t>
            </a:r>
            <a:r>
              <a:rPr dirty="0"/>
              <a:t> pas.</a:t>
            </a:r>
          </a:p>
          <a:p>
            <a:pPr>
              <a:buNone/>
            </a:pPr>
            <a:r>
              <a:rPr dirty="0"/>
              <a:t>Sur le terrain adversarial, les travaux </a:t>
            </a:r>
            <a:r>
              <a:rPr dirty="0" err="1"/>
              <a:t>existants</a:t>
            </a:r>
            <a:r>
              <a:rPr dirty="0"/>
              <a:t> </a:t>
            </a:r>
            <a:r>
              <a:rPr dirty="0" err="1"/>
              <a:t>ratent</a:t>
            </a:r>
            <a:r>
              <a:rPr dirty="0"/>
              <a:t> chacun </a:t>
            </a:r>
            <a:r>
              <a:rPr dirty="0" err="1"/>
              <a:t>une</a:t>
            </a:r>
            <a:r>
              <a:rPr dirty="0"/>
              <a:t> pièce. Richelieu </a:t>
            </a:r>
            <a:r>
              <a:rPr dirty="0" err="1"/>
              <a:t>travaille</a:t>
            </a:r>
            <a:r>
              <a:rPr dirty="0"/>
              <a:t> sur </a:t>
            </a:r>
            <a:r>
              <a:rPr dirty="0" err="1"/>
              <a:t>une</a:t>
            </a:r>
            <a:r>
              <a:rPr dirty="0"/>
              <a:t> information quasi publique. </a:t>
            </a:r>
            <a:r>
              <a:rPr dirty="0" err="1"/>
              <a:t>MemGPT</a:t>
            </a:r>
            <a:r>
              <a:rPr dirty="0"/>
              <a:t> est bien </a:t>
            </a:r>
            <a:r>
              <a:rPr dirty="0" err="1"/>
              <a:t>évalué</a:t>
            </a:r>
            <a:r>
              <a:rPr dirty="0"/>
              <a:t> sur le poker de Kuhn, </a:t>
            </a:r>
            <a:r>
              <a:rPr dirty="0" err="1"/>
              <a:t>mais</a:t>
            </a:r>
            <a:r>
              <a:rPr dirty="0"/>
              <a:t> avec des </a:t>
            </a:r>
            <a:r>
              <a:rPr dirty="0" err="1"/>
              <a:t>critères</a:t>
            </a:r>
            <a:r>
              <a:rPr dirty="0"/>
              <a:t> </a:t>
            </a:r>
            <a:r>
              <a:rPr dirty="0" err="1"/>
              <a:t>d'ingénierie</a:t>
            </a:r>
            <a:r>
              <a:rPr dirty="0"/>
              <a:t> </a:t>
            </a:r>
            <a:r>
              <a:rPr dirty="0" err="1"/>
              <a:t>logicielle</a:t>
            </a:r>
            <a:r>
              <a:rPr dirty="0"/>
              <a:t>. Readable Minds </a:t>
            </a:r>
            <a:r>
              <a:rPr dirty="0" err="1"/>
              <a:t>porte</a:t>
            </a:r>
            <a:r>
              <a:rPr dirty="0"/>
              <a:t> sur un jeu </a:t>
            </a:r>
            <a:r>
              <a:rPr dirty="0" err="1"/>
              <a:t>où</a:t>
            </a:r>
            <a:r>
              <a:rPr dirty="0"/>
              <a:t> </a:t>
            </a:r>
            <a:r>
              <a:rPr dirty="0" err="1"/>
              <a:t>l'équilibre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pas calculable, </a:t>
            </a:r>
            <a:r>
              <a:rPr dirty="0" err="1"/>
              <a:t>donc</a:t>
            </a:r>
            <a:r>
              <a:rPr dirty="0"/>
              <a:t> sans </a:t>
            </a:r>
            <a:r>
              <a:rPr dirty="0" err="1"/>
              <a:t>étalon</a:t>
            </a:r>
            <a:r>
              <a:rPr dirty="0"/>
              <a:t>. Et </a:t>
            </a:r>
            <a:r>
              <a:rPr dirty="0" err="1"/>
              <a:t>tous</a:t>
            </a:r>
            <a:r>
              <a:rPr dirty="0"/>
              <a:t> </a:t>
            </a:r>
            <a:r>
              <a:rPr dirty="0" err="1"/>
              <a:t>confondent</a:t>
            </a:r>
            <a:r>
              <a:rPr dirty="0"/>
              <a:t> trois dimensions </a:t>
            </a:r>
            <a:r>
              <a:rPr dirty="0" err="1"/>
              <a:t>que</a:t>
            </a:r>
            <a:r>
              <a:rPr dirty="0"/>
              <a:t> je </a:t>
            </a:r>
            <a:r>
              <a:rPr dirty="0" err="1"/>
              <a:t>vais</a:t>
            </a:r>
            <a:r>
              <a:rPr dirty="0"/>
              <a:t> </a:t>
            </a:r>
            <a:r>
              <a:rPr dirty="0" err="1"/>
              <a:t>instrumenter</a:t>
            </a:r>
            <a:r>
              <a:rPr dirty="0"/>
              <a:t> </a:t>
            </a:r>
            <a:r>
              <a:rPr dirty="0" err="1"/>
              <a:t>séparément</a:t>
            </a:r>
            <a:r>
              <a:rPr dirty="0"/>
              <a:t> : le </a:t>
            </a:r>
            <a:r>
              <a:rPr dirty="0" err="1"/>
              <a:t>biais</a:t>
            </a:r>
            <a:r>
              <a:rPr dirty="0"/>
              <a:t> de </a:t>
            </a:r>
            <a:r>
              <a:rPr dirty="0" err="1"/>
              <a:t>décision</a:t>
            </a:r>
            <a:r>
              <a:rPr dirty="0"/>
              <a:t>, la </a:t>
            </a:r>
            <a:r>
              <a:rPr dirty="0" err="1"/>
              <a:t>stratégie</a:t>
            </a:r>
            <a:r>
              <a:rPr dirty="0"/>
              <a:t> </a:t>
            </a:r>
            <a:r>
              <a:rPr dirty="0" err="1"/>
              <a:t>d'équilibre</a:t>
            </a:r>
            <a:r>
              <a:rPr dirty="0"/>
              <a:t> et la </a:t>
            </a:r>
            <a:r>
              <a:rPr dirty="0" err="1"/>
              <a:t>stratégie</a:t>
            </a:r>
            <a:r>
              <a:rPr dirty="0"/>
              <a:t> exploitative.</a:t>
            </a:r>
          </a:p>
          <a:p>
            <a:pPr>
              <a:buNone/>
            </a:pPr>
            <a:r>
              <a:rPr dirty="0" err="1"/>
              <a:t>D'où</a:t>
            </a:r>
            <a:r>
              <a:rPr dirty="0"/>
              <a:t> le </a:t>
            </a:r>
            <a:r>
              <a:rPr dirty="0" err="1"/>
              <a:t>positionnement</a:t>
            </a:r>
            <a:r>
              <a:rPr dirty="0"/>
              <a:t>,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ligne</a:t>
            </a:r>
            <a:r>
              <a:rPr dirty="0"/>
              <a:t>. Pour exploiter, il faut </a:t>
            </a:r>
            <a:r>
              <a:rPr dirty="0" err="1"/>
              <a:t>estimer</a:t>
            </a:r>
            <a:r>
              <a:rPr dirty="0"/>
              <a:t> la </a:t>
            </a:r>
            <a:r>
              <a:rPr dirty="0" err="1"/>
              <a:t>déviation</a:t>
            </a:r>
            <a:r>
              <a:rPr dirty="0"/>
              <a:t> de </a:t>
            </a:r>
            <a:r>
              <a:rPr dirty="0" err="1"/>
              <a:t>l'adversaire</a:t>
            </a:r>
            <a:r>
              <a:rPr dirty="0"/>
              <a:t> ; pour </a:t>
            </a:r>
            <a:r>
              <a:rPr dirty="0" err="1"/>
              <a:t>l'estimer</a:t>
            </a:r>
            <a:r>
              <a:rPr dirty="0"/>
              <a:t>, il faut comparer des manches entre </a:t>
            </a:r>
            <a:r>
              <a:rPr dirty="0" err="1"/>
              <a:t>elles</a:t>
            </a:r>
            <a:r>
              <a:rPr dirty="0"/>
              <a:t> ; et pour les comparer, il faut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. Sans </a:t>
            </a:r>
            <a:r>
              <a:rPr dirty="0" err="1"/>
              <a:t>mémoire</a:t>
            </a:r>
            <a:r>
              <a:rPr dirty="0"/>
              <a:t> </a:t>
            </a:r>
            <a:r>
              <a:rPr dirty="0" err="1"/>
              <a:t>persistante</a:t>
            </a:r>
            <a:r>
              <a:rPr dirty="0"/>
              <a:t>, un agent est </a:t>
            </a:r>
            <a:r>
              <a:rPr dirty="0" err="1"/>
              <a:t>condamné</a:t>
            </a:r>
            <a:r>
              <a:rPr dirty="0"/>
              <a:t> à </a:t>
            </a:r>
            <a:r>
              <a:rPr dirty="0" err="1"/>
              <a:t>l'équilibre</a:t>
            </a:r>
            <a:r>
              <a:rPr dirty="0"/>
              <a:t> </a:t>
            </a:r>
            <a:r>
              <a:rPr dirty="0" err="1"/>
              <a:t>défensif</a:t>
            </a:r>
            <a:r>
              <a:rPr dirty="0"/>
              <a:t>.</a:t>
            </a:r>
          </a:p>
        </p:txBody>
      </p:sp>
      <p:sp>
        <p:nvSpPr>
          <p:cNvPr id="38" name="Google Shape;38;g3fb2f260372_1_152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fb2f260372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5" name="Google Shape;45;g3fb2f260372_1_3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La </a:t>
            </a:r>
            <a:r>
              <a:rPr dirty="0" err="1"/>
              <a:t>tâche</a:t>
            </a:r>
            <a:r>
              <a:rPr dirty="0"/>
              <a:t> est le poker de Kuhn : trois cartes, un jeton </a:t>
            </a:r>
            <a:r>
              <a:rPr dirty="0" err="1"/>
              <a:t>d'ante</a:t>
            </a:r>
            <a:r>
              <a:rPr dirty="0"/>
              <a:t>,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seule</a:t>
            </a:r>
            <a:r>
              <a:rPr dirty="0"/>
              <a:t> mise possible, </a:t>
            </a:r>
            <a:r>
              <a:rPr dirty="0" err="1"/>
              <a:t>douze</a:t>
            </a:r>
            <a:r>
              <a:rPr dirty="0"/>
              <a:t> ensembles </a:t>
            </a:r>
            <a:r>
              <a:rPr dirty="0" err="1"/>
              <a:t>d'information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assez</a:t>
            </a:r>
            <a:r>
              <a:rPr dirty="0"/>
              <a:t> petit pour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l'équilibre</a:t>
            </a:r>
            <a:r>
              <a:rPr dirty="0"/>
              <a:t> se </a:t>
            </a:r>
            <a:r>
              <a:rPr dirty="0" err="1"/>
              <a:t>calcule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, et </a:t>
            </a:r>
            <a:r>
              <a:rPr dirty="0" err="1"/>
              <a:t>assez</a:t>
            </a:r>
            <a:r>
              <a:rPr dirty="0"/>
              <a:t> riche pour </a:t>
            </a:r>
            <a:r>
              <a:rPr dirty="0" err="1"/>
              <a:t>que</a:t>
            </a:r>
            <a:r>
              <a:rPr dirty="0"/>
              <a:t> le bluff y soit optimal.</a:t>
            </a:r>
          </a:p>
          <a:p>
            <a:pPr>
              <a:buNone/>
            </a:pPr>
            <a:r>
              <a:rPr dirty="0"/>
              <a:t>Le </a:t>
            </a:r>
            <a:r>
              <a:rPr dirty="0" err="1"/>
              <a:t>vocabulaire</a:t>
            </a:r>
            <a:r>
              <a:rPr dirty="0"/>
              <a:t> est </a:t>
            </a:r>
            <a:r>
              <a:rPr dirty="0" err="1"/>
              <a:t>réécrit</a:t>
            </a:r>
            <a:r>
              <a:rPr dirty="0"/>
              <a:t> </a:t>
            </a:r>
            <a:r>
              <a:rPr dirty="0" err="1"/>
              <a:t>partout</a:t>
            </a:r>
            <a:r>
              <a:rPr dirty="0"/>
              <a:t>. </a:t>
            </a:r>
            <a:r>
              <a:rPr dirty="0" err="1"/>
              <a:t>Aucune</a:t>
            </a:r>
            <a:r>
              <a:rPr dirty="0"/>
              <a:t> mention de poker, de carte, de </a:t>
            </a:r>
            <a:r>
              <a:rPr dirty="0" err="1"/>
              <a:t>roi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de valet : des </a:t>
            </a:r>
            <a:r>
              <a:rPr dirty="0" err="1"/>
              <a:t>sceaux</a:t>
            </a:r>
            <a:r>
              <a:rPr dirty="0"/>
              <a:t> qui </a:t>
            </a:r>
            <a:r>
              <a:rPr dirty="0" err="1"/>
              <a:t>s'appellent</a:t>
            </a:r>
            <a:r>
              <a:rPr dirty="0"/>
              <a:t> Tor, </a:t>
            </a:r>
            <a:r>
              <a:rPr dirty="0" err="1"/>
              <a:t>Vael</a:t>
            </a:r>
            <a:r>
              <a:rPr dirty="0"/>
              <a:t> et Rhun, des actions </a:t>
            </a:r>
            <a:r>
              <a:rPr dirty="0" err="1"/>
              <a:t>retenir</a:t>
            </a:r>
            <a:r>
              <a:rPr dirty="0"/>
              <a:t>, engager, </a:t>
            </a:r>
            <a:r>
              <a:rPr dirty="0" err="1"/>
              <a:t>couvrir</a:t>
            </a:r>
            <a:r>
              <a:rPr dirty="0"/>
              <a:t>, se </a:t>
            </a:r>
            <a:r>
              <a:rPr dirty="0" err="1"/>
              <a:t>retirer</a:t>
            </a:r>
            <a:r>
              <a:rPr dirty="0"/>
              <a:t>. La raison est </a:t>
            </a:r>
            <a:r>
              <a:rPr dirty="0" err="1"/>
              <a:t>que</a:t>
            </a:r>
            <a:r>
              <a:rPr dirty="0"/>
              <a:t> le </a:t>
            </a:r>
            <a:r>
              <a:rPr dirty="0" err="1"/>
              <a:t>modèle</a:t>
            </a:r>
            <a:r>
              <a:rPr dirty="0"/>
              <a:t> a </a:t>
            </a:r>
            <a:r>
              <a:rPr dirty="0" err="1"/>
              <a:t>rencontré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jeu et </a:t>
            </a:r>
            <a:r>
              <a:rPr dirty="0" err="1"/>
              <a:t>sa</a:t>
            </a:r>
            <a:r>
              <a:rPr dirty="0"/>
              <a:t> solution pendant son </a:t>
            </a:r>
            <a:r>
              <a:rPr dirty="0" err="1"/>
              <a:t>entraînement</a:t>
            </a:r>
            <a:r>
              <a:rPr dirty="0"/>
              <a:t>. Je ne </a:t>
            </a:r>
            <a:r>
              <a:rPr dirty="0" err="1"/>
              <a:t>peux</a:t>
            </a:r>
            <a:r>
              <a:rPr dirty="0"/>
              <a:t> pas </a:t>
            </a:r>
            <a:r>
              <a:rPr dirty="0" err="1"/>
              <a:t>garantir</a:t>
            </a:r>
            <a:r>
              <a:rPr dirty="0"/>
              <a:t> </a:t>
            </a:r>
            <a:r>
              <a:rPr dirty="0" err="1"/>
              <a:t>qu'il</a:t>
            </a:r>
            <a:r>
              <a:rPr dirty="0"/>
              <a:t> ne le </a:t>
            </a:r>
            <a:r>
              <a:rPr dirty="0" err="1"/>
              <a:t>reconnaît</a:t>
            </a:r>
            <a:r>
              <a:rPr dirty="0"/>
              <a:t> pas, et je le </a:t>
            </a:r>
            <a:r>
              <a:rPr dirty="0" err="1"/>
              <a:t>mesure</a:t>
            </a:r>
            <a:r>
              <a:rPr dirty="0"/>
              <a:t> </a:t>
            </a:r>
            <a:r>
              <a:rPr dirty="0" err="1"/>
              <a:t>explicitement</a:t>
            </a:r>
            <a:r>
              <a:rPr dirty="0"/>
              <a:t>, </a:t>
            </a:r>
            <a:r>
              <a:rPr dirty="0" err="1"/>
              <a:t>mais</a:t>
            </a:r>
            <a:r>
              <a:rPr dirty="0"/>
              <a:t> je ne le </a:t>
            </a:r>
            <a:r>
              <a:rPr dirty="0" err="1"/>
              <a:t>lui</a:t>
            </a:r>
            <a:r>
              <a:rPr dirty="0"/>
              <a:t> </a:t>
            </a:r>
            <a:r>
              <a:rPr dirty="0" err="1"/>
              <a:t>sers</a:t>
            </a:r>
            <a:r>
              <a:rPr dirty="0"/>
              <a:t> pas sur un plateau.</a:t>
            </a:r>
          </a:p>
          <a:p>
            <a:pPr>
              <a:buNone/>
            </a:pPr>
            <a:r>
              <a:rPr dirty="0"/>
              <a:t>Les trois </a:t>
            </a:r>
            <a:r>
              <a:rPr dirty="0" err="1"/>
              <a:t>adversaires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le </a:t>
            </a:r>
            <a:r>
              <a:rPr dirty="0" err="1"/>
              <a:t>cœur</a:t>
            </a:r>
            <a:r>
              <a:rPr dirty="0"/>
              <a:t> du plan </a:t>
            </a:r>
            <a:r>
              <a:rPr dirty="0" err="1"/>
              <a:t>expérimental</a:t>
            </a:r>
            <a:r>
              <a:rPr dirty="0"/>
              <a:t>. GTO </a:t>
            </a:r>
            <a:r>
              <a:rPr dirty="0" err="1"/>
              <a:t>joue</a:t>
            </a:r>
            <a:r>
              <a:rPr dirty="0"/>
              <a:t> </a:t>
            </a:r>
            <a:r>
              <a:rPr dirty="0" err="1"/>
              <a:t>l'équilibre</a:t>
            </a:r>
            <a:r>
              <a:rPr dirty="0"/>
              <a:t> exact, à alpha </a:t>
            </a:r>
            <a:r>
              <a:rPr dirty="0" err="1"/>
              <a:t>égale</a:t>
            </a:r>
            <a:r>
              <a:rPr dirty="0"/>
              <a:t> un tiers : il </a:t>
            </a:r>
            <a:r>
              <a:rPr dirty="0" err="1"/>
              <a:t>n'y</a:t>
            </a:r>
            <a:r>
              <a:rPr dirty="0"/>
              <a:t> a rien à y exploiter,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mon</a:t>
            </a:r>
            <a:r>
              <a:rPr dirty="0"/>
              <a:t> </a:t>
            </a:r>
            <a:r>
              <a:rPr dirty="0" err="1"/>
              <a:t>contrôle</a:t>
            </a:r>
            <a:r>
              <a:rPr dirty="0"/>
              <a:t> </a:t>
            </a:r>
            <a:r>
              <a:rPr dirty="0" err="1"/>
              <a:t>négatif</a:t>
            </a:r>
            <a:r>
              <a:rPr dirty="0"/>
              <a:t>. Station ne mise jamais et </a:t>
            </a:r>
            <a:r>
              <a:rPr dirty="0" err="1"/>
              <a:t>paie</a:t>
            </a:r>
            <a:r>
              <a:rPr dirty="0"/>
              <a:t> </a:t>
            </a:r>
            <a:r>
              <a:rPr dirty="0" err="1"/>
              <a:t>toujours</a:t>
            </a:r>
            <a:r>
              <a:rPr dirty="0"/>
              <a:t>, il faut </a:t>
            </a:r>
            <a:r>
              <a:rPr dirty="0" err="1"/>
              <a:t>donc</a:t>
            </a:r>
            <a:r>
              <a:rPr dirty="0"/>
              <a:t> cesser de bluffer </a:t>
            </a:r>
            <a:r>
              <a:rPr dirty="0" err="1"/>
              <a:t>contre</a:t>
            </a:r>
            <a:r>
              <a:rPr dirty="0"/>
              <a:t> </a:t>
            </a:r>
            <a:r>
              <a:rPr dirty="0" err="1"/>
              <a:t>elle</a:t>
            </a:r>
            <a:r>
              <a:rPr dirty="0"/>
              <a:t>. Over-folder ne mise jamais et se couche </a:t>
            </a:r>
            <a:r>
              <a:rPr dirty="0" err="1"/>
              <a:t>toujours</a:t>
            </a:r>
            <a:r>
              <a:rPr dirty="0"/>
              <a:t>, il faut </a:t>
            </a:r>
            <a:r>
              <a:rPr dirty="0" err="1"/>
              <a:t>donc</a:t>
            </a:r>
            <a:r>
              <a:rPr dirty="0"/>
              <a:t> engager </a:t>
            </a:r>
            <a:r>
              <a:rPr dirty="0" err="1"/>
              <a:t>toutes</a:t>
            </a:r>
            <a:r>
              <a:rPr dirty="0"/>
              <a:t> les mains. </a:t>
            </a:r>
            <a:r>
              <a:rPr dirty="0" err="1"/>
              <a:t>Ces</a:t>
            </a:r>
            <a:r>
              <a:rPr dirty="0"/>
              <a:t> deux </a:t>
            </a:r>
            <a:r>
              <a:rPr dirty="0" err="1"/>
              <a:t>fuites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opposées</a:t>
            </a:r>
            <a:r>
              <a:rPr dirty="0"/>
              <a:t> : </a:t>
            </a:r>
            <a:r>
              <a:rPr dirty="0" err="1"/>
              <a:t>aucune</a:t>
            </a:r>
            <a:r>
              <a:rPr dirty="0"/>
              <a:t> </a:t>
            </a:r>
            <a:r>
              <a:rPr dirty="0" err="1"/>
              <a:t>stratégie</a:t>
            </a:r>
            <a:r>
              <a:rPr dirty="0"/>
              <a:t> fixe, </a:t>
            </a:r>
            <a:r>
              <a:rPr dirty="0" err="1"/>
              <a:t>l'équilibre</a:t>
            </a:r>
            <a:r>
              <a:rPr dirty="0"/>
              <a:t> </a:t>
            </a:r>
            <a:r>
              <a:rPr dirty="0" err="1"/>
              <a:t>compris</a:t>
            </a:r>
            <a:r>
              <a:rPr dirty="0"/>
              <a:t>, ne </a:t>
            </a:r>
            <a:r>
              <a:rPr dirty="0" err="1"/>
              <a:t>peut</a:t>
            </a:r>
            <a:r>
              <a:rPr dirty="0"/>
              <a:t> faire </a:t>
            </a:r>
            <a:r>
              <a:rPr dirty="0" err="1"/>
              <a:t>baisser</a:t>
            </a:r>
            <a:r>
              <a:rPr dirty="0"/>
              <a:t> les deux </a:t>
            </a:r>
            <a:r>
              <a:rPr dirty="0" err="1"/>
              <a:t>écarts</a:t>
            </a:r>
            <a:r>
              <a:rPr dirty="0"/>
              <a:t> ensemble.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qui </a:t>
            </a:r>
            <a:r>
              <a:rPr dirty="0" err="1"/>
              <a:t>sépare</a:t>
            </a:r>
            <a:r>
              <a:rPr dirty="0"/>
              <a:t> exploiter de </a:t>
            </a:r>
            <a:r>
              <a:rPr dirty="0" err="1"/>
              <a:t>réciter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Les trois </a:t>
            </a:r>
            <a:r>
              <a:rPr dirty="0" err="1"/>
              <a:t>traitements</a:t>
            </a:r>
            <a:r>
              <a:rPr dirty="0"/>
              <a:t>, ensuite. Le </a:t>
            </a:r>
            <a:r>
              <a:rPr dirty="0" err="1"/>
              <a:t>modèle</a:t>
            </a:r>
            <a:r>
              <a:rPr dirty="0"/>
              <a:t> est </a:t>
            </a:r>
            <a:r>
              <a:rPr dirty="0" err="1"/>
              <a:t>tenu</a:t>
            </a:r>
            <a:r>
              <a:rPr dirty="0"/>
              <a:t> constant, le </a:t>
            </a:r>
            <a:r>
              <a:rPr dirty="0" err="1"/>
              <a:t>harnais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, le </a:t>
            </a:r>
            <a:r>
              <a:rPr dirty="0" err="1"/>
              <a:t>texte</a:t>
            </a:r>
            <a:r>
              <a:rPr dirty="0"/>
              <a:t> des </a:t>
            </a:r>
            <a:r>
              <a:rPr dirty="0" err="1"/>
              <a:t>règles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 : </a:t>
            </a:r>
            <a:r>
              <a:rPr dirty="0" err="1"/>
              <a:t>seule</a:t>
            </a:r>
            <a:r>
              <a:rPr dirty="0"/>
              <a:t> la </a:t>
            </a:r>
            <a:r>
              <a:rPr dirty="0" err="1"/>
              <a:t>rubrique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 du prompt change. Sans </a:t>
            </a:r>
            <a:r>
              <a:rPr dirty="0" err="1"/>
              <a:t>mémoire</a:t>
            </a:r>
            <a:r>
              <a:rPr dirty="0"/>
              <a:t>, </a:t>
            </a:r>
            <a:r>
              <a:rPr dirty="0" err="1"/>
              <a:t>elle</a:t>
            </a:r>
            <a:r>
              <a:rPr dirty="0"/>
              <a:t> est vide. En </a:t>
            </a:r>
            <a:r>
              <a:rPr dirty="0" err="1"/>
              <a:t>réinjection</a:t>
            </a:r>
            <a:r>
              <a:rPr dirty="0"/>
              <a:t>, </a:t>
            </a:r>
            <a:r>
              <a:rPr dirty="0" err="1"/>
              <a:t>l'expérimentateur</a:t>
            </a:r>
            <a:r>
              <a:rPr dirty="0"/>
              <a:t> </a:t>
            </a:r>
            <a:r>
              <a:rPr dirty="0" err="1"/>
              <a:t>empile</a:t>
            </a:r>
            <a:r>
              <a:rPr dirty="0"/>
              <a:t> les </a:t>
            </a:r>
            <a:r>
              <a:rPr dirty="0" err="1"/>
              <a:t>récapitulatifs</a:t>
            </a:r>
            <a:r>
              <a:rPr dirty="0"/>
              <a:t> </a:t>
            </a:r>
            <a:r>
              <a:rPr dirty="0" err="1"/>
              <a:t>passés</a:t>
            </a:r>
            <a:r>
              <a:rPr dirty="0"/>
              <a:t> dans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fenêtre</a:t>
            </a:r>
            <a:r>
              <a:rPr dirty="0"/>
              <a:t> de </a:t>
            </a:r>
            <a:r>
              <a:rPr dirty="0" err="1"/>
              <a:t>cinquante</a:t>
            </a:r>
            <a:r>
              <a:rPr dirty="0"/>
              <a:t>-deux </a:t>
            </a:r>
            <a:r>
              <a:rPr dirty="0" err="1"/>
              <a:t>mille</a:t>
            </a:r>
            <a:r>
              <a:rPr dirty="0"/>
              <a:t> </a:t>
            </a:r>
            <a:r>
              <a:rPr dirty="0" err="1"/>
              <a:t>caractères</a:t>
            </a:r>
            <a:r>
              <a:rPr dirty="0"/>
              <a:t>, </a:t>
            </a:r>
            <a:r>
              <a:rPr dirty="0" err="1"/>
              <a:t>dimensionnée</a:t>
            </a:r>
            <a:r>
              <a:rPr dirty="0"/>
              <a:t> pour </a:t>
            </a:r>
            <a:r>
              <a:rPr dirty="0" err="1"/>
              <a:t>contenir</a:t>
            </a:r>
            <a:r>
              <a:rPr dirty="0"/>
              <a:t> trois </a:t>
            </a:r>
            <a:r>
              <a:rPr dirty="0" err="1"/>
              <a:t>séries</a:t>
            </a:r>
            <a:r>
              <a:rPr dirty="0"/>
              <a:t> — </a:t>
            </a:r>
            <a:r>
              <a:rPr dirty="0" err="1"/>
              <a:t>donc</a:t>
            </a:r>
            <a:r>
              <a:rPr dirty="0"/>
              <a:t> pour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cette</a:t>
            </a:r>
            <a:r>
              <a:rPr dirty="0"/>
              <a:t> condition </a:t>
            </a:r>
            <a:r>
              <a:rPr dirty="0" err="1"/>
              <a:t>puisse</a:t>
            </a:r>
            <a:r>
              <a:rPr dirty="0"/>
              <a:t> </a:t>
            </a:r>
            <a:r>
              <a:rPr dirty="0" err="1"/>
              <a:t>accumuler</a:t>
            </a:r>
            <a:r>
              <a:rPr dirty="0"/>
              <a:t>, et </a:t>
            </a:r>
            <a:r>
              <a:rPr dirty="0" err="1"/>
              <a:t>aussi</a:t>
            </a:r>
            <a:r>
              <a:rPr dirty="0"/>
              <a:t> </a:t>
            </a:r>
            <a:r>
              <a:rPr dirty="0" err="1"/>
              <a:t>saturer</a:t>
            </a:r>
            <a:r>
              <a:rPr dirty="0"/>
              <a:t>. En auto-</a:t>
            </a:r>
            <a:r>
              <a:rPr dirty="0" err="1"/>
              <a:t>écriture</a:t>
            </a:r>
            <a:r>
              <a:rPr dirty="0"/>
              <a:t>, </a:t>
            </a:r>
            <a:r>
              <a:rPr dirty="0" err="1"/>
              <a:t>l'agent</a:t>
            </a:r>
            <a:r>
              <a:rPr dirty="0"/>
              <a:t> lit le </a:t>
            </a:r>
            <a:r>
              <a:rPr dirty="0" err="1"/>
              <a:t>récapitulatif</a:t>
            </a:r>
            <a:r>
              <a:rPr dirty="0"/>
              <a:t> et </a:t>
            </a:r>
            <a:r>
              <a:rPr dirty="0" err="1"/>
              <a:t>réécrit</a:t>
            </a:r>
            <a:r>
              <a:rPr dirty="0"/>
              <a:t> </a:t>
            </a:r>
            <a:r>
              <a:rPr dirty="0" err="1"/>
              <a:t>lui-même</a:t>
            </a:r>
            <a:r>
              <a:rPr dirty="0"/>
              <a:t> son </a:t>
            </a:r>
            <a:r>
              <a:rPr dirty="0" err="1"/>
              <a:t>fichier</a:t>
            </a:r>
            <a:r>
              <a:rPr dirty="0"/>
              <a:t> de notes.</a:t>
            </a:r>
          </a:p>
          <a:p>
            <a:pPr>
              <a:buNone/>
            </a:pPr>
            <a:r>
              <a:rPr dirty="0"/>
              <a:t>Une </a:t>
            </a:r>
            <a:r>
              <a:rPr dirty="0" err="1"/>
              <a:t>série</a:t>
            </a:r>
            <a:r>
              <a:rPr dirty="0"/>
              <a:t>, </a:t>
            </a:r>
            <a:r>
              <a:rPr dirty="0" err="1"/>
              <a:t>enfin</a:t>
            </a:r>
            <a:r>
              <a:rPr dirty="0"/>
              <a:t>, </a:t>
            </a:r>
            <a:r>
              <a:rPr dirty="0" err="1"/>
              <a:t>c'est</a:t>
            </a:r>
            <a:r>
              <a:rPr dirty="0"/>
              <a:t> cent </a:t>
            </a:r>
            <a:r>
              <a:rPr dirty="0" err="1"/>
              <a:t>cinquante</a:t>
            </a:r>
            <a:r>
              <a:rPr dirty="0"/>
              <a:t> manches </a:t>
            </a:r>
            <a:r>
              <a:rPr dirty="0" err="1"/>
              <a:t>jouées</a:t>
            </a:r>
            <a:r>
              <a:rPr dirty="0"/>
              <a:t> sous un état </a:t>
            </a:r>
            <a:r>
              <a:rPr dirty="0" err="1"/>
              <a:t>mémoire</a:t>
            </a:r>
            <a:r>
              <a:rPr dirty="0"/>
              <a:t> fixe, pour </a:t>
            </a:r>
            <a:r>
              <a:rPr dirty="0" err="1"/>
              <a:t>qu'un</a:t>
            </a:r>
            <a:r>
              <a:rPr dirty="0"/>
              <a:t> point de </a:t>
            </a:r>
            <a:r>
              <a:rPr dirty="0" err="1"/>
              <a:t>courbe</a:t>
            </a:r>
            <a:r>
              <a:rPr dirty="0"/>
              <a:t> </a:t>
            </a:r>
            <a:r>
              <a:rPr dirty="0" err="1"/>
              <a:t>corresponde</a:t>
            </a:r>
            <a:r>
              <a:rPr dirty="0"/>
              <a:t> à un état </a:t>
            </a:r>
            <a:r>
              <a:rPr dirty="0" err="1"/>
              <a:t>mémoire</a:t>
            </a:r>
            <a:r>
              <a:rPr dirty="0"/>
              <a:t> et à un seul. La </a:t>
            </a:r>
            <a:r>
              <a:rPr dirty="0" err="1"/>
              <a:t>mémoire</a:t>
            </a:r>
            <a:r>
              <a:rPr dirty="0"/>
              <a:t> est </a:t>
            </a:r>
            <a:r>
              <a:rPr dirty="0" err="1"/>
              <a:t>capturée</a:t>
            </a:r>
            <a:r>
              <a:rPr dirty="0"/>
              <a:t> à </a:t>
            </a:r>
            <a:r>
              <a:rPr dirty="0" err="1"/>
              <a:t>l'ouverture</a:t>
            </a:r>
            <a:r>
              <a:rPr dirty="0"/>
              <a:t>, </a:t>
            </a:r>
            <a:r>
              <a:rPr dirty="0" err="1"/>
              <a:t>figée</a:t>
            </a:r>
            <a:r>
              <a:rPr dirty="0"/>
              <a:t> pendant toute la </a:t>
            </a:r>
            <a:r>
              <a:rPr dirty="0" err="1"/>
              <a:t>série</a:t>
            </a:r>
            <a:r>
              <a:rPr dirty="0"/>
              <a:t>, mise à jour à la </a:t>
            </a:r>
            <a:r>
              <a:rPr dirty="0" err="1"/>
              <a:t>seule</a:t>
            </a:r>
            <a:r>
              <a:rPr dirty="0"/>
              <a:t> </a:t>
            </a:r>
            <a:r>
              <a:rPr dirty="0" err="1"/>
              <a:t>frontière</a:t>
            </a:r>
            <a:r>
              <a:rPr dirty="0"/>
              <a:t>, avec un </a:t>
            </a:r>
            <a:r>
              <a:rPr dirty="0" err="1"/>
              <a:t>contexte</a:t>
            </a:r>
            <a:r>
              <a:rPr dirty="0"/>
              <a:t> </a:t>
            </a:r>
            <a:r>
              <a:rPr dirty="0" err="1"/>
              <a:t>neuf</a:t>
            </a:r>
            <a:r>
              <a:rPr dirty="0"/>
              <a:t> à </a:t>
            </a:r>
            <a:r>
              <a:rPr dirty="0" err="1"/>
              <a:t>chaque</a:t>
            </a:r>
            <a:r>
              <a:rPr dirty="0"/>
              <a:t> manche. Et </a:t>
            </a:r>
            <a:r>
              <a:rPr dirty="0" err="1"/>
              <a:t>j'insiste</a:t>
            </a:r>
            <a:r>
              <a:rPr dirty="0"/>
              <a:t> sur la </a:t>
            </a:r>
            <a:r>
              <a:rPr dirty="0" err="1"/>
              <a:t>dernière</a:t>
            </a:r>
            <a:r>
              <a:rPr dirty="0"/>
              <a:t> </a:t>
            </a:r>
            <a:r>
              <a:rPr dirty="0" err="1"/>
              <a:t>ligne</a:t>
            </a:r>
            <a:r>
              <a:rPr dirty="0"/>
              <a:t> : les </a:t>
            </a:r>
            <a:r>
              <a:rPr dirty="0" err="1"/>
              <a:t>écritures</a:t>
            </a:r>
            <a:r>
              <a:rPr dirty="0"/>
              <a:t> intra-</a:t>
            </a:r>
            <a:r>
              <a:rPr dirty="0" err="1"/>
              <a:t>série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détectées</a:t>
            </a:r>
            <a:r>
              <a:rPr dirty="0"/>
              <a:t>, </a:t>
            </a:r>
            <a:r>
              <a:rPr dirty="0" err="1"/>
              <a:t>enregistrées</a:t>
            </a:r>
            <a:r>
              <a:rPr dirty="0"/>
              <a:t>, </a:t>
            </a:r>
            <a:r>
              <a:rPr dirty="0" err="1"/>
              <a:t>puis</a:t>
            </a:r>
            <a:r>
              <a:rPr dirty="0"/>
              <a:t> </a:t>
            </a:r>
            <a:r>
              <a:rPr dirty="0" err="1"/>
              <a:t>annulées</a:t>
            </a:r>
            <a:r>
              <a:rPr dirty="0"/>
              <a:t> — le gel est </a:t>
            </a:r>
            <a:r>
              <a:rPr dirty="0" err="1"/>
              <a:t>vérifié</a:t>
            </a:r>
            <a:r>
              <a:rPr dirty="0"/>
              <a:t>, pas </a:t>
            </a:r>
            <a:r>
              <a:rPr dirty="0" err="1"/>
              <a:t>supposé</a:t>
            </a:r>
            <a:r>
              <a:rPr dirty="0"/>
              <a:t>. </a:t>
            </a:r>
            <a:r>
              <a:rPr dirty="0" err="1"/>
              <a:t>Enfin</a:t>
            </a:r>
            <a:r>
              <a:rPr dirty="0"/>
              <a:t>, les trois </a:t>
            </a:r>
            <a:r>
              <a:rPr dirty="0" err="1"/>
              <a:t>traitements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réplication</a:t>
            </a:r>
            <a:r>
              <a:rPr dirty="0"/>
              <a:t> </a:t>
            </a:r>
            <a:r>
              <a:rPr dirty="0" err="1"/>
              <a:t>reçoivent</a:t>
            </a:r>
            <a:r>
              <a:rPr dirty="0"/>
              <a:t> les </a:t>
            </a:r>
            <a:r>
              <a:rPr dirty="0" err="1"/>
              <a:t>mêmes</a:t>
            </a:r>
            <a:r>
              <a:rPr dirty="0"/>
              <a:t> distributions, manche par manche. Les </a:t>
            </a:r>
            <a:r>
              <a:rPr dirty="0" err="1"/>
              <a:t>comparaisons</a:t>
            </a:r>
            <a:r>
              <a:rPr dirty="0"/>
              <a:t> se font à chance </a:t>
            </a:r>
            <a:r>
              <a:rPr dirty="0" err="1"/>
              <a:t>égale</a:t>
            </a:r>
            <a:r>
              <a:rPr dirty="0"/>
              <a:t>.</a:t>
            </a:r>
          </a:p>
        </p:txBody>
      </p:sp>
      <p:sp>
        <p:nvSpPr>
          <p:cNvPr id="46" name="Google Shape;46;g3fb2f260372_1_3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b2f260372_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53" name="Google Shape;53;g3fb2f260372_1_1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 err="1"/>
              <a:t>L'écart</a:t>
            </a:r>
            <a:r>
              <a:rPr dirty="0"/>
              <a:t> </a:t>
            </a:r>
            <a:r>
              <a:rPr dirty="0" err="1"/>
              <a:t>d'exploitation</a:t>
            </a:r>
            <a:r>
              <a:rPr dirty="0"/>
              <a:t> est la </a:t>
            </a:r>
            <a:r>
              <a:rPr dirty="0" err="1"/>
              <a:t>différence</a:t>
            </a:r>
            <a:r>
              <a:rPr dirty="0"/>
              <a:t> entre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rapporterait</a:t>
            </a:r>
            <a:r>
              <a:rPr dirty="0"/>
              <a:t> la </a:t>
            </a:r>
            <a:r>
              <a:rPr dirty="0" err="1"/>
              <a:t>meilleure</a:t>
            </a:r>
            <a:r>
              <a:rPr dirty="0"/>
              <a:t> </a:t>
            </a:r>
            <a:r>
              <a:rPr dirty="0" err="1"/>
              <a:t>réponse</a:t>
            </a:r>
            <a:r>
              <a:rPr dirty="0"/>
              <a:t> à </a:t>
            </a:r>
            <a:r>
              <a:rPr dirty="0" err="1"/>
              <a:t>cet</a:t>
            </a:r>
            <a:r>
              <a:rPr dirty="0"/>
              <a:t> </a:t>
            </a:r>
            <a:r>
              <a:rPr dirty="0" err="1"/>
              <a:t>adversaire</a:t>
            </a:r>
            <a:r>
              <a:rPr dirty="0"/>
              <a:t> et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rapporte</a:t>
            </a:r>
            <a:r>
              <a:rPr dirty="0"/>
              <a:t> la politique </a:t>
            </a:r>
            <a:r>
              <a:rPr dirty="0" err="1"/>
              <a:t>observée</a:t>
            </a:r>
            <a:r>
              <a:rPr dirty="0"/>
              <a:t>. Ce </a:t>
            </a:r>
            <a:r>
              <a:rPr dirty="0" err="1"/>
              <a:t>n'est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le gain </a:t>
            </a:r>
            <a:r>
              <a:rPr dirty="0" err="1"/>
              <a:t>ni</a:t>
            </a:r>
            <a:r>
              <a:rPr dirty="0"/>
              <a:t> le </a:t>
            </a:r>
            <a:r>
              <a:rPr dirty="0" err="1"/>
              <a:t>taux</a:t>
            </a:r>
            <a:r>
              <a:rPr dirty="0"/>
              <a:t> de </a:t>
            </a:r>
            <a:r>
              <a:rPr dirty="0" err="1"/>
              <a:t>victoire</a:t>
            </a:r>
            <a:r>
              <a:rPr dirty="0"/>
              <a:t>, deux </a:t>
            </a:r>
            <a:r>
              <a:rPr dirty="0" err="1"/>
              <a:t>quantités</a:t>
            </a:r>
            <a:r>
              <a:rPr dirty="0"/>
              <a:t> qui </a:t>
            </a:r>
            <a:r>
              <a:rPr dirty="0" err="1"/>
              <a:t>confondent</a:t>
            </a:r>
            <a:r>
              <a:rPr dirty="0"/>
              <a:t> la </a:t>
            </a:r>
            <a:r>
              <a:rPr dirty="0" err="1"/>
              <a:t>qualité</a:t>
            </a:r>
            <a:r>
              <a:rPr dirty="0"/>
              <a:t> du jeu et la chance de la distribution. Il est exact — six distributions, un </a:t>
            </a:r>
            <a:r>
              <a:rPr dirty="0" err="1"/>
              <a:t>arbre</a:t>
            </a:r>
            <a:r>
              <a:rPr dirty="0"/>
              <a:t> de </a:t>
            </a:r>
            <a:r>
              <a:rPr dirty="0" err="1"/>
              <a:t>profondeur</a:t>
            </a:r>
            <a:r>
              <a:rPr dirty="0"/>
              <a:t> trois, </a:t>
            </a:r>
            <a:r>
              <a:rPr dirty="0" err="1"/>
              <a:t>énumération</a:t>
            </a:r>
            <a:r>
              <a:rPr dirty="0"/>
              <a:t> </a:t>
            </a:r>
            <a:r>
              <a:rPr dirty="0" err="1"/>
              <a:t>complète</a:t>
            </a:r>
            <a:r>
              <a:rPr dirty="0"/>
              <a:t> — </a:t>
            </a:r>
            <a:r>
              <a:rPr dirty="0" err="1"/>
              <a:t>donc</a:t>
            </a:r>
            <a:r>
              <a:rPr dirty="0"/>
              <a:t> il </a:t>
            </a:r>
            <a:r>
              <a:rPr dirty="0" err="1"/>
              <a:t>n'y</a:t>
            </a:r>
            <a:r>
              <a:rPr dirty="0"/>
              <a:t> a </a:t>
            </a:r>
            <a:r>
              <a:rPr dirty="0" err="1"/>
              <a:t>ni</a:t>
            </a:r>
            <a:r>
              <a:rPr dirty="0"/>
              <a:t> simulation </a:t>
            </a:r>
            <a:r>
              <a:rPr dirty="0" err="1"/>
              <a:t>ni</a:t>
            </a:r>
            <a:r>
              <a:rPr dirty="0"/>
              <a:t> </a:t>
            </a:r>
            <a:r>
              <a:rPr dirty="0" err="1"/>
              <a:t>intervalle</a:t>
            </a:r>
            <a:r>
              <a:rPr dirty="0"/>
              <a:t> de </a:t>
            </a:r>
            <a:r>
              <a:rPr dirty="0" err="1"/>
              <a:t>confiance</a:t>
            </a:r>
            <a:r>
              <a:rPr dirty="0"/>
              <a:t> sur la </a:t>
            </a:r>
            <a:r>
              <a:rPr dirty="0" err="1"/>
              <a:t>mesure</a:t>
            </a:r>
            <a:r>
              <a:rPr dirty="0"/>
              <a:t> </a:t>
            </a:r>
            <a:r>
              <a:rPr dirty="0" err="1"/>
              <a:t>elle-même</a:t>
            </a:r>
            <a:r>
              <a:rPr dirty="0"/>
              <a:t>. Il est insensible à la chance : les </a:t>
            </a:r>
            <a:r>
              <a:rPr dirty="0" err="1"/>
              <a:t>résultats</a:t>
            </a:r>
            <a:r>
              <a:rPr dirty="0"/>
              <a:t> portent sur la politique, pas sur les gains </a:t>
            </a:r>
            <a:r>
              <a:rPr dirty="0" err="1"/>
              <a:t>réalisés</a:t>
            </a:r>
            <a:r>
              <a:rPr dirty="0"/>
              <a:t>. Et il se lit </a:t>
            </a:r>
            <a:r>
              <a:rPr dirty="0" err="1"/>
              <a:t>en</a:t>
            </a:r>
            <a:r>
              <a:rPr dirty="0"/>
              <a:t> jetons par manche, </a:t>
            </a:r>
            <a:r>
              <a:rPr dirty="0" err="1"/>
              <a:t>zéro</a:t>
            </a:r>
            <a:r>
              <a:rPr dirty="0"/>
              <a:t> </a:t>
            </a:r>
            <a:r>
              <a:rPr dirty="0" err="1"/>
              <a:t>signifiant</a:t>
            </a:r>
            <a:r>
              <a:rPr dirty="0"/>
              <a:t> exploitation </a:t>
            </a:r>
            <a:r>
              <a:rPr dirty="0" err="1"/>
              <a:t>optimale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À </a:t>
            </a:r>
            <a:r>
              <a:rPr dirty="0" err="1"/>
              <a:t>côté</a:t>
            </a:r>
            <a:r>
              <a:rPr dirty="0"/>
              <a:t>, je </a:t>
            </a:r>
            <a:r>
              <a:rPr dirty="0" err="1"/>
              <a:t>calcule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espérance</a:t>
            </a:r>
            <a:r>
              <a:rPr dirty="0"/>
              <a:t> </a:t>
            </a:r>
            <a:r>
              <a:rPr dirty="0" err="1"/>
              <a:t>contre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autre</a:t>
            </a:r>
            <a:r>
              <a:rPr dirty="0"/>
              <a:t> </a:t>
            </a:r>
            <a:r>
              <a:rPr dirty="0" err="1"/>
              <a:t>référence</a:t>
            </a:r>
            <a:r>
              <a:rPr dirty="0"/>
              <a:t>, </a:t>
            </a:r>
            <a:r>
              <a:rPr dirty="0" err="1"/>
              <a:t>l'équilibre</a:t>
            </a:r>
            <a:r>
              <a:rPr dirty="0"/>
              <a:t>. Un </a:t>
            </a:r>
            <a:r>
              <a:rPr dirty="0" err="1"/>
              <a:t>récitant</a:t>
            </a:r>
            <a:r>
              <a:rPr dirty="0"/>
              <a:t> y </a:t>
            </a:r>
            <a:r>
              <a:rPr dirty="0" err="1"/>
              <a:t>reste</a:t>
            </a:r>
            <a:r>
              <a:rPr dirty="0"/>
              <a:t> à </a:t>
            </a:r>
            <a:r>
              <a:rPr dirty="0" err="1"/>
              <a:t>zéro</a:t>
            </a:r>
            <a:r>
              <a:rPr dirty="0"/>
              <a:t> </a:t>
            </a:r>
            <a:r>
              <a:rPr dirty="0" err="1"/>
              <a:t>quel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soit </a:t>
            </a:r>
            <a:r>
              <a:rPr dirty="0" err="1"/>
              <a:t>l'adversaire</a:t>
            </a:r>
            <a:r>
              <a:rPr dirty="0"/>
              <a:t>, </a:t>
            </a:r>
            <a:r>
              <a:rPr dirty="0" err="1"/>
              <a:t>tandis</a:t>
            </a:r>
            <a:r>
              <a:rPr dirty="0"/>
              <a:t> </a:t>
            </a:r>
            <a:r>
              <a:rPr dirty="0" err="1"/>
              <a:t>qu'un</a:t>
            </a:r>
            <a:r>
              <a:rPr dirty="0"/>
              <a:t> </a:t>
            </a:r>
            <a:r>
              <a:rPr dirty="0" err="1"/>
              <a:t>exploiteur</a:t>
            </a:r>
            <a:r>
              <a:rPr dirty="0"/>
              <a:t> </a:t>
            </a:r>
            <a:r>
              <a:rPr dirty="0" err="1"/>
              <a:t>s'en</a:t>
            </a:r>
            <a:r>
              <a:rPr dirty="0"/>
              <a:t> </a:t>
            </a:r>
            <a:r>
              <a:rPr dirty="0" err="1"/>
              <a:t>écarte</a:t>
            </a:r>
            <a:r>
              <a:rPr dirty="0"/>
              <a:t> </a:t>
            </a:r>
            <a:r>
              <a:rPr dirty="0" err="1"/>
              <a:t>positivement</a:t>
            </a:r>
            <a:r>
              <a:rPr dirty="0"/>
              <a:t> :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l'instrument</a:t>
            </a:r>
            <a:r>
              <a:rPr dirty="0"/>
              <a:t> de ma deuxième </a:t>
            </a:r>
            <a:r>
              <a:rPr dirty="0" err="1"/>
              <a:t>hypothèse</a:t>
            </a:r>
            <a:r>
              <a:rPr dirty="0"/>
              <a:t>. Par </a:t>
            </a:r>
            <a:r>
              <a:rPr dirty="0" err="1"/>
              <a:t>honnêteté</a:t>
            </a:r>
            <a:r>
              <a:rPr dirty="0"/>
              <a:t>, je </a:t>
            </a:r>
            <a:r>
              <a:rPr dirty="0" err="1"/>
              <a:t>précise</a:t>
            </a:r>
            <a:r>
              <a:rPr dirty="0"/>
              <a:t> </a:t>
            </a:r>
            <a:r>
              <a:rPr dirty="0" err="1"/>
              <a:t>qu'à</a:t>
            </a:r>
            <a:r>
              <a:rPr dirty="0"/>
              <a:t> </a:t>
            </a:r>
            <a:r>
              <a:rPr dirty="0" err="1"/>
              <a:t>adversaire</a:t>
            </a:r>
            <a:r>
              <a:rPr dirty="0"/>
              <a:t> </a:t>
            </a:r>
            <a:r>
              <a:rPr dirty="0" err="1"/>
              <a:t>fixé</a:t>
            </a:r>
            <a:r>
              <a:rPr dirty="0"/>
              <a:t> les deux </a:t>
            </a:r>
            <a:r>
              <a:rPr dirty="0" err="1"/>
              <a:t>mesures</a:t>
            </a:r>
            <a:r>
              <a:rPr dirty="0"/>
              <a:t> </a:t>
            </a:r>
            <a:r>
              <a:rPr dirty="0" err="1"/>
              <a:t>n'ont</a:t>
            </a:r>
            <a:r>
              <a:rPr dirty="0"/>
              <a:t> </a:t>
            </a:r>
            <a:r>
              <a:rPr dirty="0" err="1"/>
              <a:t>qu'un</a:t>
            </a:r>
            <a:r>
              <a:rPr dirty="0"/>
              <a:t> seul </a:t>
            </a:r>
            <a:r>
              <a:rPr dirty="0" err="1"/>
              <a:t>degré</a:t>
            </a:r>
            <a:r>
              <a:rPr dirty="0"/>
              <a:t> de liberté. Ce </a:t>
            </a:r>
            <a:r>
              <a:rPr dirty="0" err="1"/>
              <a:t>n'est</a:t>
            </a:r>
            <a:r>
              <a:rPr dirty="0"/>
              <a:t> pas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seconde</a:t>
            </a:r>
            <a:r>
              <a:rPr dirty="0"/>
              <a:t> </a:t>
            </a:r>
            <a:r>
              <a:rPr dirty="0" err="1"/>
              <a:t>mesure</a:t>
            </a:r>
            <a:r>
              <a:rPr dirty="0"/>
              <a:t> </a:t>
            </a:r>
            <a:r>
              <a:rPr dirty="0" err="1"/>
              <a:t>indépendante</a:t>
            </a:r>
            <a:r>
              <a:rPr dirty="0"/>
              <a:t>, </a:t>
            </a:r>
            <a:r>
              <a:rPr dirty="0" err="1"/>
              <a:t>c'est</a:t>
            </a:r>
            <a:r>
              <a:rPr dirty="0"/>
              <a:t> un </a:t>
            </a:r>
            <a:r>
              <a:rPr dirty="0" err="1"/>
              <a:t>recalage</a:t>
            </a:r>
            <a:r>
              <a:rPr dirty="0"/>
              <a:t> : il </a:t>
            </a:r>
            <a:r>
              <a:rPr dirty="0" err="1"/>
              <a:t>déplace</a:t>
            </a:r>
            <a:r>
              <a:rPr dirty="0"/>
              <a:t> le </a:t>
            </a:r>
            <a:r>
              <a:rPr dirty="0" err="1"/>
              <a:t>zéro</a:t>
            </a:r>
            <a:r>
              <a:rPr dirty="0"/>
              <a:t> sur le </a:t>
            </a:r>
            <a:r>
              <a:rPr dirty="0" err="1"/>
              <a:t>comportement</a:t>
            </a:r>
            <a:r>
              <a:rPr dirty="0"/>
              <a:t> du </a:t>
            </a:r>
            <a:r>
              <a:rPr dirty="0" err="1"/>
              <a:t>récitant</a:t>
            </a:r>
            <a:r>
              <a:rPr dirty="0"/>
              <a:t>, </a:t>
            </a:r>
            <a:r>
              <a:rPr dirty="0" err="1"/>
              <a:t>ce</a:t>
            </a:r>
            <a:r>
              <a:rPr dirty="0"/>
              <a:t> qui rend </a:t>
            </a:r>
            <a:r>
              <a:rPr dirty="0" err="1"/>
              <a:t>lisible</a:t>
            </a:r>
            <a:r>
              <a:rPr dirty="0"/>
              <a:t> le </a:t>
            </a:r>
            <a:r>
              <a:rPr dirty="0" err="1"/>
              <a:t>franchissement</a:t>
            </a:r>
            <a:r>
              <a:rPr dirty="0"/>
              <a:t> de </a:t>
            </a:r>
            <a:r>
              <a:rPr dirty="0" err="1"/>
              <a:t>signe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Le tableau </a:t>
            </a:r>
            <a:r>
              <a:rPr dirty="0" err="1"/>
              <a:t>donne</a:t>
            </a:r>
            <a:r>
              <a:rPr dirty="0"/>
              <a:t> </a:t>
            </a:r>
            <a:r>
              <a:rPr dirty="0" err="1"/>
              <a:t>l'échelle</a:t>
            </a:r>
            <a:r>
              <a:rPr dirty="0"/>
              <a:t> de lecture,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qu'un</a:t>
            </a:r>
            <a:r>
              <a:rPr dirty="0"/>
              <a:t> </a:t>
            </a:r>
            <a:r>
              <a:rPr dirty="0" err="1"/>
              <a:t>écart</a:t>
            </a:r>
            <a:r>
              <a:rPr dirty="0"/>
              <a:t> ne </a:t>
            </a:r>
            <a:r>
              <a:rPr dirty="0" err="1"/>
              <a:t>s'interprète</a:t>
            </a:r>
            <a:r>
              <a:rPr dirty="0"/>
              <a:t> pas dans </a:t>
            </a:r>
            <a:r>
              <a:rPr dirty="0" err="1"/>
              <a:t>l'absolu</a:t>
            </a:r>
            <a:r>
              <a:rPr dirty="0"/>
              <a:t> : le plafond </a:t>
            </a:r>
            <a:r>
              <a:rPr dirty="0" err="1"/>
              <a:t>dépend</a:t>
            </a:r>
            <a:r>
              <a:rPr dirty="0"/>
              <a:t> de </a:t>
            </a:r>
            <a:r>
              <a:rPr dirty="0" err="1"/>
              <a:t>l'adversaire</a:t>
            </a:r>
            <a:r>
              <a:rPr dirty="0"/>
              <a:t>. Contre Over-folder, un </a:t>
            </a:r>
            <a:r>
              <a:rPr dirty="0" err="1"/>
              <a:t>joueur</a:t>
            </a:r>
            <a:r>
              <a:rPr dirty="0"/>
              <a:t> parfait </a:t>
            </a:r>
            <a:r>
              <a:rPr dirty="0" err="1"/>
              <a:t>gagne</a:t>
            </a:r>
            <a:r>
              <a:rPr dirty="0"/>
              <a:t> un jeton par manche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un </a:t>
            </a:r>
            <a:r>
              <a:rPr dirty="0" err="1"/>
              <a:t>récitant</a:t>
            </a:r>
            <a:r>
              <a:rPr dirty="0"/>
              <a:t> </a:t>
            </a:r>
            <a:r>
              <a:rPr dirty="0" err="1"/>
              <a:t>n'en</a:t>
            </a:r>
            <a:r>
              <a:rPr dirty="0"/>
              <a:t> </a:t>
            </a:r>
            <a:r>
              <a:rPr dirty="0" err="1"/>
              <a:t>gagne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0,22 — la </a:t>
            </a:r>
            <a:r>
              <a:rPr dirty="0" err="1"/>
              <a:t>référence</a:t>
            </a:r>
            <a:r>
              <a:rPr dirty="0"/>
              <a:t> </a:t>
            </a:r>
            <a:r>
              <a:rPr dirty="0" err="1"/>
              <a:t>récitée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monter</a:t>
            </a:r>
            <a:r>
              <a:rPr dirty="0"/>
              <a:t> à plus de 0,78. Contre Station,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plafonne</a:t>
            </a:r>
            <a:r>
              <a:rPr dirty="0"/>
              <a:t> à 0,11. Contre GTO,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vaut</a:t>
            </a:r>
            <a:r>
              <a:rPr dirty="0"/>
              <a:t> </a:t>
            </a:r>
            <a:r>
              <a:rPr dirty="0" err="1"/>
              <a:t>zéro</a:t>
            </a:r>
            <a:r>
              <a:rPr dirty="0"/>
              <a:t>, et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pour </a:t>
            </a:r>
            <a:r>
              <a:rPr dirty="0" err="1"/>
              <a:t>cela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GTO </a:t>
            </a:r>
            <a:r>
              <a:rPr dirty="0" err="1"/>
              <a:t>sert</a:t>
            </a:r>
            <a:r>
              <a:rPr dirty="0"/>
              <a:t> de </a:t>
            </a:r>
            <a:r>
              <a:rPr dirty="0" err="1"/>
              <a:t>contrôle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La </a:t>
            </a:r>
            <a:r>
              <a:rPr dirty="0" err="1"/>
              <a:t>campagne</a:t>
            </a:r>
            <a:r>
              <a:rPr dirty="0"/>
              <a:t>, </a:t>
            </a:r>
            <a:r>
              <a:rPr dirty="0" err="1"/>
              <a:t>enfin</a:t>
            </a:r>
            <a:r>
              <a:rPr dirty="0"/>
              <a:t> : </a:t>
            </a:r>
            <a:r>
              <a:rPr dirty="0" err="1"/>
              <a:t>vingt</a:t>
            </a:r>
            <a:r>
              <a:rPr dirty="0"/>
              <a:t>-quatre </a:t>
            </a:r>
            <a:r>
              <a:rPr dirty="0" err="1"/>
              <a:t>exécutions</a:t>
            </a:r>
            <a:r>
              <a:rPr dirty="0"/>
              <a:t>, cent </a:t>
            </a:r>
            <a:r>
              <a:rPr dirty="0" err="1"/>
              <a:t>soixante</a:t>
            </a:r>
            <a:r>
              <a:rPr dirty="0"/>
              <a:t>-dix-sept </a:t>
            </a:r>
            <a:r>
              <a:rPr dirty="0" err="1"/>
              <a:t>séries</a:t>
            </a:r>
            <a:r>
              <a:rPr dirty="0"/>
              <a:t>, 26 550 manches, 27 290 </a:t>
            </a:r>
            <a:r>
              <a:rPr dirty="0" err="1"/>
              <a:t>décisions</a:t>
            </a:r>
            <a:r>
              <a:rPr dirty="0"/>
              <a:t> de </a:t>
            </a:r>
            <a:r>
              <a:rPr dirty="0" err="1"/>
              <a:t>l'agent</a:t>
            </a:r>
            <a:r>
              <a:rPr dirty="0"/>
              <a:t>, sur gpt-5.6-luna à effort medium, cent </a:t>
            </a:r>
            <a:r>
              <a:rPr dirty="0" err="1"/>
              <a:t>cinquante</a:t>
            </a:r>
            <a:r>
              <a:rPr dirty="0"/>
              <a:t> manches par </a:t>
            </a:r>
            <a:r>
              <a:rPr dirty="0" err="1"/>
              <a:t>série</a:t>
            </a:r>
            <a:r>
              <a:rPr dirty="0"/>
              <a:t>, trois </a:t>
            </a:r>
            <a:r>
              <a:rPr dirty="0" err="1"/>
              <a:t>réplications</a:t>
            </a:r>
            <a:r>
              <a:rPr dirty="0"/>
              <a:t>, </a:t>
            </a:r>
            <a:r>
              <a:rPr dirty="0" err="1"/>
              <a:t>une</a:t>
            </a:r>
            <a:r>
              <a:rPr dirty="0"/>
              <a:t> graine de </a:t>
            </a:r>
            <a:r>
              <a:rPr dirty="0" err="1"/>
              <a:t>campagne</a:t>
            </a:r>
            <a:r>
              <a:rPr dirty="0"/>
              <a:t> unique. </a:t>
            </a:r>
            <a:r>
              <a:rPr dirty="0" err="1"/>
              <a:t>Quarante</a:t>
            </a:r>
            <a:r>
              <a:rPr dirty="0"/>
              <a:t>-sept dollars, deux </a:t>
            </a:r>
            <a:r>
              <a:rPr dirty="0" err="1"/>
              <a:t>jours</a:t>
            </a:r>
            <a:r>
              <a:rPr dirty="0"/>
              <a:t>,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seule</a:t>
            </a:r>
            <a:r>
              <a:rPr dirty="0"/>
              <a:t> machine. Et la </a:t>
            </a:r>
            <a:r>
              <a:rPr dirty="0" err="1"/>
              <a:t>vérification</a:t>
            </a:r>
            <a:r>
              <a:rPr dirty="0"/>
              <a:t> : deux cent </a:t>
            </a:r>
            <a:r>
              <a:rPr dirty="0" err="1"/>
              <a:t>vingt</a:t>
            </a:r>
            <a:r>
              <a:rPr dirty="0"/>
              <a:t>-cinq tests </a:t>
            </a:r>
            <a:r>
              <a:rPr dirty="0" err="1"/>
              <a:t>automatisés</a:t>
            </a:r>
            <a:r>
              <a:rPr dirty="0"/>
              <a:t>, </a:t>
            </a:r>
            <a:r>
              <a:rPr dirty="0" err="1"/>
              <a:t>dont</a:t>
            </a:r>
            <a:r>
              <a:rPr dirty="0"/>
              <a:t> un oracle </a:t>
            </a:r>
            <a:r>
              <a:rPr dirty="0" err="1"/>
              <a:t>analytique</a:t>
            </a:r>
            <a:r>
              <a:rPr dirty="0"/>
              <a:t> du </a:t>
            </a:r>
            <a:r>
              <a:rPr dirty="0" err="1"/>
              <a:t>moteur</a:t>
            </a:r>
            <a:r>
              <a:rPr dirty="0"/>
              <a:t> de </a:t>
            </a:r>
            <a:r>
              <a:rPr dirty="0" err="1"/>
              <a:t>mesure</a:t>
            </a:r>
            <a:r>
              <a:rPr dirty="0"/>
              <a:t>, plus un </a:t>
            </a:r>
            <a:r>
              <a:rPr dirty="0" err="1"/>
              <a:t>rejeu</a:t>
            </a:r>
            <a:r>
              <a:rPr dirty="0"/>
              <a:t> qui re-</a:t>
            </a:r>
            <a:r>
              <a:rPr dirty="0" err="1"/>
              <a:t>règle</a:t>
            </a:r>
            <a:r>
              <a:rPr dirty="0"/>
              <a:t> </a:t>
            </a:r>
            <a:r>
              <a:rPr dirty="0" err="1"/>
              <a:t>chaque</a:t>
            </a:r>
            <a:r>
              <a:rPr dirty="0"/>
              <a:t> manche </a:t>
            </a:r>
            <a:r>
              <a:rPr dirty="0" err="1"/>
              <a:t>depuis</a:t>
            </a:r>
            <a:r>
              <a:rPr dirty="0"/>
              <a:t> les seuls </a:t>
            </a:r>
            <a:r>
              <a:rPr dirty="0" err="1"/>
              <a:t>journaux</a:t>
            </a:r>
            <a:r>
              <a:rPr dirty="0"/>
              <a:t> et </a:t>
            </a:r>
            <a:r>
              <a:rPr dirty="0" err="1"/>
              <a:t>retrouve</a:t>
            </a:r>
            <a:r>
              <a:rPr dirty="0"/>
              <a:t> les </a:t>
            </a:r>
            <a:r>
              <a:rPr dirty="0" err="1"/>
              <a:t>résultats</a:t>
            </a:r>
            <a:r>
              <a:rPr dirty="0"/>
              <a:t> </a:t>
            </a:r>
            <a:r>
              <a:rPr dirty="0" err="1"/>
              <a:t>publiés</a:t>
            </a:r>
            <a:r>
              <a:rPr dirty="0"/>
              <a:t>, </a:t>
            </a:r>
            <a:r>
              <a:rPr dirty="0" err="1"/>
              <a:t>vingt</a:t>
            </a:r>
            <a:r>
              <a:rPr dirty="0"/>
              <a:t>-quatre </a:t>
            </a:r>
            <a:r>
              <a:rPr dirty="0" err="1"/>
              <a:t>fois</a:t>
            </a:r>
            <a:r>
              <a:rPr dirty="0"/>
              <a:t> sur </a:t>
            </a:r>
            <a:r>
              <a:rPr dirty="0" err="1"/>
              <a:t>vingt</a:t>
            </a:r>
            <a:r>
              <a:rPr dirty="0"/>
              <a:t>-quatre. </a:t>
            </a:r>
            <a:r>
              <a:rPr dirty="0" err="1"/>
              <a:t>L'expérience</a:t>
            </a:r>
            <a:r>
              <a:rPr dirty="0"/>
              <a:t> est </a:t>
            </a:r>
            <a:r>
              <a:rPr dirty="0" err="1"/>
              <a:t>reconstructible</a:t>
            </a:r>
            <a:r>
              <a:rPr dirty="0"/>
              <a:t>.</a:t>
            </a:r>
          </a:p>
        </p:txBody>
      </p:sp>
      <p:sp>
        <p:nvSpPr>
          <p:cNvPr id="54" name="Google Shape;54;g3fb2f260372_1_1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b2f260372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61" name="Google Shape;61;g3fb2f260372_1_117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Quatre </a:t>
            </a:r>
            <a:r>
              <a:rPr dirty="0" err="1"/>
              <a:t>hypothèses</a:t>
            </a:r>
            <a:r>
              <a:rPr dirty="0"/>
              <a:t>. Je ne les </a:t>
            </a:r>
            <a:r>
              <a:rPr dirty="0" err="1"/>
              <a:t>lis</a:t>
            </a:r>
            <a:r>
              <a:rPr dirty="0"/>
              <a:t> pas, </a:t>
            </a:r>
            <a:r>
              <a:rPr dirty="0" err="1"/>
              <a:t>j'en</a:t>
            </a:r>
            <a:r>
              <a:rPr dirty="0"/>
              <a:t> </a:t>
            </a:r>
            <a:r>
              <a:rPr dirty="0" err="1"/>
              <a:t>donne</a:t>
            </a:r>
            <a:r>
              <a:rPr dirty="0"/>
              <a:t> la </a:t>
            </a:r>
            <a:r>
              <a:rPr dirty="0" err="1"/>
              <a:t>logique</a:t>
            </a:r>
            <a:r>
              <a:rPr dirty="0"/>
              <a:t> : </a:t>
            </a:r>
            <a:r>
              <a:rPr dirty="0" err="1"/>
              <a:t>chacune</a:t>
            </a:r>
            <a:r>
              <a:rPr dirty="0"/>
              <a:t> </a:t>
            </a:r>
            <a:r>
              <a:rPr dirty="0" err="1"/>
              <a:t>écarte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explication </a:t>
            </a:r>
            <a:r>
              <a:rPr dirty="0" err="1"/>
              <a:t>concurrente</a:t>
            </a:r>
            <a:r>
              <a:rPr dirty="0"/>
              <a:t>, et </a:t>
            </a:r>
            <a:r>
              <a:rPr dirty="0" err="1"/>
              <a:t>chacune</a:t>
            </a:r>
            <a:r>
              <a:rPr dirty="0"/>
              <a:t> est </a:t>
            </a:r>
            <a:r>
              <a:rPr dirty="0" err="1"/>
              <a:t>réfutable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La première pose </a:t>
            </a:r>
            <a:r>
              <a:rPr dirty="0" err="1"/>
              <a:t>l'existence</a:t>
            </a:r>
            <a:r>
              <a:rPr dirty="0"/>
              <a:t> de </a:t>
            </a:r>
            <a:r>
              <a:rPr dirty="0" err="1"/>
              <a:t>l'effet</a:t>
            </a:r>
            <a:r>
              <a:rPr dirty="0"/>
              <a:t> et son origine. </a:t>
            </a:r>
            <a:r>
              <a:rPr dirty="0" err="1"/>
              <a:t>L'écart</a:t>
            </a:r>
            <a:r>
              <a:rPr dirty="0"/>
              <a:t> doit </a:t>
            </a:r>
            <a:r>
              <a:rPr dirty="0" err="1"/>
              <a:t>décroître</a:t>
            </a:r>
            <a:r>
              <a:rPr dirty="0"/>
              <a:t> pour </a:t>
            </a:r>
            <a:r>
              <a:rPr dirty="0" err="1"/>
              <a:t>l'agent</a:t>
            </a:r>
            <a:r>
              <a:rPr dirty="0"/>
              <a:t> à </a:t>
            </a:r>
            <a:r>
              <a:rPr dirty="0" err="1"/>
              <a:t>mémoire</a:t>
            </a:r>
            <a:r>
              <a:rPr dirty="0"/>
              <a:t> auto-</a:t>
            </a:r>
            <a:r>
              <a:rPr dirty="0" err="1"/>
              <a:t>rédigée</a:t>
            </a:r>
            <a:r>
              <a:rPr dirty="0"/>
              <a:t> et </a:t>
            </a:r>
            <a:r>
              <a:rPr dirty="0" err="1"/>
              <a:t>rester</a:t>
            </a:r>
            <a:r>
              <a:rPr dirty="0"/>
              <a:t> </a:t>
            </a:r>
            <a:r>
              <a:rPr dirty="0" err="1"/>
              <a:t>stationnaire</a:t>
            </a:r>
            <a:r>
              <a:rPr dirty="0"/>
              <a:t> pour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privé</a:t>
            </a:r>
            <a:r>
              <a:rPr dirty="0"/>
              <a:t> de </a:t>
            </a:r>
            <a:r>
              <a:rPr dirty="0" err="1"/>
              <a:t>mémoire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le </a:t>
            </a:r>
            <a:r>
              <a:rPr dirty="0" err="1"/>
              <a:t>témoin</a:t>
            </a:r>
            <a:r>
              <a:rPr dirty="0"/>
              <a:t> sans </a:t>
            </a:r>
            <a:r>
              <a:rPr dirty="0" err="1"/>
              <a:t>mémoire</a:t>
            </a:r>
            <a:r>
              <a:rPr dirty="0"/>
              <a:t> qui fait le travail </a:t>
            </a:r>
            <a:r>
              <a:rPr dirty="0" err="1"/>
              <a:t>d'identification</a:t>
            </a:r>
            <a:r>
              <a:rPr dirty="0"/>
              <a:t> : </a:t>
            </a:r>
            <a:r>
              <a:rPr dirty="0" err="1"/>
              <a:t>mêmes</a:t>
            </a:r>
            <a:r>
              <a:rPr dirty="0"/>
              <a:t> cartes,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modèle</a:t>
            </a:r>
            <a:r>
              <a:rPr dirty="0"/>
              <a:t>,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calcul</a:t>
            </a:r>
            <a:r>
              <a:rPr dirty="0"/>
              <a:t>, </a:t>
            </a:r>
            <a:r>
              <a:rPr dirty="0" err="1"/>
              <a:t>seule</a:t>
            </a:r>
            <a:r>
              <a:rPr dirty="0"/>
              <a:t> la </a:t>
            </a:r>
            <a:r>
              <a:rPr dirty="0" err="1"/>
              <a:t>rubrique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 change. Elle </a:t>
            </a:r>
            <a:r>
              <a:rPr dirty="0" err="1"/>
              <a:t>tombe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les deux conditions ne se </a:t>
            </a:r>
            <a:r>
              <a:rPr dirty="0" err="1"/>
              <a:t>distinguent</a:t>
            </a:r>
            <a:r>
              <a:rPr dirty="0"/>
              <a:t> pas.</a:t>
            </a:r>
          </a:p>
          <a:p>
            <a:pPr>
              <a:buNone/>
            </a:pPr>
            <a:r>
              <a:rPr dirty="0"/>
              <a:t>La deuxième est la plus </a:t>
            </a:r>
            <a:r>
              <a:rPr dirty="0" err="1"/>
              <a:t>importante</a:t>
            </a:r>
            <a:r>
              <a:rPr dirty="0"/>
              <a:t>,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qu'elle</a:t>
            </a:r>
            <a:r>
              <a:rPr dirty="0"/>
              <a:t> </a:t>
            </a:r>
            <a:r>
              <a:rPr dirty="0" err="1"/>
              <a:t>répond</a:t>
            </a:r>
            <a:r>
              <a:rPr dirty="0"/>
              <a:t> à </a:t>
            </a:r>
            <a:r>
              <a:rPr dirty="0" err="1"/>
              <a:t>l'objection</a:t>
            </a:r>
            <a:r>
              <a:rPr dirty="0"/>
              <a:t> </a:t>
            </a:r>
            <a:r>
              <a:rPr dirty="0" err="1"/>
              <a:t>sérieuse</a:t>
            </a:r>
            <a:r>
              <a:rPr dirty="0"/>
              <a:t>. On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m'objecter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l'effet</a:t>
            </a:r>
            <a:r>
              <a:rPr dirty="0"/>
              <a:t> est trivial : le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connaît</a:t>
            </a:r>
            <a:r>
              <a:rPr dirty="0"/>
              <a:t> la solution du jeu, et la </a:t>
            </a:r>
            <a:r>
              <a:rPr dirty="0" err="1"/>
              <a:t>mémoire</a:t>
            </a:r>
            <a:r>
              <a:rPr dirty="0"/>
              <a:t> </a:t>
            </a:r>
            <a:r>
              <a:rPr dirty="0" err="1"/>
              <a:t>l'aide</a:t>
            </a:r>
            <a:r>
              <a:rPr dirty="0"/>
              <a:t> </a:t>
            </a:r>
            <a:r>
              <a:rPr dirty="0" err="1"/>
              <a:t>simplement</a:t>
            </a:r>
            <a:r>
              <a:rPr dirty="0"/>
              <a:t> à </a:t>
            </a:r>
            <a:r>
              <a:rPr dirty="0" err="1"/>
              <a:t>s'en</a:t>
            </a:r>
            <a:r>
              <a:rPr dirty="0"/>
              <a:t> souvenir. Ce </a:t>
            </a:r>
            <a:r>
              <a:rPr dirty="0" err="1"/>
              <a:t>serait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récitation</a:t>
            </a:r>
            <a:r>
              <a:rPr dirty="0"/>
              <a:t> </a:t>
            </a:r>
            <a:r>
              <a:rPr dirty="0" err="1"/>
              <a:t>mieux</a:t>
            </a:r>
            <a:r>
              <a:rPr dirty="0"/>
              <a:t> </a:t>
            </a:r>
            <a:r>
              <a:rPr dirty="0" err="1"/>
              <a:t>exécutée</a:t>
            </a:r>
            <a:r>
              <a:rPr dirty="0"/>
              <a:t>, pas </a:t>
            </a:r>
            <a:r>
              <a:rPr dirty="0" err="1"/>
              <a:t>une</a:t>
            </a:r>
            <a:r>
              <a:rPr dirty="0"/>
              <a:t> adaptation. </a:t>
            </a:r>
            <a:r>
              <a:rPr dirty="0" err="1"/>
              <a:t>L'hypothèse</a:t>
            </a:r>
            <a:r>
              <a:rPr dirty="0"/>
              <a:t> </a:t>
            </a:r>
            <a:r>
              <a:rPr dirty="0" err="1"/>
              <a:t>exige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l'agent</a:t>
            </a:r>
            <a:r>
              <a:rPr dirty="0"/>
              <a:t> </a:t>
            </a:r>
            <a:r>
              <a:rPr dirty="0" err="1"/>
              <a:t>s'écarte</a:t>
            </a:r>
            <a:r>
              <a:rPr dirty="0"/>
              <a:t> de </a:t>
            </a:r>
            <a:r>
              <a:rPr dirty="0" err="1"/>
              <a:t>l'équilibre</a:t>
            </a:r>
            <a:r>
              <a:rPr dirty="0"/>
              <a:t> dans la direction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commande</a:t>
            </a:r>
            <a:r>
              <a:rPr dirty="0"/>
              <a:t> </a:t>
            </a:r>
            <a:r>
              <a:rPr dirty="0" err="1"/>
              <a:t>l'adversaire</a:t>
            </a:r>
            <a:r>
              <a:rPr dirty="0"/>
              <a:t> </a:t>
            </a:r>
            <a:r>
              <a:rPr dirty="0" err="1"/>
              <a:t>rencontré</a:t>
            </a:r>
            <a:r>
              <a:rPr dirty="0"/>
              <a:t> — cesser de bluffer </a:t>
            </a:r>
            <a:r>
              <a:rPr dirty="0" err="1"/>
              <a:t>contre</a:t>
            </a:r>
            <a:r>
              <a:rPr dirty="0"/>
              <a:t> </a:t>
            </a:r>
            <a:r>
              <a:rPr dirty="0" err="1"/>
              <a:t>l'un</a:t>
            </a:r>
            <a:r>
              <a:rPr dirty="0"/>
              <a:t>, engager </a:t>
            </a:r>
            <a:r>
              <a:rPr dirty="0" err="1"/>
              <a:t>toutes</a:t>
            </a:r>
            <a:r>
              <a:rPr dirty="0"/>
              <a:t> les mains </a:t>
            </a:r>
            <a:r>
              <a:rPr dirty="0" err="1"/>
              <a:t>contre</a:t>
            </a:r>
            <a:r>
              <a:rPr dirty="0"/>
              <a:t> </a:t>
            </a:r>
            <a:r>
              <a:rPr dirty="0" err="1"/>
              <a:t>l'autre</a:t>
            </a:r>
            <a:r>
              <a:rPr dirty="0"/>
              <a:t>. Elle </a:t>
            </a:r>
            <a:r>
              <a:rPr dirty="0" err="1"/>
              <a:t>tombe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l'écart</a:t>
            </a:r>
            <a:r>
              <a:rPr dirty="0"/>
              <a:t> ne descend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contre</a:t>
            </a:r>
            <a:r>
              <a:rPr dirty="0"/>
              <a:t> un seul des deux </a:t>
            </a:r>
            <a:r>
              <a:rPr dirty="0" err="1"/>
              <a:t>adversaires</a:t>
            </a:r>
            <a:r>
              <a:rPr dirty="0"/>
              <a:t> </a:t>
            </a:r>
            <a:r>
              <a:rPr dirty="0" err="1"/>
              <a:t>biaisés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La </a:t>
            </a:r>
            <a:r>
              <a:rPr dirty="0" err="1"/>
              <a:t>troisième</a:t>
            </a:r>
            <a:r>
              <a:rPr dirty="0"/>
              <a:t> </a:t>
            </a:r>
            <a:r>
              <a:rPr dirty="0" err="1"/>
              <a:t>demande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le </a:t>
            </a:r>
            <a:r>
              <a:rPr dirty="0" err="1"/>
              <a:t>mécanisme</a:t>
            </a:r>
            <a:r>
              <a:rPr dirty="0"/>
              <a:t> de </a:t>
            </a:r>
            <a:r>
              <a:rPr dirty="0" err="1"/>
              <a:t>rétention</a:t>
            </a:r>
            <a:r>
              <a:rPr dirty="0"/>
              <a:t> compte, à information </a:t>
            </a:r>
            <a:r>
              <a:rPr dirty="0" err="1"/>
              <a:t>strictement</a:t>
            </a:r>
            <a:r>
              <a:rPr dirty="0"/>
              <a:t> </a:t>
            </a:r>
            <a:r>
              <a:rPr dirty="0" err="1"/>
              <a:t>identique</a:t>
            </a:r>
            <a:r>
              <a:rPr dirty="0"/>
              <a:t> : la </a:t>
            </a:r>
            <a:r>
              <a:rPr dirty="0" err="1"/>
              <a:t>réinjection</a:t>
            </a:r>
            <a:r>
              <a:rPr dirty="0"/>
              <a:t> </a:t>
            </a:r>
            <a:r>
              <a:rPr dirty="0" err="1"/>
              <a:t>reçoit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matière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l'auto-écriture</a:t>
            </a:r>
            <a:r>
              <a:rPr dirty="0"/>
              <a:t>, le </a:t>
            </a:r>
            <a:r>
              <a:rPr dirty="0" err="1"/>
              <a:t>récapitulatif</a:t>
            </a:r>
            <a:r>
              <a:rPr dirty="0"/>
              <a:t> brut. Ce qui </a:t>
            </a:r>
            <a:r>
              <a:rPr dirty="0" err="1"/>
              <a:t>diffère</a:t>
            </a:r>
            <a:r>
              <a:rPr dirty="0"/>
              <a:t>,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l'étape</a:t>
            </a:r>
            <a:r>
              <a:rPr dirty="0"/>
              <a:t> de </a:t>
            </a:r>
            <a:r>
              <a:rPr dirty="0" err="1"/>
              <a:t>synthèse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La </a:t>
            </a:r>
            <a:r>
              <a:rPr dirty="0" err="1"/>
              <a:t>quatrième</a:t>
            </a:r>
            <a:r>
              <a:rPr dirty="0"/>
              <a:t> est </a:t>
            </a:r>
            <a:r>
              <a:rPr dirty="0" err="1"/>
              <a:t>celle</a:t>
            </a:r>
            <a:r>
              <a:rPr dirty="0"/>
              <a:t> qui </a:t>
            </a:r>
            <a:r>
              <a:rPr dirty="0" err="1"/>
              <a:t>pouvait</a:t>
            </a:r>
            <a:r>
              <a:rPr dirty="0"/>
              <a:t> </a:t>
            </a:r>
            <a:r>
              <a:rPr dirty="0" err="1"/>
              <a:t>retourner</a:t>
            </a:r>
            <a:r>
              <a:rPr dirty="0"/>
              <a:t> tout le </a:t>
            </a:r>
            <a:r>
              <a:rPr dirty="0" err="1"/>
              <a:t>reste</a:t>
            </a:r>
            <a:r>
              <a:rPr dirty="0"/>
              <a:t>. Elle </a:t>
            </a:r>
            <a:r>
              <a:rPr dirty="0" err="1"/>
              <a:t>demande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l'agent</a:t>
            </a:r>
            <a:r>
              <a:rPr dirty="0"/>
              <a:t> conserve des </a:t>
            </a:r>
            <a:r>
              <a:rPr dirty="0" err="1"/>
              <a:t>défaillances</a:t>
            </a:r>
            <a:r>
              <a:rPr dirty="0"/>
              <a:t> </a:t>
            </a:r>
            <a:r>
              <a:rPr dirty="0" err="1"/>
              <a:t>alors</a:t>
            </a:r>
            <a:r>
              <a:rPr dirty="0"/>
              <a:t>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politique </a:t>
            </a:r>
            <a:r>
              <a:rPr dirty="0" err="1"/>
              <a:t>s'améliore</a:t>
            </a:r>
            <a:r>
              <a:rPr dirty="0"/>
              <a:t>, et je la </a:t>
            </a:r>
            <a:r>
              <a:rPr dirty="0" err="1"/>
              <a:t>mesure</a:t>
            </a:r>
            <a:r>
              <a:rPr dirty="0"/>
              <a:t> </a:t>
            </a:r>
            <a:r>
              <a:rPr dirty="0" err="1"/>
              <a:t>d'abord</a:t>
            </a:r>
            <a:r>
              <a:rPr dirty="0"/>
              <a:t> sur la </a:t>
            </a:r>
            <a:r>
              <a:rPr dirty="0" err="1"/>
              <a:t>cohérence</a:t>
            </a:r>
            <a:r>
              <a:rPr dirty="0"/>
              <a:t> entre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qu'il</a:t>
            </a:r>
            <a:r>
              <a:rPr dirty="0"/>
              <a:t> </a:t>
            </a:r>
            <a:r>
              <a:rPr dirty="0" err="1"/>
              <a:t>raisonne</a:t>
            </a:r>
            <a:r>
              <a:rPr dirty="0"/>
              <a:t> et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qu'il</a:t>
            </a:r>
            <a:r>
              <a:rPr dirty="0"/>
              <a:t> </a:t>
            </a:r>
            <a:r>
              <a:rPr dirty="0" err="1"/>
              <a:t>joue</a:t>
            </a:r>
            <a:r>
              <a:rPr dirty="0"/>
              <a:t>.</a:t>
            </a:r>
          </a:p>
        </p:txBody>
      </p:sp>
      <p:sp>
        <p:nvSpPr>
          <p:cNvPr id="62" name="Google Shape;62;g3fb2f260372_1_117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b2f260372_1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85" name="Google Shape;85;g3fb2f260372_1_124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La figure </a:t>
            </a:r>
            <a:r>
              <a:rPr dirty="0" err="1"/>
              <a:t>porte</a:t>
            </a:r>
            <a:r>
              <a:rPr dirty="0"/>
              <a:t> </a:t>
            </a:r>
            <a:r>
              <a:rPr dirty="0" err="1"/>
              <a:t>l'écart</a:t>
            </a:r>
            <a:r>
              <a:rPr dirty="0"/>
              <a:t> </a:t>
            </a:r>
            <a:r>
              <a:rPr dirty="0" err="1"/>
              <a:t>série</a:t>
            </a:r>
            <a:r>
              <a:rPr dirty="0"/>
              <a:t> par </a:t>
            </a:r>
            <a:r>
              <a:rPr dirty="0" err="1"/>
              <a:t>série</a:t>
            </a:r>
            <a:r>
              <a:rPr dirty="0"/>
              <a:t>, un </a:t>
            </a:r>
            <a:r>
              <a:rPr dirty="0" err="1"/>
              <a:t>panneau</a:t>
            </a:r>
            <a:r>
              <a:rPr dirty="0"/>
              <a:t> par </a:t>
            </a:r>
            <a:r>
              <a:rPr dirty="0" err="1"/>
              <a:t>adversaire</a:t>
            </a:r>
            <a:r>
              <a:rPr dirty="0"/>
              <a:t>, les trois </a:t>
            </a:r>
            <a:r>
              <a:rPr dirty="0" err="1"/>
              <a:t>traitements</a:t>
            </a:r>
            <a:r>
              <a:rPr dirty="0"/>
              <a:t> sur les </a:t>
            </a:r>
            <a:r>
              <a:rPr dirty="0" err="1"/>
              <a:t>mêmes</a:t>
            </a:r>
            <a:r>
              <a:rPr dirty="0"/>
              <a:t> axes. La </a:t>
            </a:r>
            <a:r>
              <a:rPr dirty="0" err="1"/>
              <a:t>courbe</a:t>
            </a:r>
            <a:r>
              <a:rPr dirty="0"/>
              <a:t> sans </a:t>
            </a:r>
            <a:r>
              <a:rPr dirty="0" err="1"/>
              <a:t>mémoire</a:t>
            </a:r>
            <a:r>
              <a:rPr dirty="0"/>
              <a:t> </a:t>
            </a:r>
            <a:r>
              <a:rPr dirty="0" err="1"/>
              <a:t>s'arrête</a:t>
            </a:r>
            <a:r>
              <a:rPr dirty="0"/>
              <a:t> à trois points,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 </a:t>
            </a:r>
            <a:r>
              <a:rPr dirty="0" err="1"/>
              <a:t>protocole</a:t>
            </a:r>
            <a:r>
              <a:rPr dirty="0"/>
              <a:t> </a:t>
            </a:r>
            <a:r>
              <a:rPr dirty="0" err="1"/>
              <a:t>n'en</a:t>
            </a:r>
            <a:r>
              <a:rPr dirty="0"/>
              <a:t> </a:t>
            </a:r>
            <a:r>
              <a:rPr dirty="0" err="1"/>
              <a:t>prévoit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trois : rien ne </a:t>
            </a:r>
            <a:r>
              <a:rPr dirty="0" err="1"/>
              <a:t>s'y</a:t>
            </a:r>
            <a:r>
              <a:rPr dirty="0"/>
              <a:t> </a:t>
            </a:r>
            <a:r>
              <a:rPr dirty="0" err="1"/>
              <a:t>accumule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Un seul point à faire </a:t>
            </a:r>
            <a:r>
              <a:rPr dirty="0" err="1"/>
              <a:t>ici</a:t>
            </a:r>
            <a:r>
              <a:rPr dirty="0"/>
              <a:t>, et il se </a:t>
            </a:r>
            <a:r>
              <a:rPr dirty="0" err="1"/>
              <a:t>voit</a:t>
            </a:r>
            <a:r>
              <a:rPr dirty="0"/>
              <a:t>. La </a:t>
            </a:r>
            <a:r>
              <a:rPr dirty="0" err="1"/>
              <a:t>ligne</a:t>
            </a:r>
            <a:r>
              <a:rPr dirty="0"/>
              <a:t> sans </a:t>
            </a:r>
            <a:r>
              <a:rPr dirty="0" err="1"/>
              <a:t>mémoire</a:t>
            </a:r>
            <a:r>
              <a:rPr dirty="0"/>
              <a:t> ne </a:t>
            </a:r>
            <a:r>
              <a:rPr dirty="0" err="1"/>
              <a:t>décroît</a:t>
            </a:r>
            <a:r>
              <a:rPr dirty="0"/>
              <a:t> jamais, </a:t>
            </a:r>
            <a:r>
              <a:rPr dirty="0" err="1"/>
              <a:t>contre</a:t>
            </a:r>
            <a:r>
              <a:rPr dirty="0"/>
              <a:t> </a:t>
            </a:r>
            <a:r>
              <a:rPr dirty="0" err="1"/>
              <a:t>aucun</a:t>
            </a:r>
            <a:r>
              <a:rPr dirty="0"/>
              <a:t> des trois </a:t>
            </a:r>
            <a:r>
              <a:rPr dirty="0" err="1"/>
              <a:t>adversaires</a:t>
            </a:r>
            <a:r>
              <a:rPr dirty="0"/>
              <a:t> ;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pente</a:t>
            </a:r>
            <a:r>
              <a:rPr dirty="0"/>
              <a:t> est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légèrement</a:t>
            </a:r>
            <a:r>
              <a:rPr dirty="0"/>
              <a:t> positive </a:t>
            </a:r>
            <a:r>
              <a:rPr dirty="0" err="1"/>
              <a:t>contre</a:t>
            </a:r>
            <a:r>
              <a:rPr dirty="0"/>
              <a:t> deux </a:t>
            </a:r>
            <a:r>
              <a:rPr dirty="0" err="1"/>
              <a:t>d'entre</a:t>
            </a:r>
            <a:r>
              <a:rPr dirty="0"/>
              <a:t> </a:t>
            </a:r>
            <a:r>
              <a:rPr dirty="0" err="1"/>
              <a:t>eux</a:t>
            </a:r>
            <a:r>
              <a:rPr dirty="0"/>
              <a:t>. La </a:t>
            </a:r>
            <a:r>
              <a:rPr dirty="0" err="1"/>
              <a:t>ligne</a:t>
            </a:r>
            <a:r>
              <a:rPr dirty="0"/>
              <a:t> à </a:t>
            </a:r>
            <a:r>
              <a:rPr dirty="0" err="1"/>
              <a:t>mémoire</a:t>
            </a:r>
            <a:r>
              <a:rPr dirty="0"/>
              <a:t> auto-</a:t>
            </a:r>
            <a:r>
              <a:rPr dirty="0" err="1"/>
              <a:t>écrite</a:t>
            </a:r>
            <a:r>
              <a:rPr dirty="0"/>
              <a:t>, </a:t>
            </a:r>
            <a:r>
              <a:rPr dirty="0" err="1"/>
              <a:t>elle</a:t>
            </a:r>
            <a:r>
              <a:rPr dirty="0"/>
              <a:t>, chute </a:t>
            </a:r>
            <a:r>
              <a:rPr dirty="0" err="1"/>
              <a:t>dès</a:t>
            </a:r>
            <a:r>
              <a:rPr dirty="0"/>
              <a:t> la première </a:t>
            </a:r>
            <a:r>
              <a:rPr dirty="0" err="1"/>
              <a:t>frontière</a:t>
            </a:r>
            <a:r>
              <a:rPr dirty="0"/>
              <a:t> et </a:t>
            </a:r>
            <a:r>
              <a:rPr dirty="0" err="1"/>
              <a:t>atteint</a:t>
            </a:r>
            <a:r>
              <a:rPr dirty="0"/>
              <a:t> </a:t>
            </a:r>
            <a:r>
              <a:rPr dirty="0" err="1"/>
              <a:t>zéro</a:t>
            </a:r>
            <a:r>
              <a:rPr dirty="0"/>
              <a:t> </a:t>
            </a:r>
            <a:r>
              <a:rPr dirty="0" err="1"/>
              <a:t>contre</a:t>
            </a:r>
            <a:r>
              <a:rPr dirty="0"/>
              <a:t> les deux </a:t>
            </a:r>
            <a:r>
              <a:rPr dirty="0" err="1"/>
              <a:t>adversaires</a:t>
            </a:r>
            <a:r>
              <a:rPr dirty="0"/>
              <a:t> </a:t>
            </a:r>
            <a:r>
              <a:rPr dirty="0" err="1"/>
              <a:t>exploitables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Les trois </a:t>
            </a:r>
            <a:r>
              <a:rPr dirty="0" err="1"/>
              <a:t>tuiles</a:t>
            </a:r>
            <a:r>
              <a:rPr dirty="0"/>
              <a:t> </a:t>
            </a:r>
            <a:r>
              <a:rPr dirty="0" err="1"/>
              <a:t>donnent</a:t>
            </a:r>
            <a:r>
              <a:rPr dirty="0"/>
              <a:t> </a:t>
            </a:r>
            <a:r>
              <a:rPr dirty="0" err="1"/>
              <a:t>l'effet</a:t>
            </a:r>
            <a:r>
              <a:rPr dirty="0"/>
              <a:t> </a:t>
            </a:r>
            <a:r>
              <a:rPr dirty="0" err="1"/>
              <a:t>apparié</a:t>
            </a:r>
            <a:r>
              <a:rPr dirty="0"/>
              <a:t>, à cartes </a:t>
            </a:r>
            <a:r>
              <a:rPr dirty="0" err="1"/>
              <a:t>identiques</a:t>
            </a:r>
            <a:r>
              <a:rPr dirty="0"/>
              <a:t>. Contre Over-folder, </a:t>
            </a:r>
            <a:r>
              <a:rPr dirty="0" err="1"/>
              <a:t>l'écart</a:t>
            </a:r>
            <a:r>
              <a:rPr dirty="0"/>
              <a:t> passe de 0,704 à </a:t>
            </a:r>
            <a:r>
              <a:rPr dirty="0" err="1"/>
              <a:t>zéro</a:t>
            </a:r>
            <a:r>
              <a:rPr dirty="0"/>
              <a:t>, et les trois </a:t>
            </a:r>
            <a:r>
              <a:rPr dirty="0" err="1"/>
              <a:t>réplications</a:t>
            </a:r>
            <a:r>
              <a:rPr dirty="0"/>
              <a:t> sur trois </a:t>
            </a:r>
            <a:r>
              <a:rPr dirty="0" err="1"/>
              <a:t>vont</a:t>
            </a:r>
            <a:r>
              <a:rPr dirty="0"/>
              <a:t> dans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sens.</a:t>
            </a:r>
            <a:r>
              <a:rPr dirty="0"/>
              <a:t> Contre Station, de 0,222 à 0,002, avec deux </a:t>
            </a:r>
            <a:r>
              <a:rPr dirty="0" err="1"/>
              <a:t>réplications</a:t>
            </a:r>
            <a:r>
              <a:rPr dirty="0"/>
              <a:t> à </a:t>
            </a:r>
            <a:r>
              <a:rPr dirty="0" err="1"/>
              <a:t>zéro</a:t>
            </a:r>
            <a:r>
              <a:rPr dirty="0"/>
              <a:t> exact. Contre GTO, de 0,187 à 0,008.</a:t>
            </a:r>
          </a:p>
          <a:p>
            <a:pPr>
              <a:buNone/>
            </a:pPr>
            <a:r>
              <a:rPr dirty="0"/>
              <a:t>Je garde deux </a:t>
            </a:r>
            <a:r>
              <a:rPr dirty="0" err="1"/>
              <a:t>précisions</a:t>
            </a:r>
            <a:r>
              <a:rPr dirty="0"/>
              <a:t> pour les questions. </a:t>
            </a:r>
            <a:r>
              <a:rPr dirty="0" err="1"/>
              <a:t>D'abord</a:t>
            </a:r>
            <a:r>
              <a:rPr dirty="0"/>
              <a:t>, </a:t>
            </a:r>
            <a:r>
              <a:rPr dirty="0" err="1"/>
              <a:t>zéro</a:t>
            </a:r>
            <a:r>
              <a:rPr dirty="0"/>
              <a:t> </a:t>
            </a:r>
            <a:r>
              <a:rPr dirty="0" err="1"/>
              <a:t>veut</a:t>
            </a:r>
            <a:r>
              <a:rPr dirty="0"/>
              <a:t> dire </a:t>
            </a:r>
            <a:r>
              <a:rPr dirty="0" err="1"/>
              <a:t>zéro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, et non </a:t>
            </a:r>
            <a:r>
              <a:rPr dirty="0" err="1"/>
              <a:t>proche</a:t>
            </a:r>
            <a:r>
              <a:rPr dirty="0"/>
              <a:t> de </a:t>
            </a:r>
            <a:r>
              <a:rPr dirty="0" err="1"/>
              <a:t>zéro</a:t>
            </a:r>
            <a:r>
              <a:rPr dirty="0"/>
              <a:t> : la </a:t>
            </a:r>
            <a:r>
              <a:rPr dirty="0" err="1"/>
              <a:t>mesure</a:t>
            </a:r>
            <a:r>
              <a:rPr dirty="0"/>
              <a:t> </a:t>
            </a:r>
            <a:r>
              <a:rPr dirty="0" err="1"/>
              <a:t>étant</a:t>
            </a:r>
            <a:r>
              <a:rPr dirty="0"/>
              <a:t> </a:t>
            </a:r>
            <a:r>
              <a:rPr dirty="0" err="1"/>
              <a:t>exacte</a:t>
            </a:r>
            <a:r>
              <a:rPr dirty="0"/>
              <a:t>, un </a:t>
            </a:r>
            <a:r>
              <a:rPr dirty="0" err="1"/>
              <a:t>écart</a:t>
            </a:r>
            <a:r>
              <a:rPr dirty="0"/>
              <a:t> </a:t>
            </a:r>
            <a:r>
              <a:rPr dirty="0" err="1"/>
              <a:t>nul</a:t>
            </a:r>
            <a:r>
              <a:rPr dirty="0"/>
              <a:t> </a:t>
            </a:r>
            <a:r>
              <a:rPr dirty="0" err="1"/>
              <a:t>signifie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politique </a:t>
            </a:r>
            <a:r>
              <a:rPr dirty="0" err="1"/>
              <a:t>observée</a:t>
            </a:r>
            <a:r>
              <a:rPr dirty="0"/>
              <a:t> est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meilleure</a:t>
            </a:r>
            <a:r>
              <a:rPr dirty="0"/>
              <a:t> </a:t>
            </a:r>
            <a:r>
              <a:rPr dirty="0" err="1"/>
              <a:t>réponse</a:t>
            </a:r>
            <a:r>
              <a:rPr dirty="0"/>
              <a:t> à </a:t>
            </a:r>
            <a:r>
              <a:rPr dirty="0" err="1"/>
              <a:t>l'adversaire</a:t>
            </a:r>
            <a:r>
              <a:rPr dirty="0"/>
              <a:t>, au </a:t>
            </a:r>
            <a:r>
              <a:rPr dirty="0" err="1"/>
              <a:t>sens</a:t>
            </a:r>
            <a:r>
              <a:rPr dirty="0"/>
              <a:t> strict. Ensuite,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cette</a:t>
            </a:r>
            <a:r>
              <a:rPr dirty="0"/>
              <a:t> </a:t>
            </a:r>
            <a:r>
              <a:rPr dirty="0" err="1"/>
              <a:t>décroissance</a:t>
            </a:r>
            <a:r>
              <a:rPr dirty="0"/>
              <a:t> </a:t>
            </a:r>
            <a:r>
              <a:rPr dirty="0" err="1"/>
              <a:t>venait</a:t>
            </a:r>
            <a:r>
              <a:rPr dirty="0"/>
              <a:t> de </a:t>
            </a:r>
            <a:r>
              <a:rPr dirty="0" err="1"/>
              <a:t>l'instrument</a:t>
            </a:r>
            <a:r>
              <a:rPr dirty="0"/>
              <a:t>, de la </a:t>
            </a:r>
            <a:r>
              <a:rPr dirty="0" err="1"/>
              <a:t>séquence</a:t>
            </a:r>
            <a:r>
              <a:rPr dirty="0"/>
              <a:t> de cartes </a:t>
            </a:r>
            <a:r>
              <a:rPr dirty="0" err="1"/>
              <a:t>ou</a:t>
            </a:r>
            <a:r>
              <a:rPr dirty="0"/>
              <a:t> d'un artefact du </a:t>
            </a:r>
            <a:r>
              <a:rPr dirty="0" err="1"/>
              <a:t>harnais</a:t>
            </a:r>
            <a:r>
              <a:rPr dirty="0"/>
              <a:t>,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apparaîtrait</a:t>
            </a:r>
            <a:r>
              <a:rPr dirty="0"/>
              <a:t> </a:t>
            </a:r>
            <a:r>
              <a:rPr dirty="0" err="1"/>
              <a:t>aussi</a:t>
            </a:r>
            <a:r>
              <a:rPr dirty="0"/>
              <a:t> dans la condition sans </a:t>
            </a:r>
            <a:r>
              <a:rPr dirty="0" err="1"/>
              <a:t>mémoire</a:t>
            </a:r>
            <a:r>
              <a:rPr dirty="0"/>
              <a:t>. Elle </a:t>
            </a:r>
            <a:r>
              <a:rPr dirty="0" err="1"/>
              <a:t>n'y</a:t>
            </a:r>
            <a:r>
              <a:rPr dirty="0"/>
              <a:t> </a:t>
            </a:r>
            <a:r>
              <a:rPr dirty="0" err="1"/>
              <a:t>apparaît</a:t>
            </a:r>
            <a:r>
              <a:rPr dirty="0"/>
              <a:t> pas.</a:t>
            </a:r>
          </a:p>
        </p:txBody>
      </p:sp>
      <p:sp>
        <p:nvSpPr>
          <p:cNvPr id="86" name="Google Shape;86;g3fb2f260372_1_124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b2f260372_1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3" name="Google Shape;93;g3fb2f260372_1_13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 err="1"/>
              <a:t>L'objection</a:t>
            </a:r>
            <a:r>
              <a:rPr dirty="0"/>
              <a:t> est la </a:t>
            </a:r>
            <a:r>
              <a:rPr dirty="0" err="1"/>
              <a:t>suivante</a:t>
            </a:r>
            <a:r>
              <a:rPr dirty="0"/>
              <a:t> : le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connaît</a:t>
            </a:r>
            <a:r>
              <a:rPr dirty="0"/>
              <a:t> </a:t>
            </a:r>
            <a:r>
              <a:rPr dirty="0" err="1"/>
              <a:t>peut-être</a:t>
            </a:r>
            <a:r>
              <a:rPr dirty="0"/>
              <a:t> la solution du jeu, et la </a:t>
            </a:r>
            <a:r>
              <a:rPr dirty="0" err="1"/>
              <a:t>mémoire</a:t>
            </a:r>
            <a:r>
              <a:rPr dirty="0"/>
              <a:t> </a:t>
            </a:r>
            <a:r>
              <a:rPr dirty="0" err="1"/>
              <a:t>l'aide</a:t>
            </a:r>
            <a:r>
              <a:rPr dirty="0"/>
              <a:t> </a:t>
            </a:r>
            <a:r>
              <a:rPr dirty="0" err="1"/>
              <a:t>simplement</a:t>
            </a:r>
            <a:r>
              <a:rPr dirty="0"/>
              <a:t> à </a:t>
            </a:r>
            <a:r>
              <a:rPr dirty="0" err="1"/>
              <a:t>mieux</a:t>
            </a:r>
            <a:r>
              <a:rPr dirty="0"/>
              <a:t> la </a:t>
            </a:r>
            <a:r>
              <a:rPr dirty="0" err="1"/>
              <a:t>réciter</a:t>
            </a:r>
            <a:r>
              <a:rPr dirty="0"/>
              <a:t>. La figure tranche sans passer par </a:t>
            </a:r>
            <a:r>
              <a:rPr dirty="0" err="1"/>
              <a:t>aucune</a:t>
            </a:r>
            <a:r>
              <a:rPr dirty="0"/>
              <a:t> </a:t>
            </a:r>
            <a:r>
              <a:rPr dirty="0" err="1"/>
              <a:t>mesure</a:t>
            </a:r>
            <a:r>
              <a:rPr dirty="0"/>
              <a:t> de gain. Une </a:t>
            </a:r>
            <a:r>
              <a:rPr dirty="0" err="1"/>
              <a:t>seule</a:t>
            </a:r>
            <a:r>
              <a:rPr dirty="0"/>
              <a:t> situation y est </a:t>
            </a:r>
            <a:r>
              <a:rPr dirty="0" err="1"/>
              <a:t>représentée</a:t>
            </a:r>
            <a:r>
              <a:rPr dirty="0"/>
              <a:t> : </a:t>
            </a:r>
            <a:r>
              <a:rPr dirty="0" err="1"/>
              <a:t>l'agent</a:t>
            </a:r>
            <a:r>
              <a:rPr dirty="0"/>
              <a:t> </a:t>
            </a:r>
            <a:r>
              <a:rPr dirty="0" err="1"/>
              <a:t>détient</a:t>
            </a:r>
            <a:r>
              <a:rPr dirty="0"/>
              <a:t> le </a:t>
            </a:r>
            <a:r>
              <a:rPr dirty="0" err="1"/>
              <a:t>sceau</a:t>
            </a:r>
            <a:r>
              <a:rPr dirty="0"/>
              <a:t> le plus </a:t>
            </a:r>
            <a:r>
              <a:rPr dirty="0" err="1"/>
              <a:t>faible</a:t>
            </a:r>
            <a:r>
              <a:rPr dirty="0"/>
              <a:t>, et on </a:t>
            </a:r>
            <a:r>
              <a:rPr dirty="0" err="1"/>
              <a:t>regarde</a:t>
            </a:r>
            <a:r>
              <a:rPr dirty="0"/>
              <a:t> à quelle </a:t>
            </a:r>
            <a:r>
              <a:rPr dirty="0" err="1"/>
              <a:t>fréquence</a:t>
            </a:r>
            <a:r>
              <a:rPr dirty="0"/>
              <a:t> il </a:t>
            </a:r>
            <a:r>
              <a:rPr dirty="0" err="1"/>
              <a:t>l'engage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Sans </a:t>
            </a:r>
            <a:r>
              <a:rPr dirty="0" err="1"/>
              <a:t>mémoire</a:t>
            </a:r>
            <a:r>
              <a:rPr dirty="0"/>
              <a:t>, </a:t>
            </a:r>
            <a:r>
              <a:rPr dirty="0" err="1"/>
              <a:t>cette</a:t>
            </a:r>
            <a:r>
              <a:rPr dirty="0"/>
              <a:t> </a:t>
            </a:r>
            <a:r>
              <a:rPr dirty="0" err="1"/>
              <a:t>fréquence</a:t>
            </a:r>
            <a:r>
              <a:rPr dirty="0"/>
              <a:t> ne </a:t>
            </a:r>
            <a:r>
              <a:rPr dirty="0" err="1"/>
              <a:t>peut</a:t>
            </a:r>
            <a:r>
              <a:rPr dirty="0"/>
              <a:t> pas </a:t>
            </a:r>
            <a:r>
              <a:rPr dirty="0" err="1"/>
              <a:t>dépendre</a:t>
            </a:r>
            <a:r>
              <a:rPr dirty="0"/>
              <a:t> de </a:t>
            </a:r>
            <a:r>
              <a:rPr dirty="0" err="1"/>
              <a:t>l'adversaire</a:t>
            </a:r>
            <a:r>
              <a:rPr dirty="0"/>
              <a:t>, et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propriété</a:t>
            </a:r>
            <a:r>
              <a:rPr dirty="0"/>
              <a:t> du </a:t>
            </a:r>
            <a:r>
              <a:rPr dirty="0" err="1"/>
              <a:t>dispositif</a:t>
            </a:r>
            <a:r>
              <a:rPr dirty="0"/>
              <a:t> avant d'être </a:t>
            </a:r>
            <a:r>
              <a:rPr dirty="0" err="1"/>
              <a:t>une</a:t>
            </a:r>
            <a:r>
              <a:rPr dirty="0"/>
              <a:t> observation : </a:t>
            </a:r>
            <a:r>
              <a:rPr dirty="0" err="1"/>
              <a:t>en</a:t>
            </a:r>
            <a:r>
              <a:rPr dirty="0"/>
              <a:t> position </a:t>
            </a:r>
            <a:r>
              <a:rPr dirty="0" err="1"/>
              <a:t>d'ouvrant</a:t>
            </a:r>
            <a:r>
              <a:rPr dirty="0"/>
              <a:t>, </a:t>
            </a:r>
            <a:r>
              <a:rPr dirty="0" err="1"/>
              <a:t>l'agent</a:t>
            </a:r>
            <a:r>
              <a:rPr dirty="0"/>
              <a:t> parle le premier, </a:t>
            </a:r>
            <a:r>
              <a:rPr dirty="0" err="1"/>
              <a:t>aucune</a:t>
            </a:r>
            <a:r>
              <a:rPr dirty="0"/>
              <a:t> action adverse </a:t>
            </a:r>
            <a:r>
              <a:rPr dirty="0" err="1"/>
              <a:t>n'a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lieu, le </a:t>
            </a:r>
            <a:r>
              <a:rPr dirty="0" err="1"/>
              <a:t>contexte</a:t>
            </a:r>
            <a:r>
              <a:rPr dirty="0"/>
              <a:t> est </a:t>
            </a:r>
            <a:r>
              <a:rPr dirty="0" err="1"/>
              <a:t>neuf</a:t>
            </a:r>
            <a:r>
              <a:rPr dirty="0"/>
              <a:t> à </a:t>
            </a:r>
            <a:r>
              <a:rPr dirty="0" err="1"/>
              <a:t>chaque</a:t>
            </a:r>
            <a:r>
              <a:rPr dirty="0"/>
              <a:t> manche, </a:t>
            </a:r>
            <a:r>
              <a:rPr dirty="0" err="1"/>
              <a:t>donc</a:t>
            </a:r>
            <a:r>
              <a:rPr dirty="0"/>
              <a:t> son information est </a:t>
            </a:r>
            <a:r>
              <a:rPr dirty="0" err="1"/>
              <a:t>rigoureusement</a:t>
            </a:r>
            <a:r>
              <a:rPr dirty="0"/>
              <a:t> </a:t>
            </a:r>
            <a:r>
              <a:rPr dirty="0" err="1"/>
              <a:t>identique</a:t>
            </a:r>
            <a:r>
              <a:rPr dirty="0"/>
              <a:t> face aux trois. </a:t>
            </a:r>
            <a:r>
              <a:rPr dirty="0" err="1"/>
              <a:t>C'est</a:t>
            </a:r>
            <a:r>
              <a:rPr dirty="0"/>
              <a:t> bien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qu'on</a:t>
            </a:r>
            <a:r>
              <a:rPr dirty="0"/>
              <a:t> observe, avec 0,285, 0,307 et 0,355, pour un </a:t>
            </a:r>
            <a:r>
              <a:rPr dirty="0" err="1"/>
              <a:t>écart</a:t>
            </a:r>
            <a:r>
              <a:rPr dirty="0"/>
              <a:t>-type </a:t>
            </a:r>
            <a:r>
              <a:rPr dirty="0" err="1"/>
              <a:t>d'échantillonnage</a:t>
            </a:r>
            <a:r>
              <a:rPr dirty="0"/>
              <a:t> de 0,031. Rien ne les distingue.</a:t>
            </a:r>
          </a:p>
          <a:p>
            <a:pPr>
              <a:buNone/>
            </a:pPr>
            <a:r>
              <a:rPr dirty="0"/>
              <a:t>Avec </a:t>
            </a:r>
            <a:r>
              <a:rPr dirty="0" err="1"/>
              <a:t>mémoire</a:t>
            </a:r>
            <a:r>
              <a:rPr dirty="0"/>
              <a:t>,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fréquence</a:t>
            </a:r>
            <a:r>
              <a:rPr dirty="0"/>
              <a:t> monte à 1,000 </a:t>
            </a:r>
            <a:r>
              <a:rPr dirty="0" err="1"/>
              <a:t>contre</a:t>
            </a:r>
            <a:r>
              <a:rPr dirty="0"/>
              <a:t> Over-folder et </a:t>
            </a:r>
            <a:r>
              <a:rPr dirty="0" err="1"/>
              <a:t>tombe</a:t>
            </a:r>
            <a:r>
              <a:rPr dirty="0"/>
              <a:t> à 0,004 </a:t>
            </a:r>
            <a:r>
              <a:rPr dirty="0" err="1"/>
              <a:t>contre</a:t>
            </a:r>
            <a:r>
              <a:rPr dirty="0"/>
              <a:t> Station. Trois </a:t>
            </a:r>
            <a:r>
              <a:rPr dirty="0" err="1"/>
              <a:t>réponses</a:t>
            </a:r>
            <a:r>
              <a:rPr dirty="0"/>
              <a:t> à la </a:t>
            </a:r>
            <a:r>
              <a:rPr dirty="0" err="1"/>
              <a:t>même</a:t>
            </a:r>
            <a:r>
              <a:rPr dirty="0"/>
              <a:t> situation, </a:t>
            </a:r>
            <a:r>
              <a:rPr dirty="0" err="1"/>
              <a:t>dont</a:t>
            </a:r>
            <a:r>
              <a:rPr dirty="0"/>
              <a:t> deux </a:t>
            </a:r>
            <a:r>
              <a:rPr dirty="0" err="1"/>
              <a:t>diamétralement</a:t>
            </a:r>
            <a:r>
              <a:rPr dirty="0"/>
              <a:t> </a:t>
            </a:r>
            <a:r>
              <a:rPr dirty="0" err="1"/>
              <a:t>opposées</a:t>
            </a:r>
            <a:r>
              <a:rPr dirty="0"/>
              <a:t>.</a:t>
            </a:r>
          </a:p>
          <a:p>
            <a:pPr>
              <a:buNone/>
            </a:pPr>
            <a:r>
              <a:rPr dirty="0" err="1"/>
              <a:t>Aucune</a:t>
            </a:r>
            <a:r>
              <a:rPr dirty="0"/>
              <a:t> application de </a:t>
            </a:r>
            <a:r>
              <a:rPr dirty="0" err="1"/>
              <a:t>l'équilibre</a:t>
            </a:r>
            <a:r>
              <a:rPr dirty="0"/>
              <a:t> ne </a:t>
            </a:r>
            <a:r>
              <a:rPr dirty="0" err="1"/>
              <a:t>produit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contraste</a:t>
            </a:r>
            <a:r>
              <a:rPr dirty="0"/>
              <a:t>. </a:t>
            </a:r>
            <a:r>
              <a:rPr dirty="0" err="1"/>
              <a:t>L'équilibre</a:t>
            </a:r>
            <a:r>
              <a:rPr dirty="0"/>
              <a:t> est un </a:t>
            </a:r>
            <a:r>
              <a:rPr dirty="0" err="1"/>
              <a:t>objet</a:t>
            </a:r>
            <a:r>
              <a:rPr dirty="0"/>
              <a:t> fixe, </a:t>
            </a:r>
            <a:r>
              <a:rPr dirty="0" err="1"/>
              <a:t>douze</a:t>
            </a:r>
            <a:r>
              <a:rPr dirty="0"/>
              <a:t> </a:t>
            </a:r>
            <a:r>
              <a:rPr dirty="0" err="1"/>
              <a:t>probabilités</a:t>
            </a:r>
            <a:r>
              <a:rPr dirty="0"/>
              <a:t> </a:t>
            </a:r>
            <a:r>
              <a:rPr dirty="0" err="1"/>
              <a:t>calculées</a:t>
            </a:r>
            <a:r>
              <a:rPr dirty="0"/>
              <a:t> </a:t>
            </a:r>
            <a:r>
              <a:rPr dirty="0" err="1"/>
              <a:t>contre</a:t>
            </a:r>
            <a:r>
              <a:rPr dirty="0"/>
              <a:t> un </a:t>
            </a:r>
            <a:r>
              <a:rPr dirty="0" err="1"/>
              <a:t>adversaire</a:t>
            </a:r>
            <a:r>
              <a:rPr dirty="0"/>
              <a:t> </a:t>
            </a:r>
            <a:r>
              <a:rPr dirty="0" err="1"/>
              <a:t>supposé</a:t>
            </a:r>
            <a:r>
              <a:rPr dirty="0"/>
              <a:t> </a:t>
            </a:r>
            <a:r>
              <a:rPr dirty="0" err="1"/>
              <a:t>jouer</a:t>
            </a:r>
            <a:r>
              <a:rPr dirty="0"/>
              <a:t> </a:t>
            </a:r>
            <a:r>
              <a:rPr dirty="0" err="1"/>
              <a:t>lui-même</a:t>
            </a:r>
            <a:r>
              <a:rPr dirty="0"/>
              <a:t> </a:t>
            </a:r>
            <a:r>
              <a:rPr dirty="0" err="1"/>
              <a:t>l'équilibre</a:t>
            </a:r>
            <a:r>
              <a:rPr dirty="0"/>
              <a:t>. Un agent qui </a:t>
            </a:r>
            <a:r>
              <a:rPr dirty="0" err="1"/>
              <a:t>révise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croyances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le </a:t>
            </a:r>
            <a:r>
              <a:rPr dirty="0" err="1"/>
              <a:t>prescrit</a:t>
            </a:r>
            <a:r>
              <a:rPr dirty="0"/>
              <a:t> </a:t>
            </a:r>
            <a:r>
              <a:rPr dirty="0" err="1"/>
              <a:t>l'équilibre</a:t>
            </a:r>
            <a:r>
              <a:rPr dirty="0"/>
              <a:t> </a:t>
            </a:r>
            <a:r>
              <a:rPr dirty="0" err="1"/>
              <a:t>bayésien</a:t>
            </a:r>
            <a:r>
              <a:rPr dirty="0"/>
              <a:t> parfait </a:t>
            </a:r>
            <a:r>
              <a:rPr dirty="0" err="1"/>
              <a:t>n'en</a:t>
            </a:r>
            <a:r>
              <a:rPr dirty="0"/>
              <a:t> sort pas,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croyances</a:t>
            </a:r>
            <a:r>
              <a:rPr dirty="0"/>
              <a:t> portent sur le </a:t>
            </a:r>
            <a:r>
              <a:rPr dirty="0" err="1"/>
              <a:t>nœud</a:t>
            </a:r>
            <a:r>
              <a:rPr dirty="0"/>
              <a:t> </a:t>
            </a:r>
            <a:r>
              <a:rPr dirty="0" err="1"/>
              <a:t>atteint</a:t>
            </a:r>
            <a:r>
              <a:rPr dirty="0"/>
              <a:t>, pas sur la </a:t>
            </a:r>
            <a:r>
              <a:rPr dirty="0" err="1"/>
              <a:t>stratégie</a:t>
            </a:r>
            <a:r>
              <a:rPr dirty="0"/>
              <a:t> de </a:t>
            </a:r>
            <a:r>
              <a:rPr dirty="0" err="1"/>
              <a:t>l'adversaire</a:t>
            </a:r>
            <a:r>
              <a:rPr dirty="0"/>
              <a:t>. </a:t>
            </a:r>
            <a:r>
              <a:rPr dirty="0" err="1"/>
              <a:t>Réviser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croyances</a:t>
            </a:r>
            <a:r>
              <a:rPr dirty="0"/>
              <a:t> sur la </a:t>
            </a:r>
            <a:r>
              <a:rPr dirty="0" err="1"/>
              <a:t>stratégie</a:t>
            </a:r>
            <a:r>
              <a:rPr dirty="0"/>
              <a:t> adverse suppose de comparer des manches entre </a:t>
            </a:r>
            <a:r>
              <a:rPr dirty="0" err="1"/>
              <a:t>elles</a:t>
            </a:r>
            <a:r>
              <a:rPr dirty="0"/>
              <a:t>,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, et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j'appelle</a:t>
            </a:r>
            <a:r>
              <a:rPr dirty="0"/>
              <a:t> exploiter.</a:t>
            </a:r>
          </a:p>
          <a:p>
            <a:pPr>
              <a:buNone/>
            </a:pPr>
            <a:r>
              <a:rPr dirty="0"/>
              <a:t>Le tableau </a:t>
            </a:r>
            <a:r>
              <a:rPr dirty="0" err="1"/>
              <a:t>donne</a:t>
            </a:r>
            <a:r>
              <a:rPr dirty="0"/>
              <a:t> </a:t>
            </a:r>
            <a:r>
              <a:rPr dirty="0" err="1"/>
              <a:t>l'amplitude</a:t>
            </a:r>
            <a:r>
              <a:rPr dirty="0"/>
              <a:t>. Contre les deux </a:t>
            </a:r>
            <a:r>
              <a:rPr dirty="0" err="1"/>
              <a:t>adversaires</a:t>
            </a:r>
            <a:r>
              <a:rPr dirty="0"/>
              <a:t> </a:t>
            </a:r>
            <a:r>
              <a:rPr dirty="0" err="1"/>
              <a:t>exploitables</a:t>
            </a:r>
            <a:r>
              <a:rPr dirty="0"/>
              <a:t>, </a:t>
            </a:r>
            <a:r>
              <a:rPr dirty="0" err="1"/>
              <a:t>l'agent</a:t>
            </a:r>
            <a:r>
              <a:rPr dirty="0"/>
              <a:t> à </a:t>
            </a:r>
            <a:r>
              <a:rPr dirty="0" err="1"/>
              <a:t>mémoire</a:t>
            </a:r>
            <a:r>
              <a:rPr dirty="0"/>
              <a:t> </a:t>
            </a:r>
            <a:r>
              <a:rPr dirty="0" err="1"/>
              <a:t>atteint</a:t>
            </a:r>
            <a:r>
              <a:rPr dirty="0"/>
              <a:t> 0,778 et 0,110 pour des maxima </a:t>
            </a:r>
            <a:r>
              <a:rPr dirty="0" err="1"/>
              <a:t>théoriques</a:t>
            </a:r>
            <a:r>
              <a:rPr dirty="0"/>
              <a:t> de 0,778 et 0,111 : cent pour cent et quatre-</a:t>
            </a:r>
            <a:r>
              <a:rPr dirty="0" err="1"/>
              <a:t>vingt</a:t>
            </a:r>
            <a:r>
              <a:rPr dirty="0"/>
              <a:t>-dix-</a:t>
            </a:r>
            <a:r>
              <a:rPr dirty="0" err="1"/>
              <a:t>neuf</a:t>
            </a:r>
            <a:r>
              <a:rPr dirty="0"/>
              <a:t> pour cent de </a:t>
            </a:r>
            <a:r>
              <a:rPr dirty="0" err="1"/>
              <a:t>l'exploitation</a:t>
            </a:r>
            <a:r>
              <a:rPr dirty="0"/>
              <a:t> disponible. Et je vous </a:t>
            </a:r>
            <a:r>
              <a:rPr dirty="0" err="1"/>
              <a:t>fais</a:t>
            </a:r>
            <a:r>
              <a:rPr dirty="0"/>
              <a:t> </a:t>
            </a:r>
            <a:r>
              <a:rPr dirty="0" err="1"/>
              <a:t>remarquer</a:t>
            </a:r>
            <a:r>
              <a:rPr dirty="0"/>
              <a:t> la </a:t>
            </a:r>
            <a:r>
              <a:rPr dirty="0" err="1"/>
              <a:t>colonne</a:t>
            </a:r>
            <a:r>
              <a:rPr dirty="0"/>
              <a:t> sans </a:t>
            </a:r>
            <a:r>
              <a:rPr dirty="0" err="1"/>
              <a:t>mémoire</a:t>
            </a:r>
            <a:r>
              <a:rPr dirty="0"/>
              <a:t> : à </a:t>
            </a:r>
            <a:r>
              <a:rPr dirty="0" err="1"/>
              <a:t>moins</a:t>
            </a:r>
            <a:r>
              <a:rPr dirty="0"/>
              <a:t> 0,111 </a:t>
            </a:r>
            <a:r>
              <a:rPr dirty="0" err="1"/>
              <a:t>contre</a:t>
            </a:r>
            <a:r>
              <a:rPr dirty="0"/>
              <a:t> Station et </a:t>
            </a:r>
            <a:r>
              <a:rPr dirty="0" err="1"/>
              <a:t>moins</a:t>
            </a:r>
            <a:r>
              <a:rPr dirty="0"/>
              <a:t> 0,187 </a:t>
            </a:r>
            <a:r>
              <a:rPr dirty="0" err="1"/>
              <a:t>contre</a:t>
            </a:r>
            <a:r>
              <a:rPr dirty="0"/>
              <a:t> GTO, il est </a:t>
            </a:r>
            <a:r>
              <a:rPr dirty="0" err="1"/>
              <a:t>en</a:t>
            </a:r>
            <a:r>
              <a:rPr dirty="0"/>
              <a:t> dessous du </a:t>
            </a:r>
            <a:r>
              <a:rPr dirty="0" err="1"/>
              <a:t>niveau</a:t>
            </a:r>
            <a:r>
              <a:rPr dirty="0"/>
              <a:t> de </a:t>
            </a:r>
            <a:r>
              <a:rPr dirty="0" err="1"/>
              <a:t>l'équilibre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Le </a:t>
            </a:r>
            <a:r>
              <a:rPr dirty="0" err="1"/>
              <a:t>contrôle</a:t>
            </a:r>
            <a:r>
              <a:rPr dirty="0"/>
              <a:t> </a:t>
            </a:r>
            <a:r>
              <a:rPr dirty="0" err="1"/>
              <a:t>négatif</a:t>
            </a:r>
            <a:r>
              <a:rPr dirty="0"/>
              <a:t>, pour </a:t>
            </a:r>
            <a:r>
              <a:rPr dirty="0" err="1"/>
              <a:t>finir</a:t>
            </a:r>
            <a:r>
              <a:rPr dirty="0"/>
              <a:t>. Contre </a:t>
            </a:r>
            <a:r>
              <a:rPr dirty="0" err="1"/>
              <a:t>l'adversaire</a:t>
            </a:r>
            <a:r>
              <a:rPr dirty="0"/>
              <a:t> à </a:t>
            </a:r>
            <a:r>
              <a:rPr dirty="0" err="1"/>
              <a:t>l'équilibre</a:t>
            </a:r>
            <a:r>
              <a:rPr dirty="0"/>
              <a:t>, </a:t>
            </a:r>
            <a:r>
              <a:rPr dirty="0" err="1"/>
              <a:t>aucune</a:t>
            </a:r>
            <a:r>
              <a:rPr dirty="0"/>
              <a:t> politique ne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rapporter</a:t>
            </a:r>
            <a:r>
              <a:rPr dirty="0"/>
              <a:t> plus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l'équilibre</a:t>
            </a:r>
            <a:r>
              <a:rPr dirty="0"/>
              <a:t>. Sur </a:t>
            </a:r>
            <a:r>
              <a:rPr dirty="0" err="1"/>
              <a:t>trente-neuf</a:t>
            </a:r>
            <a:r>
              <a:rPr dirty="0"/>
              <a:t> </a:t>
            </a:r>
            <a:r>
              <a:rPr dirty="0" err="1"/>
              <a:t>séries</a:t>
            </a:r>
            <a:r>
              <a:rPr dirty="0"/>
              <a:t>, la </a:t>
            </a:r>
            <a:r>
              <a:rPr dirty="0" err="1"/>
              <a:t>référence</a:t>
            </a:r>
            <a:r>
              <a:rPr dirty="0"/>
              <a:t> </a:t>
            </a:r>
            <a:r>
              <a:rPr dirty="0" err="1"/>
              <a:t>récitée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jamais positive et </a:t>
            </a:r>
            <a:r>
              <a:rPr dirty="0" err="1"/>
              <a:t>l'écart</a:t>
            </a:r>
            <a:r>
              <a:rPr dirty="0"/>
              <a:t> jamais </a:t>
            </a:r>
            <a:r>
              <a:rPr dirty="0" err="1"/>
              <a:t>négatif</a:t>
            </a:r>
            <a:r>
              <a:rPr dirty="0"/>
              <a:t> ; six </a:t>
            </a:r>
            <a:r>
              <a:rPr dirty="0" err="1"/>
              <a:t>séries</a:t>
            </a:r>
            <a:r>
              <a:rPr dirty="0"/>
              <a:t> </a:t>
            </a:r>
            <a:r>
              <a:rPr dirty="0" err="1"/>
              <a:t>atteignent</a:t>
            </a:r>
            <a:r>
              <a:rPr dirty="0"/>
              <a:t>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zéro</a:t>
            </a:r>
            <a:r>
              <a:rPr dirty="0"/>
              <a:t>, </a:t>
            </a:r>
            <a:r>
              <a:rPr dirty="0" err="1"/>
              <a:t>aucune</a:t>
            </a:r>
            <a:r>
              <a:rPr dirty="0"/>
              <a:t> ne </a:t>
            </a:r>
            <a:r>
              <a:rPr dirty="0" err="1"/>
              <a:t>va</a:t>
            </a:r>
            <a:r>
              <a:rPr dirty="0"/>
              <a:t> au-</a:t>
            </a:r>
            <a:r>
              <a:rPr dirty="0" err="1"/>
              <a:t>delà</a:t>
            </a:r>
            <a:r>
              <a:rPr dirty="0"/>
              <a:t>. </a:t>
            </a:r>
            <a:r>
              <a:rPr dirty="0" err="1"/>
              <a:t>L'instrument</a:t>
            </a:r>
            <a:r>
              <a:rPr dirty="0"/>
              <a:t> </a:t>
            </a:r>
            <a:r>
              <a:rPr dirty="0" err="1"/>
              <a:t>tient</a:t>
            </a:r>
            <a:r>
              <a:rPr dirty="0"/>
              <a:t>.</a:t>
            </a:r>
          </a:p>
        </p:txBody>
      </p:sp>
      <p:sp>
        <p:nvSpPr>
          <p:cNvPr id="94" name="Google Shape;94;g3fb2f260372_1_13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b2f260372_1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01" name="Google Shape;101;g3fb2f260372_1_138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À information </a:t>
            </a:r>
            <a:r>
              <a:rPr dirty="0" err="1"/>
              <a:t>égale</a:t>
            </a:r>
            <a:r>
              <a:rPr dirty="0"/>
              <a:t>, deux </a:t>
            </a:r>
            <a:r>
              <a:rPr dirty="0" err="1"/>
              <a:t>mécanismes</a:t>
            </a:r>
            <a:r>
              <a:rPr dirty="0"/>
              <a:t> de </a:t>
            </a:r>
            <a:r>
              <a:rPr dirty="0" err="1"/>
              <a:t>rétention</a:t>
            </a:r>
            <a:r>
              <a:rPr dirty="0"/>
              <a:t> </a:t>
            </a:r>
            <a:r>
              <a:rPr dirty="0" err="1"/>
              <a:t>produisent-ils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adaptation ? La </a:t>
            </a:r>
            <a:r>
              <a:rPr dirty="0" err="1"/>
              <a:t>réponse</a:t>
            </a:r>
            <a:r>
              <a:rPr dirty="0"/>
              <a:t> est </a:t>
            </a:r>
            <a:r>
              <a:rPr dirty="0" err="1"/>
              <a:t>oui</a:t>
            </a:r>
            <a:r>
              <a:rPr dirty="0"/>
              <a:t> pour </a:t>
            </a:r>
            <a:r>
              <a:rPr dirty="0" err="1"/>
              <a:t>l'essentiel</a:t>
            </a:r>
            <a:r>
              <a:rPr dirty="0"/>
              <a:t>, et non sur un point précis — et </a:t>
            </a:r>
            <a:r>
              <a:rPr dirty="0" err="1"/>
              <a:t>ce</a:t>
            </a:r>
            <a:r>
              <a:rPr dirty="0"/>
              <a:t> point </a:t>
            </a:r>
            <a:r>
              <a:rPr dirty="0" err="1"/>
              <a:t>n'est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</a:t>
            </a:r>
            <a:r>
              <a:rPr dirty="0" err="1"/>
              <a:t>celui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j'anticipais</a:t>
            </a:r>
            <a:r>
              <a:rPr dirty="0"/>
              <a:t>, </a:t>
            </a:r>
            <a:r>
              <a:rPr dirty="0" err="1"/>
              <a:t>ni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je le </a:t>
            </a:r>
            <a:r>
              <a:rPr dirty="0" err="1"/>
              <a:t>cherchais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Deux </a:t>
            </a:r>
            <a:r>
              <a:rPr dirty="0" err="1"/>
              <a:t>prédictions</a:t>
            </a:r>
            <a:r>
              <a:rPr dirty="0"/>
              <a:t> ne se </a:t>
            </a:r>
            <a:r>
              <a:rPr dirty="0" err="1"/>
              <a:t>réalisent</a:t>
            </a:r>
            <a:r>
              <a:rPr dirty="0"/>
              <a:t> pas. </a:t>
            </a:r>
            <a:r>
              <a:rPr dirty="0" err="1"/>
              <a:t>J'annonçais</a:t>
            </a:r>
            <a:r>
              <a:rPr dirty="0"/>
              <a:t> pour la </a:t>
            </a:r>
            <a:r>
              <a:rPr dirty="0" err="1"/>
              <a:t>réinjection</a:t>
            </a:r>
            <a:r>
              <a:rPr dirty="0"/>
              <a:t> un </a:t>
            </a:r>
            <a:r>
              <a:rPr dirty="0" err="1"/>
              <a:t>profil</a:t>
            </a:r>
            <a:r>
              <a:rPr dirty="0"/>
              <a:t> </a:t>
            </a:r>
            <a:r>
              <a:rPr dirty="0" err="1"/>
              <a:t>d'oubli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dents de </a:t>
            </a:r>
            <a:r>
              <a:rPr dirty="0" err="1"/>
              <a:t>scie</a:t>
            </a:r>
            <a:r>
              <a:rPr dirty="0"/>
              <a:t> </a:t>
            </a:r>
            <a:r>
              <a:rPr dirty="0" err="1"/>
              <a:t>quand</a:t>
            </a:r>
            <a:r>
              <a:rPr dirty="0"/>
              <a:t> la </a:t>
            </a:r>
            <a:r>
              <a:rPr dirty="0" err="1"/>
              <a:t>fenêtre</a:t>
            </a:r>
            <a:r>
              <a:rPr dirty="0"/>
              <a:t> </a:t>
            </a:r>
            <a:r>
              <a:rPr dirty="0" err="1"/>
              <a:t>sature</a:t>
            </a:r>
            <a:r>
              <a:rPr dirty="0"/>
              <a:t> : il </a:t>
            </a:r>
            <a:r>
              <a:rPr dirty="0" err="1"/>
              <a:t>n'y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a </a:t>
            </a:r>
            <a:r>
              <a:rPr dirty="0" err="1"/>
              <a:t>aucune</a:t>
            </a:r>
            <a:r>
              <a:rPr dirty="0"/>
              <a:t> trace. Et je </a:t>
            </a:r>
            <a:r>
              <a:rPr dirty="0" err="1"/>
              <a:t>m'attendais</a:t>
            </a:r>
            <a:r>
              <a:rPr dirty="0"/>
              <a:t> à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différence</a:t>
            </a:r>
            <a:r>
              <a:rPr dirty="0"/>
              <a:t> de </a:t>
            </a:r>
            <a:r>
              <a:rPr dirty="0" err="1"/>
              <a:t>vitesse</a:t>
            </a:r>
            <a:r>
              <a:rPr dirty="0"/>
              <a:t> : il </a:t>
            </a:r>
            <a:r>
              <a:rPr dirty="0" err="1"/>
              <a:t>n'y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a pas non plus, les deux conditions </a:t>
            </a:r>
            <a:r>
              <a:rPr dirty="0" err="1"/>
              <a:t>chutent</a:t>
            </a:r>
            <a:r>
              <a:rPr dirty="0"/>
              <a:t> à la première </a:t>
            </a:r>
            <a:r>
              <a:rPr dirty="0" err="1"/>
              <a:t>frontière</a:t>
            </a:r>
            <a:r>
              <a:rPr dirty="0"/>
              <a:t> dans les </a:t>
            </a:r>
            <a:r>
              <a:rPr dirty="0" err="1"/>
              <a:t>mêmes</a:t>
            </a:r>
            <a:r>
              <a:rPr dirty="0"/>
              <a:t> proportions.</a:t>
            </a:r>
          </a:p>
          <a:p>
            <a:pPr>
              <a:buNone/>
            </a:pPr>
            <a:r>
              <a:rPr dirty="0"/>
              <a:t>Ce qui les </a:t>
            </a:r>
            <a:r>
              <a:rPr dirty="0" err="1"/>
              <a:t>sépare</a:t>
            </a:r>
            <a:r>
              <a:rPr dirty="0"/>
              <a:t> est </a:t>
            </a:r>
            <a:r>
              <a:rPr dirty="0" err="1"/>
              <a:t>ailleurs</a:t>
            </a:r>
            <a:r>
              <a:rPr dirty="0"/>
              <a:t>, et </a:t>
            </a:r>
            <a:r>
              <a:rPr dirty="0" err="1"/>
              <a:t>c'est</a:t>
            </a:r>
            <a:r>
              <a:rPr dirty="0"/>
              <a:t> le tableau qui le montre,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l'écart</a:t>
            </a:r>
            <a:r>
              <a:rPr dirty="0"/>
              <a:t> est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quantité</a:t>
            </a:r>
            <a:r>
              <a:rPr dirty="0"/>
              <a:t> </a:t>
            </a:r>
            <a:r>
              <a:rPr dirty="0" err="1"/>
              <a:t>agrégée</a:t>
            </a:r>
            <a:r>
              <a:rPr dirty="0"/>
              <a:t> qui masque </a:t>
            </a:r>
            <a:r>
              <a:rPr dirty="0" err="1"/>
              <a:t>où</a:t>
            </a:r>
            <a:r>
              <a:rPr dirty="0"/>
              <a:t> se loge le </a:t>
            </a:r>
            <a:r>
              <a:rPr dirty="0" err="1"/>
              <a:t>résidu</a:t>
            </a:r>
            <a:r>
              <a:rPr dirty="0"/>
              <a:t>. Quatre </a:t>
            </a:r>
            <a:r>
              <a:rPr dirty="0" err="1"/>
              <a:t>décisions</a:t>
            </a:r>
            <a:r>
              <a:rPr dirty="0"/>
              <a:t> </a:t>
            </a:r>
            <a:r>
              <a:rPr dirty="0" err="1"/>
              <a:t>décident</a:t>
            </a:r>
            <a:r>
              <a:rPr dirty="0"/>
              <a:t> de tout </a:t>
            </a:r>
            <a:r>
              <a:rPr dirty="0" err="1"/>
              <a:t>contre</a:t>
            </a:r>
            <a:r>
              <a:rPr dirty="0"/>
              <a:t> Station. Sur les deux premières, la </a:t>
            </a:r>
            <a:r>
              <a:rPr dirty="0" err="1"/>
              <a:t>meilleure</a:t>
            </a:r>
            <a:r>
              <a:rPr dirty="0"/>
              <a:t> </a:t>
            </a:r>
            <a:r>
              <a:rPr dirty="0" err="1"/>
              <a:t>réponse</a:t>
            </a:r>
            <a:r>
              <a:rPr dirty="0"/>
              <a:t> est de ne jamais engager le </a:t>
            </a:r>
            <a:r>
              <a:rPr dirty="0" err="1"/>
              <a:t>sceau</a:t>
            </a:r>
            <a:r>
              <a:rPr dirty="0"/>
              <a:t> </a:t>
            </a:r>
            <a:r>
              <a:rPr dirty="0" err="1"/>
              <a:t>faible</a:t>
            </a:r>
            <a:r>
              <a:rPr dirty="0"/>
              <a:t> : la </a:t>
            </a:r>
            <a:r>
              <a:rPr dirty="0" err="1"/>
              <a:t>réinjection</a:t>
            </a:r>
            <a:r>
              <a:rPr dirty="0"/>
              <a:t> le fait encore dans six et </a:t>
            </a:r>
            <a:r>
              <a:rPr dirty="0" err="1"/>
              <a:t>neuf</a:t>
            </a:r>
            <a:r>
              <a:rPr dirty="0"/>
              <a:t> pour cent des </a:t>
            </a:r>
            <a:r>
              <a:rPr dirty="0" err="1"/>
              <a:t>cas</a:t>
            </a:r>
            <a:r>
              <a:rPr dirty="0"/>
              <a:t>, </a:t>
            </a:r>
            <a:r>
              <a:rPr dirty="0" err="1"/>
              <a:t>quand</a:t>
            </a:r>
            <a:r>
              <a:rPr dirty="0"/>
              <a:t> </a:t>
            </a:r>
            <a:r>
              <a:rPr dirty="0" err="1"/>
              <a:t>l'auto-écriture</a:t>
            </a:r>
            <a:r>
              <a:rPr dirty="0"/>
              <a:t> est </a:t>
            </a:r>
            <a:r>
              <a:rPr dirty="0" err="1"/>
              <a:t>retombée</a:t>
            </a:r>
            <a:r>
              <a:rPr dirty="0"/>
              <a:t> sous le pour cent. Sur les deux </a:t>
            </a:r>
            <a:r>
              <a:rPr dirty="0" err="1"/>
              <a:t>suivantes</a:t>
            </a:r>
            <a:r>
              <a:rPr dirty="0"/>
              <a:t>, il faut engager le </a:t>
            </a:r>
            <a:r>
              <a:rPr dirty="0" err="1"/>
              <a:t>sceau</a:t>
            </a:r>
            <a:r>
              <a:rPr dirty="0"/>
              <a:t> fort </a:t>
            </a:r>
            <a:r>
              <a:rPr dirty="0" err="1"/>
              <a:t>systématiquement</a:t>
            </a:r>
            <a:r>
              <a:rPr dirty="0"/>
              <a:t> : la </a:t>
            </a:r>
            <a:r>
              <a:rPr dirty="0" err="1"/>
              <a:t>réinjection</a:t>
            </a:r>
            <a:r>
              <a:rPr dirty="0"/>
              <a:t> laisse passer entre trois et six pour cent de </a:t>
            </a:r>
            <a:r>
              <a:rPr dirty="0" err="1"/>
              <a:t>ces</a:t>
            </a:r>
            <a:r>
              <a:rPr dirty="0"/>
              <a:t> engagements de </a:t>
            </a:r>
            <a:r>
              <a:rPr dirty="0" err="1"/>
              <a:t>valeur</a:t>
            </a:r>
            <a:r>
              <a:rPr dirty="0"/>
              <a:t>, </a:t>
            </a:r>
            <a:r>
              <a:rPr dirty="0" err="1"/>
              <a:t>quand</a:t>
            </a:r>
            <a:r>
              <a:rPr dirty="0"/>
              <a:t> </a:t>
            </a:r>
            <a:r>
              <a:rPr dirty="0" err="1"/>
              <a:t>l'auto-écriture</a:t>
            </a:r>
            <a:r>
              <a:rPr dirty="0"/>
              <a:t> est à 1,000, </a:t>
            </a:r>
            <a:r>
              <a:rPr dirty="0" err="1"/>
              <a:t>exactement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Sur </a:t>
            </a:r>
            <a:r>
              <a:rPr dirty="0" err="1"/>
              <a:t>l'écart</a:t>
            </a:r>
            <a:r>
              <a:rPr dirty="0"/>
              <a:t> agrégé, la </a:t>
            </a:r>
            <a:r>
              <a:rPr dirty="0" err="1"/>
              <a:t>différence</a:t>
            </a:r>
            <a:r>
              <a:rPr dirty="0"/>
              <a:t> entre les deux </a:t>
            </a:r>
            <a:r>
              <a:rPr dirty="0" err="1"/>
              <a:t>vaut</a:t>
            </a:r>
            <a:r>
              <a:rPr dirty="0"/>
              <a:t> 0,038 </a:t>
            </a:r>
            <a:r>
              <a:rPr dirty="0" err="1"/>
              <a:t>contre</a:t>
            </a:r>
            <a:r>
              <a:rPr dirty="0"/>
              <a:t> Station, avec un </a:t>
            </a:r>
            <a:r>
              <a:rPr dirty="0" err="1"/>
              <a:t>intervalle</a:t>
            </a:r>
            <a:r>
              <a:rPr dirty="0"/>
              <a:t> de </a:t>
            </a:r>
            <a:r>
              <a:rPr dirty="0" err="1"/>
              <a:t>confiance</a:t>
            </a:r>
            <a:r>
              <a:rPr dirty="0"/>
              <a:t> à quatre-</a:t>
            </a:r>
            <a:r>
              <a:rPr dirty="0" err="1"/>
              <a:t>vingt</a:t>
            </a:r>
            <a:r>
              <a:rPr dirty="0"/>
              <a:t>-quinze pour cent de plus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moins</a:t>
            </a:r>
            <a:r>
              <a:rPr dirty="0"/>
              <a:t> 0,015 qui </a:t>
            </a:r>
            <a:r>
              <a:rPr dirty="0" err="1"/>
              <a:t>exclut</a:t>
            </a:r>
            <a:r>
              <a:rPr dirty="0"/>
              <a:t> </a:t>
            </a:r>
            <a:r>
              <a:rPr dirty="0" err="1"/>
              <a:t>zéro</a:t>
            </a:r>
            <a:r>
              <a:rPr dirty="0"/>
              <a:t>. Contre Over-folder,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vaut</a:t>
            </a:r>
            <a:r>
              <a:rPr dirty="0"/>
              <a:t> 0,004, et </a:t>
            </a:r>
            <a:r>
              <a:rPr dirty="0" err="1"/>
              <a:t>l'intervalle</a:t>
            </a:r>
            <a:r>
              <a:rPr dirty="0"/>
              <a:t> </a:t>
            </a:r>
            <a:r>
              <a:rPr dirty="0" err="1"/>
              <a:t>contient</a:t>
            </a:r>
            <a:r>
              <a:rPr dirty="0"/>
              <a:t> </a:t>
            </a:r>
            <a:r>
              <a:rPr dirty="0" err="1"/>
              <a:t>zéro</a:t>
            </a:r>
            <a:r>
              <a:rPr dirty="0"/>
              <a:t>.</a:t>
            </a:r>
          </a:p>
          <a:p>
            <a:pPr>
              <a:buNone/>
            </a:pPr>
            <a:r>
              <a:rPr dirty="0" err="1"/>
              <a:t>D'où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conclusion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j'énonce</a:t>
            </a:r>
            <a:r>
              <a:rPr dirty="0"/>
              <a:t> moi-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/>
              <a:t>conditionnelle</a:t>
            </a:r>
            <a:r>
              <a:rPr dirty="0"/>
              <a:t> : ma </a:t>
            </a:r>
            <a:r>
              <a:rPr dirty="0" err="1"/>
              <a:t>troisième</a:t>
            </a:r>
            <a:r>
              <a:rPr dirty="0"/>
              <a:t> </a:t>
            </a:r>
            <a:r>
              <a:rPr dirty="0" err="1"/>
              <a:t>hypothèse</a:t>
            </a:r>
            <a:r>
              <a:rPr dirty="0"/>
              <a:t> est </a:t>
            </a:r>
            <a:r>
              <a:rPr dirty="0" err="1"/>
              <a:t>vérifiée</a:t>
            </a:r>
            <a:r>
              <a:rPr dirty="0"/>
              <a:t>, </a:t>
            </a:r>
            <a:r>
              <a:rPr dirty="0" err="1"/>
              <a:t>mais</a:t>
            </a:r>
            <a:r>
              <a:rPr dirty="0"/>
              <a:t> le </a:t>
            </a:r>
            <a:r>
              <a:rPr dirty="0" err="1"/>
              <a:t>mécanisme</a:t>
            </a:r>
            <a:r>
              <a:rPr dirty="0"/>
              <a:t> ne </a:t>
            </a:r>
            <a:r>
              <a:rPr dirty="0" err="1"/>
              <a:t>départage</a:t>
            </a:r>
            <a:r>
              <a:rPr dirty="0"/>
              <a:t> les deux </a:t>
            </a:r>
            <a:r>
              <a:rPr dirty="0" err="1"/>
              <a:t>mémoires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contre</a:t>
            </a:r>
            <a:r>
              <a:rPr dirty="0"/>
              <a:t> </a:t>
            </a:r>
            <a:r>
              <a:rPr dirty="0" err="1"/>
              <a:t>l'un</a:t>
            </a:r>
            <a:r>
              <a:rPr dirty="0"/>
              <a:t> des deux </a:t>
            </a:r>
            <a:r>
              <a:rPr dirty="0" err="1"/>
              <a:t>adversaires</a:t>
            </a:r>
            <a:r>
              <a:rPr dirty="0"/>
              <a:t> </a:t>
            </a:r>
            <a:r>
              <a:rPr dirty="0" err="1"/>
              <a:t>exploitables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Et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précisément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qui </a:t>
            </a:r>
            <a:r>
              <a:rPr dirty="0" err="1"/>
              <a:t>l'explique</a:t>
            </a:r>
            <a:r>
              <a:rPr dirty="0"/>
              <a:t>. Contre Over-folder, la politique </a:t>
            </a:r>
            <a:r>
              <a:rPr dirty="0" err="1"/>
              <a:t>optimale</a:t>
            </a:r>
            <a:r>
              <a:rPr dirty="0"/>
              <a:t> </a:t>
            </a:r>
            <a:r>
              <a:rPr dirty="0" err="1"/>
              <a:t>tient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seule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, positive : engager, </a:t>
            </a:r>
            <a:r>
              <a:rPr dirty="0" err="1"/>
              <a:t>toujours</a:t>
            </a:r>
            <a:r>
              <a:rPr dirty="0"/>
              <a:t>. Les deux </a:t>
            </a:r>
            <a:r>
              <a:rPr dirty="0" err="1"/>
              <a:t>mécanismes</a:t>
            </a:r>
            <a:r>
              <a:rPr dirty="0"/>
              <a:t> </a:t>
            </a:r>
            <a:r>
              <a:rPr dirty="0" err="1"/>
              <a:t>l'extraient</a:t>
            </a:r>
            <a:r>
              <a:rPr dirty="0"/>
              <a:t> </a:t>
            </a:r>
            <a:r>
              <a:rPr dirty="0" err="1"/>
              <a:t>intégralement</a:t>
            </a:r>
            <a:r>
              <a:rPr dirty="0"/>
              <a:t>. Contre Station, il </a:t>
            </a:r>
            <a:r>
              <a:rPr dirty="0" err="1"/>
              <a:t>en</a:t>
            </a:r>
            <a:r>
              <a:rPr dirty="0"/>
              <a:t> faut deux,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négative</a:t>
            </a:r>
            <a:r>
              <a:rPr dirty="0"/>
              <a:t> — et cesser de faire quelque chose est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qu'un</a:t>
            </a:r>
            <a:r>
              <a:rPr dirty="0"/>
              <a:t> </a:t>
            </a:r>
            <a:r>
              <a:rPr dirty="0" err="1"/>
              <a:t>historique</a:t>
            </a:r>
            <a:r>
              <a:rPr dirty="0"/>
              <a:t> brut </a:t>
            </a:r>
            <a:r>
              <a:rPr dirty="0" err="1"/>
              <a:t>soutient</a:t>
            </a:r>
            <a:r>
              <a:rPr dirty="0"/>
              <a:t> le plus mal : un engagement </a:t>
            </a:r>
            <a:r>
              <a:rPr dirty="0" err="1"/>
              <a:t>perdant</a:t>
            </a:r>
            <a:r>
              <a:rPr dirty="0"/>
              <a:t> y figure </a:t>
            </a:r>
            <a:r>
              <a:rPr dirty="0" err="1"/>
              <a:t>comme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manche </a:t>
            </a:r>
            <a:r>
              <a:rPr dirty="0" err="1"/>
              <a:t>parmi</a:t>
            </a:r>
            <a:r>
              <a:rPr dirty="0"/>
              <a:t> cent </a:t>
            </a:r>
            <a:r>
              <a:rPr dirty="0" err="1"/>
              <a:t>cinquante</a:t>
            </a:r>
            <a:r>
              <a:rPr dirty="0"/>
              <a:t>, </a:t>
            </a:r>
            <a:r>
              <a:rPr dirty="0" err="1"/>
              <a:t>noyée</a:t>
            </a:r>
            <a:r>
              <a:rPr dirty="0"/>
              <a:t> dans </a:t>
            </a:r>
            <a:r>
              <a:rPr dirty="0" err="1"/>
              <a:t>celles</a:t>
            </a:r>
            <a:r>
              <a:rPr dirty="0"/>
              <a:t> </a:t>
            </a:r>
            <a:r>
              <a:rPr dirty="0" err="1"/>
              <a:t>où</a:t>
            </a:r>
            <a:r>
              <a:rPr dirty="0"/>
              <a:t>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geste</a:t>
            </a:r>
            <a:r>
              <a:rPr dirty="0"/>
              <a:t> a </a:t>
            </a:r>
            <a:r>
              <a:rPr dirty="0" err="1"/>
              <a:t>gagné</a:t>
            </a:r>
            <a:r>
              <a:rPr dirty="0"/>
              <a:t>, et rien ne </a:t>
            </a:r>
            <a:r>
              <a:rPr dirty="0" err="1"/>
              <a:t>rassemble</a:t>
            </a:r>
            <a:r>
              <a:rPr dirty="0"/>
              <a:t> </a:t>
            </a:r>
            <a:r>
              <a:rPr dirty="0" err="1"/>
              <a:t>ces</a:t>
            </a:r>
            <a:r>
              <a:rPr dirty="0"/>
              <a:t> occurrences </a:t>
            </a:r>
            <a:r>
              <a:rPr dirty="0" err="1"/>
              <a:t>en</a:t>
            </a:r>
            <a:r>
              <a:rPr dirty="0"/>
              <a:t> interdiction. </a:t>
            </a:r>
            <a:r>
              <a:rPr dirty="0" err="1"/>
              <a:t>L'étape</a:t>
            </a:r>
            <a:r>
              <a:rPr dirty="0"/>
              <a:t> de </a:t>
            </a:r>
            <a:r>
              <a:rPr dirty="0" err="1"/>
              <a:t>synthèse</a:t>
            </a:r>
            <a:r>
              <a:rPr dirty="0"/>
              <a:t> fait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cela</a:t>
            </a:r>
            <a:r>
              <a:rPr dirty="0"/>
              <a:t> :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contraint</a:t>
            </a:r>
            <a:r>
              <a:rPr dirty="0"/>
              <a:t> </a:t>
            </a:r>
            <a:r>
              <a:rPr dirty="0" err="1"/>
              <a:t>l'agent</a:t>
            </a:r>
            <a:r>
              <a:rPr dirty="0"/>
              <a:t> à </a:t>
            </a:r>
            <a:r>
              <a:rPr dirty="0" err="1"/>
              <a:t>écrire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, et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 </a:t>
            </a:r>
            <a:r>
              <a:rPr dirty="0" err="1"/>
              <a:t>énonce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qu'il</a:t>
            </a:r>
            <a:r>
              <a:rPr dirty="0"/>
              <a:t> ne faut pas faire.</a:t>
            </a:r>
          </a:p>
          <a:p>
            <a:pPr>
              <a:buNone/>
            </a:pPr>
            <a:r>
              <a:rPr dirty="0" err="1"/>
              <a:t>L'apport</a:t>
            </a:r>
            <a:r>
              <a:rPr dirty="0"/>
              <a:t> de la </a:t>
            </a:r>
            <a:r>
              <a:rPr dirty="0" err="1"/>
              <a:t>mémoire</a:t>
            </a:r>
            <a:r>
              <a:rPr dirty="0"/>
              <a:t> auto-</a:t>
            </a:r>
            <a:r>
              <a:rPr dirty="0" err="1"/>
              <a:t>écrite</a:t>
            </a:r>
            <a:r>
              <a:rPr dirty="0"/>
              <a:t> est </a:t>
            </a:r>
            <a:r>
              <a:rPr dirty="0" err="1"/>
              <a:t>donc</a:t>
            </a:r>
            <a:r>
              <a:rPr dirty="0"/>
              <a:t> plus </a:t>
            </a:r>
            <a:r>
              <a:rPr dirty="0" err="1"/>
              <a:t>étroit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mon</a:t>
            </a:r>
            <a:r>
              <a:rPr dirty="0"/>
              <a:t> </a:t>
            </a:r>
            <a:r>
              <a:rPr dirty="0" err="1"/>
              <a:t>hypothèse</a:t>
            </a:r>
            <a:r>
              <a:rPr dirty="0"/>
              <a:t> ne le </a:t>
            </a:r>
            <a:r>
              <a:rPr dirty="0" err="1"/>
              <a:t>supposait</a:t>
            </a:r>
            <a:r>
              <a:rPr dirty="0"/>
              <a:t> : </a:t>
            </a:r>
            <a:r>
              <a:rPr dirty="0" err="1"/>
              <a:t>elle</a:t>
            </a:r>
            <a:r>
              <a:rPr dirty="0"/>
              <a:t> ne </a:t>
            </a:r>
            <a:r>
              <a:rPr dirty="0" err="1"/>
              <a:t>retient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</a:t>
            </a:r>
            <a:r>
              <a:rPr dirty="0" err="1"/>
              <a:t>mieux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plus </a:t>
            </a:r>
            <a:r>
              <a:rPr dirty="0" err="1"/>
              <a:t>longtemps</a:t>
            </a:r>
            <a:r>
              <a:rPr dirty="0"/>
              <a:t>, </a:t>
            </a:r>
            <a:r>
              <a:rPr dirty="0" err="1"/>
              <a:t>elle</a:t>
            </a:r>
            <a:r>
              <a:rPr dirty="0"/>
              <a:t> </a:t>
            </a:r>
            <a:r>
              <a:rPr dirty="0" err="1"/>
              <a:t>achève</a:t>
            </a:r>
            <a:r>
              <a:rPr dirty="0"/>
              <a:t> </a:t>
            </a:r>
            <a:r>
              <a:rPr dirty="0" err="1"/>
              <a:t>l'induction</a:t>
            </a:r>
            <a:r>
              <a:rPr dirty="0"/>
              <a:t>.</a:t>
            </a:r>
          </a:p>
        </p:txBody>
      </p:sp>
      <p:sp>
        <p:nvSpPr>
          <p:cNvPr id="102" name="Google Shape;102;g3fb2f260372_1_138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b2f260372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09" name="Google Shape;109;g3fb2f260372_1_17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 err="1"/>
              <a:t>Jusqu'ici</a:t>
            </a:r>
            <a:r>
              <a:rPr dirty="0"/>
              <a:t>, un agent qui </a:t>
            </a:r>
            <a:r>
              <a:rPr dirty="0" err="1"/>
              <a:t>s'améliore</a:t>
            </a:r>
            <a:r>
              <a:rPr dirty="0"/>
              <a:t>. Ma </a:t>
            </a:r>
            <a:r>
              <a:rPr dirty="0" err="1"/>
              <a:t>quatrième</a:t>
            </a:r>
            <a:r>
              <a:rPr dirty="0"/>
              <a:t> </a:t>
            </a:r>
            <a:r>
              <a:rPr dirty="0" err="1"/>
              <a:t>hypothèse</a:t>
            </a:r>
            <a:r>
              <a:rPr dirty="0"/>
              <a:t> pose la question inverse, et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les deux branches de la </a:t>
            </a:r>
            <a:r>
              <a:rPr dirty="0" err="1"/>
              <a:t>problématique</a:t>
            </a:r>
            <a:r>
              <a:rPr dirty="0"/>
              <a:t> se </a:t>
            </a:r>
            <a:r>
              <a:rPr dirty="0" err="1"/>
              <a:t>rejoignent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Contre un </a:t>
            </a:r>
            <a:r>
              <a:rPr dirty="0" err="1"/>
              <a:t>adversaire</a:t>
            </a:r>
            <a:r>
              <a:rPr dirty="0"/>
              <a:t> à </a:t>
            </a:r>
            <a:r>
              <a:rPr dirty="0" err="1"/>
              <a:t>l'équilibre</a:t>
            </a:r>
            <a:r>
              <a:rPr dirty="0"/>
              <a:t>, bien </a:t>
            </a:r>
            <a:r>
              <a:rPr dirty="0" err="1"/>
              <a:t>jouer</a:t>
            </a:r>
            <a:r>
              <a:rPr dirty="0"/>
              <a:t> </a:t>
            </a:r>
            <a:r>
              <a:rPr dirty="0" err="1"/>
              <a:t>exige</a:t>
            </a:r>
            <a:r>
              <a:rPr dirty="0"/>
              <a:t> </a:t>
            </a:r>
            <a:r>
              <a:rPr dirty="0" err="1"/>
              <a:t>d'engager</a:t>
            </a:r>
            <a:r>
              <a:rPr dirty="0"/>
              <a:t> le </a:t>
            </a:r>
            <a:r>
              <a:rPr dirty="0" err="1"/>
              <a:t>sceau</a:t>
            </a:r>
            <a:r>
              <a:rPr dirty="0"/>
              <a:t> </a:t>
            </a:r>
            <a:r>
              <a:rPr dirty="0" err="1"/>
              <a:t>faible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fois</a:t>
            </a:r>
            <a:r>
              <a:rPr dirty="0"/>
              <a:t> sur trois, et de façon </a:t>
            </a:r>
            <a:r>
              <a:rPr dirty="0" err="1"/>
              <a:t>imprévisible</a:t>
            </a:r>
            <a:r>
              <a:rPr dirty="0"/>
              <a:t>. </a:t>
            </a:r>
            <a:r>
              <a:rPr dirty="0" err="1"/>
              <a:t>Toujours</a:t>
            </a:r>
            <a:r>
              <a:rPr dirty="0"/>
              <a:t> </a:t>
            </a:r>
            <a:r>
              <a:rPr dirty="0" err="1"/>
              <a:t>l'engager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ne jamais </a:t>
            </a:r>
            <a:r>
              <a:rPr dirty="0" err="1"/>
              <a:t>l'engager</a:t>
            </a:r>
            <a:r>
              <a:rPr dirty="0"/>
              <a:t> se </a:t>
            </a:r>
            <a:r>
              <a:rPr dirty="0" err="1"/>
              <a:t>punit</a:t>
            </a:r>
            <a:r>
              <a:rPr dirty="0"/>
              <a:t> </a:t>
            </a:r>
            <a:r>
              <a:rPr dirty="0" err="1"/>
              <a:t>également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le point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j'annonçais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revue de </a:t>
            </a:r>
            <a:r>
              <a:rPr dirty="0" err="1"/>
              <a:t>littérature</a:t>
            </a:r>
            <a:r>
              <a:rPr dirty="0"/>
              <a:t> : </a:t>
            </a:r>
            <a:r>
              <a:rPr dirty="0" err="1"/>
              <a:t>l'équilibre</a:t>
            </a:r>
            <a:r>
              <a:rPr dirty="0"/>
              <a:t> de </a:t>
            </a:r>
            <a:r>
              <a:rPr dirty="0" err="1"/>
              <a:t>ce</a:t>
            </a:r>
            <a:r>
              <a:rPr dirty="0"/>
              <a:t> jeu est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stratégies</a:t>
            </a:r>
            <a:r>
              <a:rPr dirty="0"/>
              <a:t> mixtes,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l'imprévisibilité</a:t>
            </a:r>
            <a:r>
              <a:rPr dirty="0"/>
              <a:t> y est la condition de </a:t>
            </a:r>
            <a:r>
              <a:rPr dirty="0" err="1"/>
              <a:t>l'optimalité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Sur la figure, </a:t>
            </a:r>
            <a:r>
              <a:rPr dirty="0" err="1"/>
              <a:t>chaque</a:t>
            </a:r>
            <a:r>
              <a:rPr dirty="0"/>
              <a:t> point est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série</a:t>
            </a:r>
            <a:r>
              <a:rPr dirty="0"/>
              <a:t>. Sans </a:t>
            </a:r>
            <a:r>
              <a:rPr dirty="0" err="1"/>
              <a:t>mémoire</a:t>
            </a:r>
            <a:r>
              <a:rPr dirty="0"/>
              <a:t>, les </a:t>
            </a:r>
            <a:r>
              <a:rPr dirty="0" err="1"/>
              <a:t>fréquences</a:t>
            </a:r>
            <a:r>
              <a:rPr dirty="0"/>
              <a:t> se </a:t>
            </a:r>
            <a:r>
              <a:rPr dirty="0" err="1"/>
              <a:t>tiennent</a:t>
            </a:r>
            <a:r>
              <a:rPr dirty="0"/>
              <a:t> </a:t>
            </a:r>
            <a:r>
              <a:rPr dirty="0" err="1"/>
              <a:t>autour</a:t>
            </a:r>
            <a:r>
              <a:rPr dirty="0"/>
              <a:t> de </a:t>
            </a:r>
            <a:r>
              <a:rPr dirty="0" err="1"/>
              <a:t>vingt-huit</a:t>
            </a:r>
            <a:r>
              <a:rPr dirty="0"/>
              <a:t> pour cent, pour un optimum à </a:t>
            </a:r>
            <a:r>
              <a:rPr dirty="0" err="1"/>
              <a:t>trente</a:t>
            </a:r>
            <a:r>
              <a:rPr dirty="0"/>
              <a:t>-trois. </a:t>
            </a:r>
            <a:r>
              <a:rPr dirty="0" err="1"/>
              <a:t>Dès</a:t>
            </a:r>
            <a:r>
              <a:rPr dirty="0"/>
              <a:t> </a:t>
            </a:r>
            <a:r>
              <a:rPr dirty="0" err="1"/>
              <a:t>qu'une</a:t>
            </a:r>
            <a:r>
              <a:rPr dirty="0"/>
              <a:t> note </a:t>
            </a:r>
            <a:r>
              <a:rPr dirty="0" err="1"/>
              <a:t>existe</a:t>
            </a:r>
            <a:r>
              <a:rPr dirty="0"/>
              <a:t>, </a:t>
            </a:r>
            <a:r>
              <a:rPr dirty="0" err="1"/>
              <a:t>elles</a:t>
            </a:r>
            <a:r>
              <a:rPr dirty="0"/>
              <a:t> se </a:t>
            </a:r>
            <a:r>
              <a:rPr dirty="0" err="1"/>
              <a:t>dispersent</a:t>
            </a:r>
            <a:r>
              <a:rPr dirty="0"/>
              <a:t> et se portent aux </a:t>
            </a:r>
            <a:r>
              <a:rPr dirty="0" err="1"/>
              <a:t>valeurs</a:t>
            </a:r>
            <a:r>
              <a:rPr dirty="0"/>
              <a:t> </a:t>
            </a:r>
            <a:r>
              <a:rPr dirty="0" err="1"/>
              <a:t>extrêmes</a:t>
            </a:r>
            <a:r>
              <a:rPr dirty="0"/>
              <a:t> plus </a:t>
            </a:r>
            <a:r>
              <a:rPr dirty="0" err="1"/>
              <a:t>d'une</a:t>
            </a:r>
            <a:r>
              <a:rPr dirty="0"/>
              <a:t> </a:t>
            </a:r>
            <a:r>
              <a:rPr dirty="0" err="1"/>
              <a:t>série</a:t>
            </a:r>
            <a:r>
              <a:rPr dirty="0"/>
              <a:t> sur deux. </a:t>
            </a:r>
            <a:r>
              <a:rPr dirty="0" err="1"/>
              <a:t>L'agent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pas </a:t>
            </a:r>
            <a:r>
              <a:rPr dirty="0" err="1"/>
              <a:t>oublié</a:t>
            </a:r>
            <a:r>
              <a:rPr dirty="0"/>
              <a:t> comment </a:t>
            </a:r>
            <a:r>
              <a:rPr dirty="0" err="1"/>
              <a:t>jouer</a:t>
            </a:r>
            <a:r>
              <a:rPr dirty="0"/>
              <a:t>, </a:t>
            </a:r>
            <a:r>
              <a:rPr dirty="0" err="1"/>
              <a:t>puisque</a:t>
            </a:r>
            <a:r>
              <a:rPr dirty="0"/>
              <a:t> son </a:t>
            </a:r>
            <a:r>
              <a:rPr dirty="0" err="1"/>
              <a:t>écart</a:t>
            </a:r>
            <a:r>
              <a:rPr dirty="0"/>
              <a:t> continue de </a:t>
            </a:r>
            <a:r>
              <a:rPr dirty="0" err="1"/>
              <a:t>baisser</a:t>
            </a:r>
            <a:r>
              <a:rPr dirty="0"/>
              <a:t> : il a </a:t>
            </a:r>
            <a:r>
              <a:rPr dirty="0" err="1"/>
              <a:t>cessé</a:t>
            </a:r>
            <a:r>
              <a:rPr dirty="0"/>
              <a:t> de </a:t>
            </a:r>
            <a:r>
              <a:rPr dirty="0" err="1"/>
              <a:t>tirer</a:t>
            </a:r>
            <a:r>
              <a:rPr dirty="0"/>
              <a:t> au sort.</a:t>
            </a:r>
          </a:p>
          <a:p>
            <a:pPr>
              <a:buNone/>
            </a:pPr>
            <a:r>
              <a:rPr dirty="0"/>
              <a:t>Le tableau </a:t>
            </a:r>
            <a:r>
              <a:rPr dirty="0" err="1"/>
              <a:t>donne</a:t>
            </a:r>
            <a:r>
              <a:rPr dirty="0"/>
              <a:t> le </a:t>
            </a:r>
            <a:r>
              <a:rPr dirty="0" err="1"/>
              <a:t>mécanisme</a:t>
            </a:r>
            <a:r>
              <a:rPr dirty="0"/>
              <a:t>, et il </a:t>
            </a:r>
            <a:r>
              <a:rPr dirty="0" err="1"/>
              <a:t>vient</a:t>
            </a:r>
            <a:r>
              <a:rPr dirty="0"/>
              <a:t> </a:t>
            </a:r>
            <a:r>
              <a:rPr dirty="0" err="1"/>
              <a:t>d'une</a:t>
            </a:r>
            <a:r>
              <a:rPr dirty="0"/>
              <a:t> lecture </a:t>
            </a:r>
            <a:r>
              <a:rPr dirty="0" err="1"/>
              <a:t>intégrale</a:t>
            </a:r>
            <a:r>
              <a:rPr dirty="0"/>
              <a:t> des quatre-</a:t>
            </a:r>
            <a:r>
              <a:rPr dirty="0" err="1"/>
              <a:t>vingt</a:t>
            </a:r>
            <a:r>
              <a:rPr dirty="0"/>
              <a:t>-dix notes, jamais </a:t>
            </a:r>
            <a:r>
              <a:rPr dirty="0" err="1"/>
              <a:t>éditées</a:t>
            </a:r>
            <a:r>
              <a:rPr dirty="0"/>
              <a:t>.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pourcentage</a:t>
            </a:r>
            <a:r>
              <a:rPr dirty="0"/>
              <a:t>. </a:t>
            </a:r>
            <a:r>
              <a:rPr dirty="0" err="1"/>
              <a:t>Aucune</a:t>
            </a:r>
            <a:r>
              <a:rPr dirty="0"/>
              <a:t> proportion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toutes</a:t>
            </a:r>
            <a:r>
              <a:rPr dirty="0"/>
              <a:t> </a:t>
            </a:r>
            <a:r>
              <a:rPr dirty="0" err="1"/>
              <a:t>lettres</a:t>
            </a:r>
            <a:r>
              <a:rPr dirty="0"/>
              <a:t>. </a:t>
            </a:r>
            <a:r>
              <a:rPr dirty="0" err="1"/>
              <a:t>Aucune</a:t>
            </a:r>
            <a:r>
              <a:rPr dirty="0"/>
              <a:t> </a:t>
            </a:r>
            <a:r>
              <a:rPr dirty="0" err="1"/>
              <a:t>fréquence</a:t>
            </a:r>
            <a:r>
              <a:rPr dirty="0"/>
              <a:t> </a:t>
            </a:r>
            <a:r>
              <a:rPr dirty="0" err="1"/>
              <a:t>prescrite</a:t>
            </a:r>
            <a:r>
              <a:rPr dirty="0"/>
              <a:t> pour </a:t>
            </a:r>
            <a:r>
              <a:rPr dirty="0" err="1"/>
              <a:t>sa</a:t>
            </a:r>
            <a:r>
              <a:rPr dirty="0"/>
              <a:t> propre action. En regard, deux cent </a:t>
            </a:r>
            <a:r>
              <a:rPr dirty="0" err="1"/>
              <a:t>vingt</a:t>
            </a:r>
            <a:r>
              <a:rPr dirty="0"/>
              <a:t> et un </a:t>
            </a:r>
            <a:r>
              <a:rPr dirty="0" err="1"/>
              <a:t>quantificateurs</a:t>
            </a:r>
            <a:r>
              <a:rPr dirty="0"/>
              <a:t> </a:t>
            </a:r>
            <a:r>
              <a:rPr dirty="0" err="1"/>
              <a:t>catégoriques</a:t>
            </a:r>
            <a:r>
              <a:rPr dirty="0"/>
              <a:t> — </a:t>
            </a:r>
            <a:r>
              <a:rPr dirty="0" err="1"/>
              <a:t>toujours</a:t>
            </a:r>
            <a:r>
              <a:rPr dirty="0"/>
              <a:t>, jamais — et deux cent </a:t>
            </a:r>
            <a:r>
              <a:rPr dirty="0" err="1"/>
              <a:t>vingt-huit</a:t>
            </a:r>
            <a:r>
              <a:rPr dirty="0"/>
              <a:t> </a:t>
            </a:r>
            <a:r>
              <a:rPr dirty="0" err="1"/>
              <a:t>quantificateurs</a:t>
            </a:r>
            <a:r>
              <a:rPr dirty="0"/>
              <a:t> </a:t>
            </a:r>
            <a:r>
              <a:rPr dirty="0" err="1"/>
              <a:t>gradués</a:t>
            </a:r>
            <a:r>
              <a:rPr dirty="0"/>
              <a:t>. Il </a:t>
            </a:r>
            <a:r>
              <a:rPr dirty="0" err="1"/>
              <a:t>n'est</a:t>
            </a:r>
            <a:r>
              <a:rPr dirty="0"/>
              <a:t> pas incapable </a:t>
            </a:r>
            <a:r>
              <a:rPr dirty="0" err="1"/>
              <a:t>d'écrire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proportion, il le fait pour </a:t>
            </a:r>
            <a:r>
              <a:rPr dirty="0" err="1"/>
              <a:t>décrire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probabilité</a:t>
            </a:r>
            <a:r>
              <a:rPr dirty="0"/>
              <a:t> </a:t>
            </a:r>
            <a:r>
              <a:rPr dirty="0" err="1"/>
              <a:t>d'abattage</a:t>
            </a:r>
            <a:r>
              <a:rPr dirty="0"/>
              <a:t>. Il ne le fait jamais pour </a:t>
            </a:r>
            <a:r>
              <a:rPr dirty="0" err="1"/>
              <a:t>prescrire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propre </a:t>
            </a:r>
            <a:r>
              <a:rPr dirty="0" err="1"/>
              <a:t>fréquence</a:t>
            </a:r>
            <a:r>
              <a:rPr dirty="0"/>
              <a:t>. Ce </a:t>
            </a:r>
            <a:r>
              <a:rPr dirty="0" err="1"/>
              <a:t>n'est</a:t>
            </a:r>
            <a:r>
              <a:rPr dirty="0"/>
              <a:t> pas le </a:t>
            </a:r>
            <a:r>
              <a:rPr dirty="0" err="1"/>
              <a:t>vocabulaire</a:t>
            </a:r>
            <a:r>
              <a:rPr dirty="0"/>
              <a:t> qui manque,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l'usage</a:t>
            </a:r>
            <a:r>
              <a:rPr dirty="0"/>
              <a:t>.</a:t>
            </a:r>
          </a:p>
          <a:p>
            <a:pPr>
              <a:buNone/>
            </a:pPr>
            <a:r>
              <a:rPr dirty="0" err="1"/>
              <a:t>D'où</a:t>
            </a:r>
            <a:r>
              <a:rPr dirty="0"/>
              <a:t> ma conclusion : </a:t>
            </a:r>
            <a:r>
              <a:rPr dirty="0" err="1"/>
              <a:t>c'est</a:t>
            </a:r>
            <a:r>
              <a:rPr dirty="0"/>
              <a:t>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mécanisme</a:t>
            </a:r>
            <a:r>
              <a:rPr dirty="0"/>
              <a:t>. Ce qui rend la </a:t>
            </a:r>
            <a:r>
              <a:rPr dirty="0" err="1"/>
              <a:t>mémoire</a:t>
            </a:r>
            <a:r>
              <a:rPr dirty="0"/>
              <a:t> auto-</a:t>
            </a:r>
            <a:r>
              <a:rPr dirty="0" err="1"/>
              <a:t>écrite</a:t>
            </a:r>
            <a:r>
              <a:rPr dirty="0"/>
              <a:t> supérieure, </a:t>
            </a:r>
            <a:r>
              <a:rPr dirty="0" err="1"/>
              <a:t>c'est</a:t>
            </a:r>
            <a:r>
              <a:rPr dirty="0"/>
              <a:t>-à-dire la </a:t>
            </a:r>
            <a:r>
              <a:rPr dirty="0" err="1"/>
              <a:t>contrainte</a:t>
            </a:r>
            <a:r>
              <a:rPr dirty="0"/>
              <a:t> de </a:t>
            </a:r>
            <a:r>
              <a:rPr dirty="0" err="1"/>
              <a:t>formuler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, est </a:t>
            </a:r>
            <a:r>
              <a:rPr dirty="0" err="1"/>
              <a:t>exactement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qui la rend incapable de </a:t>
            </a:r>
            <a:r>
              <a:rPr dirty="0" err="1"/>
              <a:t>randomiser</a:t>
            </a:r>
            <a:r>
              <a:rPr dirty="0"/>
              <a:t>,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qu'une</a:t>
            </a:r>
            <a:r>
              <a:rPr dirty="0"/>
              <a:t> </a:t>
            </a:r>
            <a:r>
              <a:rPr dirty="0" err="1"/>
              <a:t>règle</a:t>
            </a:r>
            <a:r>
              <a:rPr dirty="0"/>
              <a:t> </a:t>
            </a:r>
            <a:r>
              <a:rPr dirty="0" err="1"/>
              <a:t>écrite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langue naturelle est </a:t>
            </a:r>
            <a:r>
              <a:rPr dirty="0" err="1"/>
              <a:t>déterministe</a:t>
            </a:r>
            <a:r>
              <a:rPr dirty="0"/>
              <a:t>. </a:t>
            </a:r>
            <a:r>
              <a:rPr dirty="0" err="1"/>
              <a:t>L'adaptation</a:t>
            </a:r>
            <a:r>
              <a:rPr dirty="0"/>
              <a:t> et le </a:t>
            </a:r>
            <a:r>
              <a:rPr dirty="0" err="1"/>
              <a:t>biais</a:t>
            </a:r>
            <a:r>
              <a:rPr dirty="0"/>
              <a:t> ne coexistent pas par accident.</a:t>
            </a:r>
          </a:p>
          <a:p>
            <a:pPr>
              <a:buNone/>
            </a:pPr>
            <a:r>
              <a:rPr dirty="0" err="1"/>
              <a:t>J'énonce</a:t>
            </a:r>
            <a:r>
              <a:rPr dirty="0"/>
              <a:t> la </a:t>
            </a:r>
            <a:r>
              <a:rPr dirty="0" err="1"/>
              <a:t>réserve</a:t>
            </a:r>
            <a:r>
              <a:rPr dirty="0"/>
              <a:t> moi-</a:t>
            </a:r>
            <a:r>
              <a:rPr dirty="0" err="1"/>
              <a:t>même</a:t>
            </a:r>
            <a:r>
              <a:rPr dirty="0"/>
              <a:t> : le </a:t>
            </a:r>
            <a:r>
              <a:rPr dirty="0" err="1"/>
              <a:t>coût</a:t>
            </a:r>
            <a:r>
              <a:rPr dirty="0"/>
              <a:t> est </a:t>
            </a:r>
            <a:r>
              <a:rPr dirty="0" err="1"/>
              <a:t>déduit</a:t>
            </a:r>
            <a:r>
              <a:rPr dirty="0"/>
              <a:t>, pas </a:t>
            </a:r>
            <a:r>
              <a:rPr dirty="0" err="1"/>
              <a:t>mesuré</a:t>
            </a:r>
            <a:r>
              <a:rPr dirty="0"/>
              <a:t>. Face aux bots </a:t>
            </a:r>
            <a:r>
              <a:rPr dirty="0" err="1"/>
              <a:t>figés</a:t>
            </a:r>
            <a:r>
              <a:rPr dirty="0"/>
              <a:t> de la </a:t>
            </a:r>
            <a:r>
              <a:rPr dirty="0" err="1"/>
              <a:t>campagne</a:t>
            </a:r>
            <a:r>
              <a:rPr dirty="0"/>
              <a:t>, </a:t>
            </a:r>
            <a:r>
              <a:rPr dirty="0" err="1"/>
              <a:t>abandonner</a:t>
            </a:r>
            <a:r>
              <a:rPr dirty="0"/>
              <a:t> le mélange ne </a:t>
            </a:r>
            <a:r>
              <a:rPr dirty="0" err="1"/>
              <a:t>coûte</a:t>
            </a:r>
            <a:r>
              <a:rPr dirty="0"/>
              <a:t> rien, </a:t>
            </a:r>
            <a:r>
              <a:rPr dirty="0" err="1"/>
              <a:t>c'est</a:t>
            </a:r>
            <a:r>
              <a:rPr dirty="0"/>
              <a:t> un point </a:t>
            </a:r>
            <a:r>
              <a:rPr dirty="0" err="1"/>
              <a:t>d'indifférence</a:t>
            </a:r>
            <a:r>
              <a:rPr dirty="0"/>
              <a:t> exact. Ce </a:t>
            </a:r>
            <a:r>
              <a:rPr dirty="0" err="1"/>
              <a:t>qu'il</a:t>
            </a:r>
            <a:r>
              <a:rPr dirty="0"/>
              <a:t> </a:t>
            </a:r>
            <a:r>
              <a:rPr dirty="0" err="1"/>
              <a:t>coûterait</a:t>
            </a:r>
            <a:r>
              <a:rPr dirty="0"/>
              <a:t> face à un </a:t>
            </a:r>
            <a:r>
              <a:rPr dirty="0" err="1"/>
              <a:t>adversaire</a:t>
            </a:r>
            <a:r>
              <a:rPr dirty="0"/>
              <a:t> capable de </a:t>
            </a:r>
            <a:r>
              <a:rPr dirty="0" err="1"/>
              <a:t>s'ajuster</a:t>
            </a:r>
            <a:r>
              <a:rPr dirty="0"/>
              <a:t> </a:t>
            </a:r>
            <a:r>
              <a:rPr dirty="0" err="1"/>
              <a:t>relève</a:t>
            </a:r>
            <a:r>
              <a:rPr dirty="0"/>
              <a:t> de la </a:t>
            </a:r>
            <a:r>
              <a:rPr dirty="0" err="1"/>
              <a:t>théorie</a:t>
            </a:r>
            <a:r>
              <a:rPr dirty="0"/>
              <a:t>, et </a:t>
            </a:r>
            <a:r>
              <a:rPr dirty="0" err="1"/>
              <a:t>cet</a:t>
            </a:r>
            <a:r>
              <a:rPr dirty="0"/>
              <a:t> </a:t>
            </a:r>
            <a:r>
              <a:rPr dirty="0" err="1"/>
              <a:t>adversaire</a:t>
            </a:r>
            <a:r>
              <a:rPr dirty="0"/>
              <a:t> est hors </a:t>
            </a:r>
            <a:r>
              <a:rPr dirty="0" err="1"/>
              <a:t>périmètre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La </a:t>
            </a:r>
            <a:r>
              <a:rPr dirty="0" err="1"/>
              <a:t>formule</a:t>
            </a:r>
            <a:r>
              <a:rPr dirty="0"/>
              <a:t> à </a:t>
            </a:r>
            <a:r>
              <a:rPr dirty="0" err="1"/>
              <a:t>retenir</a:t>
            </a:r>
            <a:r>
              <a:rPr dirty="0"/>
              <a:t> est </a:t>
            </a:r>
            <a:r>
              <a:rPr dirty="0" err="1"/>
              <a:t>donc</a:t>
            </a:r>
            <a:r>
              <a:rPr dirty="0"/>
              <a:t> </a:t>
            </a:r>
            <a:r>
              <a:rPr dirty="0" err="1"/>
              <a:t>qu'un</a:t>
            </a:r>
            <a:r>
              <a:rPr dirty="0"/>
              <a:t> agent </a:t>
            </a:r>
            <a:r>
              <a:rPr dirty="0" err="1"/>
              <a:t>doté</a:t>
            </a:r>
            <a:r>
              <a:rPr dirty="0"/>
              <a:t> de </a:t>
            </a:r>
            <a:r>
              <a:rPr dirty="0" err="1"/>
              <a:t>mémoire</a:t>
            </a:r>
            <a:r>
              <a:rPr dirty="0"/>
              <a:t> est un </a:t>
            </a:r>
            <a:r>
              <a:rPr dirty="0" err="1"/>
              <a:t>meilleur</a:t>
            </a:r>
            <a:r>
              <a:rPr dirty="0"/>
              <a:t> </a:t>
            </a:r>
            <a:r>
              <a:rPr dirty="0" err="1"/>
              <a:t>exploiteur</a:t>
            </a:r>
            <a:r>
              <a:rPr dirty="0"/>
              <a:t> et un </a:t>
            </a:r>
            <a:r>
              <a:rPr dirty="0" err="1"/>
              <a:t>adversaire</a:t>
            </a:r>
            <a:r>
              <a:rPr dirty="0"/>
              <a:t> plus </a:t>
            </a:r>
            <a:r>
              <a:rPr dirty="0" err="1"/>
              <a:t>prévisible</a:t>
            </a:r>
            <a:r>
              <a:rPr dirty="0"/>
              <a:t>. Dans </a:t>
            </a:r>
            <a:r>
              <a:rPr dirty="0" err="1"/>
              <a:t>une</a:t>
            </a:r>
            <a:r>
              <a:rPr dirty="0"/>
              <a:t> interaction </a:t>
            </a:r>
            <a:r>
              <a:rPr dirty="0" err="1"/>
              <a:t>répétée</a:t>
            </a:r>
            <a:r>
              <a:rPr dirty="0"/>
              <a:t> avec un </a:t>
            </a:r>
            <a:r>
              <a:rPr dirty="0" err="1"/>
              <a:t>partenaire</a:t>
            </a:r>
            <a:r>
              <a:rPr dirty="0"/>
              <a:t> qui </a:t>
            </a:r>
            <a:r>
              <a:rPr dirty="0" err="1"/>
              <a:t>apprend</a:t>
            </a:r>
            <a:r>
              <a:rPr dirty="0"/>
              <a:t>, la </a:t>
            </a:r>
            <a:r>
              <a:rPr dirty="0" err="1"/>
              <a:t>seconde</a:t>
            </a:r>
            <a:r>
              <a:rPr dirty="0"/>
              <a:t> </a:t>
            </a:r>
            <a:r>
              <a:rPr dirty="0" err="1"/>
              <a:t>propriété</a:t>
            </a:r>
            <a:r>
              <a:rPr dirty="0"/>
              <a:t>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annuler</a:t>
            </a:r>
            <a:r>
              <a:rPr dirty="0"/>
              <a:t> la première.</a:t>
            </a:r>
          </a:p>
        </p:txBody>
      </p:sp>
      <p:sp>
        <p:nvSpPr>
          <p:cNvPr id="110" name="Google Shape;110;g3fb2f260372_1_17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b2f260372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17" name="Google Shape;117;g3fb2f260372_1_14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None/>
            </a:pPr>
            <a:r>
              <a:rPr dirty="0"/>
              <a:t>Je </a:t>
            </a:r>
            <a:r>
              <a:rPr dirty="0" err="1"/>
              <a:t>préfère</a:t>
            </a:r>
            <a:r>
              <a:rPr dirty="0"/>
              <a:t> </a:t>
            </a:r>
            <a:r>
              <a:rPr dirty="0" err="1"/>
              <a:t>énoncer</a:t>
            </a:r>
            <a:r>
              <a:rPr dirty="0"/>
              <a:t> les </a:t>
            </a:r>
            <a:r>
              <a:rPr dirty="0" err="1"/>
              <a:t>limites</a:t>
            </a:r>
            <a:r>
              <a:rPr dirty="0"/>
              <a:t> moi-</a:t>
            </a:r>
            <a:r>
              <a:rPr dirty="0" err="1"/>
              <a:t>même</a:t>
            </a:r>
            <a:r>
              <a:rPr dirty="0"/>
              <a:t>, </a:t>
            </a:r>
            <a:r>
              <a:rPr dirty="0" err="1"/>
              <a:t>franchement</a:t>
            </a:r>
            <a:r>
              <a:rPr dirty="0"/>
              <a:t>, </a:t>
            </a:r>
            <a:r>
              <a:rPr dirty="0" err="1"/>
              <a:t>plutôt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de les </a:t>
            </a:r>
            <a:r>
              <a:rPr dirty="0" err="1"/>
              <a:t>laisser</a:t>
            </a:r>
            <a:r>
              <a:rPr dirty="0"/>
              <a:t> </a:t>
            </a:r>
            <a:r>
              <a:rPr dirty="0" err="1"/>
              <a:t>venir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question.</a:t>
            </a:r>
          </a:p>
          <a:p>
            <a:pPr>
              <a:buNone/>
            </a:pPr>
            <a:r>
              <a:rPr dirty="0"/>
              <a:t>Le </a:t>
            </a:r>
            <a:r>
              <a:rPr dirty="0" err="1"/>
              <a:t>dispositif</a:t>
            </a:r>
            <a:r>
              <a:rPr dirty="0"/>
              <a:t> est </a:t>
            </a:r>
            <a:r>
              <a:rPr dirty="0" err="1"/>
              <a:t>restreint</a:t>
            </a:r>
            <a:r>
              <a:rPr dirty="0"/>
              <a:t> : trois </a:t>
            </a:r>
            <a:r>
              <a:rPr dirty="0" err="1"/>
              <a:t>réplications</a:t>
            </a:r>
            <a:r>
              <a:rPr dirty="0"/>
              <a:t>, un </a:t>
            </a:r>
            <a:r>
              <a:rPr dirty="0" err="1"/>
              <a:t>modèle</a:t>
            </a:r>
            <a:r>
              <a:rPr dirty="0"/>
              <a:t>,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tâche</a:t>
            </a:r>
            <a:r>
              <a:rPr dirty="0"/>
              <a:t>, un horizon de dix </a:t>
            </a:r>
            <a:r>
              <a:rPr dirty="0" err="1"/>
              <a:t>séries</a:t>
            </a:r>
            <a:r>
              <a:rPr dirty="0"/>
              <a:t>. </a:t>
            </a:r>
            <a:r>
              <a:rPr dirty="0" err="1"/>
              <a:t>L'appariement</a:t>
            </a:r>
            <a:r>
              <a:rPr dirty="0"/>
              <a:t> </a:t>
            </a:r>
            <a:r>
              <a:rPr dirty="0" err="1"/>
              <a:t>compense</a:t>
            </a:r>
            <a:r>
              <a:rPr dirty="0"/>
              <a:t> la faiblesse de </a:t>
            </a:r>
            <a:r>
              <a:rPr dirty="0" err="1"/>
              <a:t>l'effectif</a:t>
            </a:r>
            <a:r>
              <a:rPr dirty="0"/>
              <a:t>, il ne </a:t>
            </a:r>
            <a:r>
              <a:rPr dirty="0" err="1"/>
              <a:t>l'annule</a:t>
            </a:r>
            <a:r>
              <a:rPr dirty="0"/>
              <a:t> pas. Le plateau </a:t>
            </a:r>
            <a:r>
              <a:rPr dirty="0" err="1"/>
              <a:t>étant</a:t>
            </a:r>
            <a:r>
              <a:rPr dirty="0"/>
              <a:t> </a:t>
            </a:r>
            <a:r>
              <a:rPr dirty="0" err="1"/>
              <a:t>atteint</a:t>
            </a:r>
            <a:r>
              <a:rPr dirty="0"/>
              <a:t> </a:t>
            </a:r>
            <a:r>
              <a:rPr dirty="0" err="1"/>
              <a:t>dès</a:t>
            </a:r>
            <a:r>
              <a:rPr dirty="0"/>
              <a:t> les premières </a:t>
            </a:r>
            <a:r>
              <a:rPr dirty="0" err="1"/>
              <a:t>frontières</a:t>
            </a:r>
            <a:r>
              <a:rPr dirty="0"/>
              <a:t>, je </a:t>
            </a:r>
            <a:r>
              <a:rPr dirty="0" err="1"/>
              <a:t>mesure</a:t>
            </a:r>
            <a:r>
              <a:rPr dirty="0"/>
              <a:t> bien la </a:t>
            </a:r>
            <a:r>
              <a:rPr dirty="0" err="1"/>
              <a:t>persistance</a:t>
            </a:r>
            <a:r>
              <a:rPr dirty="0"/>
              <a:t> de </a:t>
            </a:r>
            <a:r>
              <a:rPr dirty="0" err="1"/>
              <a:t>l'adaptation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je </a:t>
            </a:r>
            <a:r>
              <a:rPr dirty="0" err="1"/>
              <a:t>résous</a:t>
            </a:r>
            <a:r>
              <a:rPr dirty="0"/>
              <a:t> mal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vitesse</a:t>
            </a:r>
            <a:r>
              <a:rPr dirty="0"/>
              <a:t> : les </a:t>
            </a:r>
            <a:r>
              <a:rPr dirty="0" err="1"/>
              <a:t>séries</a:t>
            </a:r>
            <a:r>
              <a:rPr dirty="0"/>
              <a:t> </a:t>
            </a:r>
            <a:r>
              <a:rPr dirty="0" err="1"/>
              <a:t>suivantes</a:t>
            </a:r>
            <a:r>
              <a:rPr dirty="0"/>
              <a:t> </a:t>
            </a:r>
            <a:r>
              <a:rPr dirty="0" err="1"/>
              <a:t>documentent</a:t>
            </a:r>
            <a:r>
              <a:rPr dirty="0"/>
              <a:t> un état stable, pas la </a:t>
            </a:r>
            <a:r>
              <a:rPr dirty="0" err="1"/>
              <a:t>dynamique</a:t>
            </a:r>
            <a:r>
              <a:rPr dirty="0"/>
              <a:t> qui y conduit. Le </a:t>
            </a:r>
            <a:r>
              <a:rPr dirty="0" err="1"/>
              <a:t>contrôle</a:t>
            </a:r>
            <a:r>
              <a:rPr dirty="0"/>
              <a:t> </a:t>
            </a:r>
            <a:r>
              <a:rPr dirty="0" err="1"/>
              <a:t>négatif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pas </a:t>
            </a:r>
            <a:r>
              <a:rPr dirty="0" err="1"/>
              <a:t>été</a:t>
            </a:r>
            <a:r>
              <a:rPr dirty="0"/>
              <a:t> conduit </a:t>
            </a:r>
            <a:r>
              <a:rPr dirty="0" err="1"/>
              <a:t>en</a:t>
            </a:r>
            <a:r>
              <a:rPr dirty="0"/>
              <a:t> condition de </a:t>
            </a:r>
            <a:r>
              <a:rPr dirty="0" err="1"/>
              <a:t>réinjection</a:t>
            </a:r>
            <a:r>
              <a:rPr dirty="0"/>
              <a:t>, arbitrage de </a:t>
            </a:r>
            <a:r>
              <a:rPr dirty="0" err="1"/>
              <a:t>dimensionnement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j'assume</a:t>
            </a:r>
            <a:r>
              <a:rPr dirty="0"/>
              <a:t>. Et la </a:t>
            </a:r>
            <a:r>
              <a:rPr dirty="0" err="1"/>
              <a:t>dégénérescence</a:t>
            </a:r>
            <a:r>
              <a:rPr dirty="0"/>
              <a:t> repose sur un seul ensemble </a:t>
            </a:r>
            <a:r>
              <a:rPr dirty="0" err="1"/>
              <a:t>d'information</a:t>
            </a:r>
            <a:r>
              <a:rPr dirty="0"/>
              <a:t>.</a:t>
            </a:r>
          </a:p>
          <a:p>
            <a:pPr>
              <a:buNone/>
            </a:pPr>
            <a:r>
              <a:rPr dirty="0" err="1"/>
              <a:t>J'ajoute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limite</a:t>
            </a:r>
            <a:r>
              <a:rPr dirty="0"/>
              <a:t> qui ne figure pas au tableau,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qu'elle</a:t>
            </a:r>
            <a:r>
              <a:rPr dirty="0"/>
              <a:t> </a:t>
            </a:r>
            <a:r>
              <a:rPr dirty="0" err="1"/>
              <a:t>porte</a:t>
            </a:r>
            <a:r>
              <a:rPr dirty="0"/>
              <a:t> sur la </a:t>
            </a:r>
            <a:r>
              <a:rPr dirty="0" err="1"/>
              <a:t>portée</a:t>
            </a:r>
            <a:r>
              <a:rPr dirty="0"/>
              <a:t> de </a:t>
            </a:r>
            <a:r>
              <a:rPr dirty="0" err="1"/>
              <a:t>mes</a:t>
            </a:r>
            <a:r>
              <a:rPr dirty="0"/>
              <a:t> conclusions : il </a:t>
            </a:r>
            <a:r>
              <a:rPr dirty="0" err="1"/>
              <a:t>n'y</a:t>
            </a:r>
            <a:r>
              <a:rPr dirty="0"/>
              <a:t> a pas de bras </a:t>
            </a:r>
            <a:r>
              <a:rPr dirty="0" err="1"/>
              <a:t>humain</a:t>
            </a:r>
            <a:r>
              <a:rPr dirty="0"/>
              <a:t>. Le second </a:t>
            </a:r>
            <a:r>
              <a:rPr dirty="0" err="1"/>
              <a:t>terme</a:t>
            </a:r>
            <a:r>
              <a:rPr dirty="0"/>
              <a:t> de ma </a:t>
            </a:r>
            <a:r>
              <a:rPr dirty="0" err="1"/>
              <a:t>problématique</a:t>
            </a:r>
            <a:r>
              <a:rPr dirty="0"/>
              <a:t>, </a:t>
            </a:r>
            <a:r>
              <a:rPr dirty="0" err="1"/>
              <a:t>celui</a:t>
            </a:r>
            <a:r>
              <a:rPr dirty="0"/>
              <a:t> qui </a:t>
            </a:r>
            <a:r>
              <a:rPr dirty="0" err="1"/>
              <a:t>demandait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l'adaptation</a:t>
            </a:r>
            <a:r>
              <a:rPr dirty="0"/>
              <a:t> </a:t>
            </a:r>
            <a:r>
              <a:rPr dirty="0" err="1"/>
              <a:t>reproduit</a:t>
            </a:r>
            <a:r>
              <a:rPr dirty="0"/>
              <a:t> les </a:t>
            </a:r>
            <a:r>
              <a:rPr dirty="0" err="1"/>
              <a:t>biais</a:t>
            </a:r>
            <a:r>
              <a:rPr dirty="0"/>
              <a:t> </a:t>
            </a:r>
            <a:r>
              <a:rPr dirty="0" err="1"/>
              <a:t>humains</a:t>
            </a:r>
            <a:r>
              <a:rPr dirty="0"/>
              <a:t>, </a:t>
            </a:r>
            <a:r>
              <a:rPr dirty="0" err="1"/>
              <a:t>n'a</a:t>
            </a:r>
            <a:r>
              <a:rPr dirty="0"/>
              <a:t> </a:t>
            </a:r>
            <a:r>
              <a:rPr dirty="0" err="1"/>
              <a:t>donc</a:t>
            </a:r>
            <a:r>
              <a:rPr dirty="0"/>
              <a:t> pas de </a:t>
            </a:r>
            <a:r>
              <a:rPr dirty="0" err="1"/>
              <a:t>comparateur</a:t>
            </a:r>
            <a:r>
              <a:rPr dirty="0"/>
              <a:t> </a:t>
            </a:r>
            <a:r>
              <a:rPr dirty="0" err="1"/>
              <a:t>mesuré</a:t>
            </a:r>
            <a:r>
              <a:rPr dirty="0"/>
              <a:t>, et je ne </a:t>
            </a:r>
            <a:r>
              <a:rPr dirty="0" err="1"/>
              <a:t>qualifierai</a:t>
            </a:r>
            <a:r>
              <a:rPr dirty="0"/>
              <a:t> pas de </a:t>
            </a:r>
            <a:r>
              <a:rPr dirty="0" err="1"/>
              <a:t>biais</a:t>
            </a:r>
            <a:r>
              <a:rPr dirty="0"/>
              <a:t> </a:t>
            </a:r>
            <a:r>
              <a:rPr dirty="0" err="1"/>
              <a:t>humain</a:t>
            </a:r>
            <a:r>
              <a:rPr dirty="0"/>
              <a:t> un </a:t>
            </a:r>
            <a:r>
              <a:rPr dirty="0" err="1"/>
              <a:t>comportement</a:t>
            </a:r>
            <a:r>
              <a:rPr dirty="0"/>
              <a:t> </a:t>
            </a:r>
            <a:r>
              <a:rPr dirty="0" err="1"/>
              <a:t>qu'aucun</a:t>
            </a:r>
            <a:r>
              <a:rPr dirty="0"/>
              <a:t> </a:t>
            </a:r>
            <a:r>
              <a:rPr dirty="0" err="1"/>
              <a:t>humain</a:t>
            </a:r>
            <a:r>
              <a:rPr dirty="0"/>
              <a:t> </a:t>
            </a:r>
            <a:r>
              <a:rPr dirty="0" err="1"/>
              <a:t>n'a</a:t>
            </a:r>
            <a:r>
              <a:rPr dirty="0"/>
              <a:t> </a:t>
            </a:r>
            <a:r>
              <a:rPr dirty="0" err="1"/>
              <a:t>produit</a:t>
            </a:r>
            <a:r>
              <a:rPr dirty="0"/>
              <a:t> </a:t>
            </a:r>
            <a:r>
              <a:rPr dirty="0" err="1"/>
              <a:t>ici</a:t>
            </a:r>
            <a:r>
              <a:rPr dirty="0"/>
              <a:t>. Ce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j'affirme</a:t>
            </a:r>
            <a:r>
              <a:rPr dirty="0"/>
              <a:t> est plus </a:t>
            </a:r>
            <a:r>
              <a:rPr dirty="0" err="1"/>
              <a:t>étroit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question, et plus </a:t>
            </a:r>
            <a:r>
              <a:rPr dirty="0" err="1"/>
              <a:t>solide</a:t>
            </a:r>
            <a:r>
              <a:rPr dirty="0"/>
              <a:t> : </a:t>
            </a:r>
            <a:r>
              <a:rPr dirty="0" err="1"/>
              <a:t>l'agent</a:t>
            </a:r>
            <a:r>
              <a:rPr dirty="0"/>
              <a:t> </a:t>
            </a:r>
            <a:r>
              <a:rPr dirty="0" err="1"/>
              <a:t>construit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stratégie</a:t>
            </a:r>
            <a:r>
              <a:rPr dirty="0"/>
              <a:t>, il </a:t>
            </a:r>
            <a:r>
              <a:rPr dirty="0" err="1"/>
              <a:t>l'optimise</a:t>
            </a:r>
            <a:r>
              <a:rPr dirty="0"/>
              <a:t> </a:t>
            </a:r>
            <a:r>
              <a:rPr dirty="0" err="1"/>
              <a:t>correctement</a:t>
            </a:r>
            <a:r>
              <a:rPr dirty="0"/>
              <a:t>, et il le fait dans un </a:t>
            </a:r>
            <a:r>
              <a:rPr dirty="0" err="1"/>
              <a:t>espace</a:t>
            </a:r>
            <a:r>
              <a:rPr dirty="0"/>
              <a:t> de </a:t>
            </a:r>
            <a:r>
              <a:rPr dirty="0" err="1"/>
              <a:t>stratégies</a:t>
            </a:r>
            <a:r>
              <a:rPr dirty="0"/>
              <a:t> </a:t>
            </a:r>
            <a:r>
              <a:rPr dirty="0" err="1"/>
              <a:t>pures</a:t>
            </a:r>
            <a:r>
              <a:rPr dirty="0"/>
              <a:t> </a:t>
            </a:r>
            <a:r>
              <a:rPr dirty="0" err="1"/>
              <a:t>parce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 canal qui </a:t>
            </a:r>
            <a:r>
              <a:rPr dirty="0" err="1"/>
              <a:t>porte</a:t>
            </a:r>
            <a:r>
              <a:rPr dirty="0"/>
              <a:t> son adaptation ne </a:t>
            </a:r>
            <a:r>
              <a:rPr dirty="0" err="1"/>
              <a:t>sait</a:t>
            </a:r>
            <a:r>
              <a:rPr dirty="0"/>
              <a:t> rien </a:t>
            </a:r>
            <a:r>
              <a:rPr dirty="0" err="1"/>
              <a:t>écrire</a:t>
            </a:r>
            <a:r>
              <a:rPr dirty="0"/>
              <a:t> </a:t>
            </a:r>
            <a:r>
              <a:rPr dirty="0" err="1"/>
              <a:t>d'autre</a:t>
            </a:r>
            <a:r>
              <a:rPr dirty="0"/>
              <a:t>.</a:t>
            </a:r>
          </a:p>
          <a:p>
            <a:pPr>
              <a:buNone/>
            </a:pPr>
            <a:r>
              <a:rPr dirty="0"/>
              <a:t>Les </a:t>
            </a:r>
            <a:r>
              <a:rPr dirty="0" err="1"/>
              <a:t>prolongements</a:t>
            </a:r>
            <a:r>
              <a:rPr dirty="0"/>
              <a:t> </a:t>
            </a:r>
            <a:r>
              <a:rPr dirty="0" err="1"/>
              <a:t>suivent</a:t>
            </a:r>
            <a:r>
              <a:rPr dirty="0"/>
              <a:t>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limites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à </a:t>
            </a:r>
            <a:r>
              <a:rPr dirty="0" err="1"/>
              <a:t>une</a:t>
            </a:r>
            <a:r>
              <a:rPr dirty="0"/>
              <a:t>. Des </a:t>
            </a:r>
            <a:r>
              <a:rPr dirty="0" err="1"/>
              <a:t>séries</a:t>
            </a:r>
            <a:r>
              <a:rPr dirty="0"/>
              <a:t> plus </a:t>
            </a:r>
            <a:r>
              <a:rPr dirty="0" err="1"/>
              <a:t>courtes</a:t>
            </a:r>
            <a:r>
              <a:rPr dirty="0"/>
              <a:t> et plus </a:t>
            </a:r>
            <a:r>
              <a:rPr dirty="0" err="1"/>
              <a:t>nombreuses</a:t>
            </a:r>
            <a:r>
              <a:rPr dirty="0"/>
              <a:t> pour </a:t>
            </a:r>
            <a:r>
              <a:rPr dirty="0" err="1"/>
              <a:t>cerner</a:t>
            </a:r>
            <a:r>
              <a:rPr dirty="0"/>
              <a:t> la </a:t>
            </a:r>
            <a:r>
              <a:rPr dirty="0" err="1"/>
              <a:t>vitesse</a:t>
            </a:r>
            <a:r>
              <a:rPr dirty="0"/>
              <a:t> et </a:t>
            </a:r>
            <a:r>
              <a:rPr dirty="0" err="1"/>
              <a:t>l'oubli</a:t>
            </a:r>
            <a:r>
              <a:rPr dirty="0"/>
              <a:t>. Un jeu </a:t>
            </a:r>
            <a:r>
              <a:rPr dirty="0" err="1"/>
              <a:t>comportant</a:t>
            </a:r>
            <a:r>
              <a:rPr dirty="0"/>
              <a:t> </a:t>
            </a:r>
            <a:r>
              <a:rPr dirty="0" err="1"/>
              <a:t>plusieurs</a:t>
            </a:r>
            <a:r>
              <a:rPr dirty="0"/>
              <a:t> ensembles </a:t>
            </a:r>
            <a:r>
              <a:rPr dirty="0" err="1"/>
              <a:t>d'information</a:t>
            </a:r>
            <a:r>
              <a:rPr dirty="0"/>
              <a:t> à </a:t>
            </a:r>
            <a:r>
              <a:rPr dirty="0" err="1"/>
              <a:t>équilibre</a:t>
            </a:r>
            <a:r>
              <a:rPr dirty="0"/>
              <a:t> mixte, et </a:t>
            </a:r>
            <a:r>
              <a:rPr dirty="0" err="1"/>
              <a:t>plusieurs</a:t>
            </a:r>
            <a:r>
              <a:rPr dirty="0"/>
              <a:t> </a:t>
            </a:r>
            <a:r>
              <a:rPr dirty="0" err="1"/>
              <a:t>modèles</a:t>
            </a:r>
            <a:r>
              <a:rPr dirty="0"/>
              <a:t>. Un </a:t>
            </a:r>
            <a:r>
              <a:rPr dirty="0" err="1"/>
              <a:t>adversaire</a:t>
            </a:r>
            <a:r>
              <a:rPr dirty="0"/>
              <a:t> </a:t>
            </a:r>
            <a:r>
              <a:rPr dirty="0" err="1"/>
              <a:t>biaisé</a:t>
            </a:r>
            <a:r>
              <a:rPr dirty="0"/>
              <a:t> </a:t>
            </a:r>
            <a:r>
              <a:rPr dirty="0" err="1"/>
              <a:t>puis</a:t>
            </a:r>
            <a:r>
              <a:rPr dirty="0"/>
              <a:t> à </a:t>
            </a:r>
            <a:r>
              <a:rPr dirty="0" err="1"/>
              <a:t>l'équilibre</a:t>
            </a:r>
            <a:r>
              <a:rPr dirty="0"/>
              <a:t>, </a:t>
            </a:r>
            <a:r>
              <a:rPr dirty="0" err="1"/>
              <a:t>mémoire</a:t>
            </a:r>
            <a:r>
              <a:rPr dirty="0"/>
              <a:t> </a:t>
            </a:r>
            <a:r>
              <a:rPr dirty="0" err="1"/>
              <a:t>conservée</a:t>
            </a:r>
            <a:r>
              <a:rPr dirty="0"/>
              <a:t>, pour savoir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l'exploitation</a:t>
            </a:r>
            <a:r>
              <a:rPr dirty="0"/>
              <a:t> apprise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charge. Le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protocole</a:t>
            </a:r>
            <a:r>
              <a:rPr dirty="0"/>
              <a:t> </a:t>
            </a:r>
            <a:r>
              <a:rPr dirty="0" err="1"/>
              <a:t>joué</a:t>
            </a:r>
            <a:r>
              <a:rPr dirty="0"/>
              <a:t> par des </a:t>
            </a:r>
            <a:r>
              <a:rPr dirty="0" err="1"/>
              <a:t>humains</a:t>
            </a:r>
            <a:r>
              <a:rPr dirty="0"/>
              <a:t>, pour la </a:t>
            </a:r>
            <a:r>
              <a:rPr dirty="0" err="1"/>
              <a:t>référence</a:t>
            </a:r>
            <a:r>
              <a:rPr dirty="0"/>
              <a:t> </a:t>
            </a:r>
            <a:r>
              <a:rPr dirty="0" err="1"/>
              <a:t>manquante</a:t>
            </a:r>
            <a:r>
              <a:rPr dirty="0"/>
              <a:t>. Et </a:t>
            </a:r>
            <a:r>
              <a:rPr dirty="0" err="1"/>
              <a:t>l'adversaire</a:t>
            </a:r>
            <a:r>
              <a:rPr dirty="0"/>
              <a:t> </a:t>
            </a:r>
            <a:r>
              <a:rPr dirty="0" err="1"/>
              <a:t>lui-même</a:t>
            </a:r>
            <a:r>
              <a:rPr dirty="0"/>
              <a:t> </a:t>
            </a:r>
            <a:r>
              <a:rPr dirty="0" err="1"/>
              <a:t>doté</a:t>
            </a:r>
            <a:r>
              <a:rPr dirty="0"/>
              <a:t> d'un </a:t>
            </a:r>
            <a:r>
              <a:rPr dirty="0" err="1"/>
              <a:t>modèle</a:t>
            </a:r>
            <a:r>
              <a:rPr dirty="0"/>
              <a:t> de </a:t>
            </a:r>
            <a:r>
              <a:rPr dirty="0" err="1"/>
              <a:t>langage</a:t>
            </a:r>
            <a:r>
              <a:rPr dirty="0"/>
              <a:t>, </a:t>
            </a:r>
            <a:r>
              <a:rPr dirty="0" err="1"/>
              <a:t>ce</a:t>
            </a:r>
            <a:r>
              <a:rPr dirty="0"/>
              <a:t> qui </a:t>
            </a:r>
            <a:r>
              <a:rPr dirty="0" err="1"/>
              <a:t>ferait</a:t>
            </a:r>
            <a:r>
              <a:rPr dirty="0"/>
              <a:t> de la </a:t>
            </a:r>
            <a:r>
              <a:rPr dirty="0" err="1"/>
              <a:t>prévisibilité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variable </a:t>
            </a:r>
            <a:r>
              <a:rPr dirty="0" err="1"/>
              <a:t>dynamique</a:t>
            </a:r>
            <a:r>
              <a:rPr dirty="0"/>
              <a:t> </a:t>
            </a:r>
            <a:r>
              <a:rPr dirty="0" err="1"/>
              <a:t>plutôt</a:t>
            </a:r>
            <a:r>
              <a:rPr dirty="0"/>
              <a:t> </a:t>
            </a:r>
            <a:r>
              <a:rPr dirty="0" err="1"/>
              <a:t>qu'une</a:t>
            </a:r>
            <a:r>
              <a:rPr dirty="0"/>
              <a:t> observation.</a:t>
            </a:r>
          </a:p>
          <a:p>
            <a:pPr>
              <a:buNone/>
            </a:pPr>
            <a:r>
              <a:rPr dirty="0"/>
              <a:t>Merci. Je suis à </a:t>
            </a:r>
            <a:r>
              <a:rPr dirty="0" err="1"/>
              <a:t>votre</a:t>
            </a:r>
            <a:r>
              <a:rPr dirty="0"/>
              <a:t> disposition.</a:t>
            </a:r>
          </a:p>
        </p:txBody>
      </p:sp>
      <p:sp>
        <p:nvSpPr>
          <p:cNvPr id="118" name="Google Shape;118;g3fb2f260372_1_14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40075" y="2301000"/>
            <a:ext cx="7132200" cy="58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lang="fr" sz="3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Soutenance de mémoire  </a:t>
            </a:r>
            <a:endParaRPr sz="340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640079" y="3070690"/>
            <a:ext cx="720344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0C0C8"/>
              </a:buClr>
              <a:buSzPts val="1500"/>
              <a:buFont typeface="Calibri"/>
              <a:buNone/>
            </a:pPr>
            <a:r>
              <a:rPr lang="fr" sz="1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Sujet : Dans un environnement stratégique à information imparfaite, un agent LLM autonome équipé d'une mémoire persistante développe-t-il une adaptation comportementale s'apparentant à une stratégie ?</a:t>
            </a:r>
            <a:endParaRPr sz="150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4" name="Google Shape;14;p3"/>
          <p:cNvCxnSpPr/>
          <p:nvPr/>
        </p:nvCxnSpPr>
        <p:spPr>
          <a:xfrm>
            <a:off x="640080" y="3756490"/>
            <a:ext cx="2560200" cy="0"/>
          </a:xfrm>
          <a:prstGeom prst="straightConnector1">
            <a:avLst/>
          </a:prstGeom>
          <a:noFill/>
          <a:ln w="19050" cap="flat" cmpd="sng">
            <a:solidFill>
              <a:srgbClr val="9933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3"/>
          <p:cNvSpPr/>
          <p:nvPr/>
        </p:nvSpPr>
        <p:spPr>
          <a:xfrm>
            <a:off x="640075" y="3905411"/>
            <a:ext cx="7802885" cy="58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E0C0C5"/>
              </a:buClr>
              <a:buSzPts val="1200"/>
            </a:pPr>
            <a:r>
              <a:rPr lang="fr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Léo Videt                                                                                                                                                                  </a:t>
            </a:r>
            <a:r>
              <a:rPr lang="fr-FR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Septembre 2026</a:t>
            </a:r>
            <a:endParaRPr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75" y="1415221"/>
            <a:ext cx="2410608" cy="801504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7438025" y="4248500"/>
            <a:ext cx="1109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C0C5"/>
              </a:buClr>
              <a:buSzPts val="1200"/>
              <a:buFont typeface="Calibri"/>
              <a:buNone/>
            </a:pPr>
            <a:endParaRPr sz="120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Logo 2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Shape 2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1. Motivations</a:t>
            </a:r>
          </a:p>
        </p:txBody>
      </p:sp>
      <p:sp>
        <p:nvSpPr>
          <p:cNvPr id="204" name="Shape 204"/>
          <p:cNvSpPr/>
          <p:nvPr/>
        </p:nvSpPr>
        <p:spPr>
          <a:xfrm>
            <a:off x="457199" y="960120"/>
            <a:ext cx="8229599" cy="246888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Shape 205"/>
          <p:cNvSpPr/>
          <p:nvPr/>
        </p:nvSpPr>
        <p:spPr>
          <a:xfrm>
            <a:off x="457200" y="960120"/>
            <a:ext cx="38100" cy="246888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Shape 206"/>
          <p:cNvSpPr txBox="1"/>
          <p:nvPr/>
        </p:nvSpPr>
        <p:spPr>
          <a:xfrm>
            <a:off x="457200" y="960120"/>
            <a:ext cx="8229598" cy="246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Les modèles de langage ne produisent pas seulement du texte. 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Agents autonomes : ils négocient des contrats, enchérissent, fixent des prix, arbitrent des allocations.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Face à d'autres agents dont les intérêts divergent des leurs.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L'enjeu est économique : la nature de leur rationalité détermine les équilibres qui se forment sur les marchés.</a:t>
            </a:r>
          </a:p>
          <a:p>
            <a:pPr>
              <a:spcBef>
                <a:spcPts val="500"/>
              </a:spcBef>
              <a:buClr>
                <a:srgbClr val="333333"/>
              </a:buClr>
              <a:buSzPts val="800"/>
            </a:pPr>
            <a:r>
              <a:rPr lang="fr" sz="1300" b="1" dirty="0">
                <a:solidFill>
                  <a:srgbClr val="993333"/>
                </a:solidFill>
                <a:latin typeface="Playfair Display" panose="00000500000000000000" pitchFamily="2" charset="0"/>
                <a:ea typeface="Playfair Display"/>
                <a:cs typeface="Times New Roman" panose="02020603050405020304" pitchFamily="18" charset="0"/>
                <a:sym typeface="Playfair Display"/>
              </a:rPr>
              <a:t>Cas observés à mon echelle </a:t>
            </a:r>
            <a:endParaRPr lang="fr" sz="1300" b="1" dirty="0">
              <a:solidFill>
                <a:srgbClr val="333333"/>
              </a:solidFill>
              <a:latin typeface="Playfair Display" panose="00000500000000000000" pitchFamily="2" charset="0"/>
              <a:ea typeface="Inter"/>
              <a:cs typeface="Times New Roman" panose="02020603050405020304" pitchFamily="18" charset="0"/>
              <a:sym typeface="Inter"/>
            </a:endParaRPr>
          </a:p>
          <a:p>
            <a:pPr marL="205740" lvl="0" indent="-205740">
              <a:spcBef>
                <a:spcPts val="500"/>
              </a:spcBef>
              <a:buClr>
                <a:srgbClr val="333333"/>
              </a:buClr>
              <a:buSzPts val="800"/>
              <a:buFont typeface="Inter"/>
              <a:buChar char="●"/>
            </a:pPr>
            <a:r>
              <a:rPr lang="fr-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L'IA outille, chez FDJ United, un dispositif de veille augmenté où l'analyse automatique filtre plus de 100 articles par semaine.</a:t>
            </a:r>
          </a:p>
          <a:p>
            <a:pPr marL="205740" lvl="0" indent="-205740">
              <a:spcBef>
                <a:spcPts val="500"/>
              </a:spcBef>
              <a:buClr>
                <a:srgbClr val="333333"/>
              </a:buClr>
              <a:buSzPts val="800"/>
              <a:buFont typeface="Inter"/>
              <a:buChar char="●"/>
            </a:pPr>
            <a:r>
              <a:rPr lang="fr-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Elle entre dans les process dans une maison de luxe, 5 cas d'usage prototypés pour le retail. </a:t>
            </a:r>
          </a:p>
          <a:p>
            <a:pPr marL="205740" lvl="0" indent="-205740">
              <a:spcBef>
                <a:spcPts val="500"/>
              </a:spcBef>
              <a:buClr>
                <a:srgbClr val="333333"/>
              </a:buClr>
              <a:buSzPts val="800"/>
              <a:buFont typeface="Inter"/>
              <a:buChar char="●"/>
            </a:pPr>
            <a:r>
              <a:rPr lang="fr-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Dans un groupe industriel, la question posée au COMEX n'est plus l'outil mais la feuille de route.</a:t>
            </a:r>
          </a:p>
          <a:p>
            <a:pPr marL="205740" lvl="0" indent="-205740">
              <a:spcBef>
                <a:spcPts val="500"/>
              </a:spcBef>
              <a:buClr>
                <a:srgbClr val="333333"/>
              </a:buClr>
              <a:buSzPts val="800"/>
              <a:buFont typeface="Inter"/>
              <a:buChar char="●"/>
            </a:pPr>
            <a:r>
              <a:rPr lang="fr-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Puis elle agit seule. J'ai construit un assistant qui cartographie une chaîne de valeur : cinq minutes, contre plusieurs heures.</a:t>
            </a:r>
          </a:p>
          <a:p>
            <a:pPr>
              <a:spcBef>
                <a:spcPts val="500"/>
              </a:spcBef>
              <a:buClr>
                <a:srgbClr val="333333"/>
              </a:buClr>
              <a:buSzPts val="800"/>
            </a:pPr>
            <a:endParaRPr lang="fr" sz="1100" b="1" dirty="0">
              <a:solidFill>
                <a:srgbClr val="993333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213" name="Shape 213"/>
          <p:cNvSpPr/>
          <p:nvPr/>
        </p:nvSpPr>
        <p:spPr>
          <a:xfrm>
            <a:off x="457198" y="3703320"/>
            <a:ext cx="8229600" cy="868680"/>
          </a:xfrm>
          <a:prstGeom prst="roundRect">
            <a:avLst>
              <a:gd name="adj" fmla="val 2285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Shape 214"/>
          <p:cNvSpPr txBox="1"/>
          <p:nvPr/>
        </p:nvSpPr>
        <p:spPr>
          <a:xfrm>
            <a:off x="457198" y="3703320"/>
            <a:ext cx="82296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20" tIns="146304" rIns="274320" bIns="14630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E9C9C9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QUESTION DE RECHERCHE</a:t>
            </a:r>
          </a:p>
          <a:p>
            <a:pPr marL="0" lvl="0" indent="0" algn="ctr" rtl="0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fr" sz="1200" b="1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Dans un environnement stratégique à information imparfaite, un agent LLM autonome équipé d'une mémoire persistante développe-t-il une adaptation comportementale s'apparentant à une stratégie ?</a:t>
            </a:r>
            <a:endParaRPr lang="fr" sz="1200" b="1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3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2. Revue de littérature</a:t>
            </a:r>
          </a:p>
        </p:txBody>
      </p:sp>
      <p:sp>
        <p:nvSpPr>
          <p:cNvPr id="304" name="Shape 304"/>
          <p:cNvSpPr/>
          <p:nvPr/>
        </p:nvSpPr>
        <p:spPr>
          <a:xfrm>
            <a:off x="457200" y="960120"/>
            <a:ext cx="2590800" cy="34747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Shape 305"/>
          <p:cNvSpPr/>
          <p:nvPr/>
        </p:nvSpPr>
        <p:spPr>
          <a:xfrm>
            <a:off x="457200" y="960120"/>
            <a:ext cx="38100" cy="34747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Shape 306"/>
          <p:cNvSpPr txBox="1"/>
          <p:nvPr/>
        </p:nvSpPr>
        <p:spPr>
          <a:xfrm>
            <a:off x="457200" y="960120"/>
            <a:ext cx="25908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L’économie comportementale et expérimentale</a:t>
            </a:r>
            <a:endParaRPr lang="fr" sz="900" b="0" dirty="0">
              <a:solidFill>
                <a:srgbClr val="5B657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Substituer à l'Homo economicus un agent psychologiquement situé.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Le laboratoire comme instrument de preuve 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Le biais devient un écart systématique à une norme, un objet structuré</a:t>
            </a:r>
          </a:p>
        </p:txBody>
      </p:sp>
      <p:sp>
        <p:nvSpPr>
          <p:cNvPr id="307" name="Shape 307"/>
          <p:cNvSpPr/>
          <p:nvPr/>
        </p:nvSpPr>
        <p:spPr>
          <a:xfrm>
            <a:off x="3276600" y="960120"/>
            <a:ext cx="2590800" cy="34747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Shape 308"/>
          <p:cNvSpPr/>
          <p:nvPr/>
        </p:nvSpPr>
        <p:spPr>
          <a:xfrm>
            <a:off x="3276600" y="960120"/>
            <a:ext cx="38100" cy="34747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Shape 309"/>
          <p:cNvSpPr txBox="1"/>
          <p:nvPr/>
        </p:nvSpPr>
        <p:spPr>
          <a:xfrm>
            <a:off x="3276600" y="960120"/>
            <a:ext cx="25908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Du laboratoire humain
au laboratoire artificiel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Rahwan et al. (2019) : étudier les machines comme une classe d'acteurs, pas comme du code,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Horton et al. (2026) : le LLM comme modèle computationnel implicite de l'humain, doté par le langage d'une dotation et de croyances.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Simuler l'humain, ou observer une entité artificielle pour elle-même.</a:t>
            </a:r>
          </a:p>
        </p:txBody>
      </p:sp>
      <p:sp>
        <p:nvSpPr>
          <p:cNvPr id="310" name="Shape 310"/>
          <p:cNvSpPr/>
          <p:nvPr/>
        </p:nvSpPr>
        <p:spPr>
          <a:xfrm>
            <a:off x="6096000" y="960120"/>
            <a:ext cx="2590800" cy="34747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Shape 311"/>
          <p:cNvSpPr/>
          <p:nvPr/>
        </p:nvSpPr>
        <p:spPr>
          <a:xfrm>
            <a:off x="6096000" y="960120"/>
            <a:ext cx="38100" cy="34747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Shape 312"/>
          <p:cNvSpPr txBox="1"/>
          <p:nvPr/>
        </p:nvSpPr>
        <p:spPr>
          <a:xfrm>
            <a:off x="6096000" y="960120"/>
            <a:ext cx="25908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 terrain, le poker de Kuhn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Borel (1938) → von Neumann (1944) → Kuhn (1950) : le bluff est rationnel, l'équilibre est en stratégies mixtes.</a:t>
            </a:r>
          </a:p>
        </p:txBody>
      </p:sp>
      <p:pic>
        <p:nvPicPr>
          <p:cNvPr id="6" name="Logo 201">
            <a:extLst>
              <a:ext uri="{FF2B5EF4-FFF2-40B4-BE49-F238E27FC236}">
                <a16:creationId xmlns:a16="http://schemas.microsoft.com/office/drawing/2014/main" id="{1084FEA4-AA8C-54C1-716A-6134C152C8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4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2. Revue de littérature</a:t>
            </a:r>
          </a:p>
        </p:txBody>
      </p:sp>
      <p:sp>
        <p:nvSpPr>
          <p:cNvPr id="404" name="Shape 404"/>
          <p:cNvSpPr/>
          <p:nvPr/>
        </p:nvSpPr>
        <p:spPr>
          <a:xfrm>
            <a:off x="457200" y="960120"/>
            <a:ext cx="2590800" cy="2817055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Shape 405"/>
          <p:cNvSpPr/>
          <p:nvPr/>
        </p:nvSpPr>
        <p:spPr>
          <a:xfrm>
            <a:off x="457199" y="960120"/>
            <a:ext cx="45719" cy="2817055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Shape 406"/>
          <p:cNvSpPr txBox="1"/>
          <p:nvPr/>
        </p:nvSpPr>
        <p:spPr>
          <a:xfrm>
            <a:off x="457200" y="960120"/>
            <a:ext cx="2590800" cy="281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 gradient de persistance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ICL : la fenêtre de contexte comme mémoire de travail volatile. Flexible, mais tout s'effondre à la fermeture de la session.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Gestion sémantique : résumer pour ne pas saturer, au prix des micro-signaux quantitatifs.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RL et fine-tuning  permanent, mais rigide, coûteux, et imitant passivement les biais du jeu de données. </a:t>
            </a:r>
          </a:p>
        </p:txBody>
      </p:sp>
      <p:sp>
        <p:nvSpPr>
          <p:cNvPr id="407" name="Shape 407"/>
          <p:cNvSpPr/>
          <p:nvPr/>
        </p:nvSpPr>
        <p:spPr>
          <a:xfrm>
            <a:off x="3276600" y="960120"/>
            <a:ext cx="2590800" cy="2817055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Shape 408"/>
          <p:cNvSpPr/>
          <p:nvPr/>
        </p:nvSpPr>
        <p:spPr>
          <a:xfrm>
            <a:off x="3276599" y="960120"/>
            <a:ext cx="45719" cy="2817055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Shape 409"/>
          <p:cNvSpPr txBox="1"/>
          <p:nvPr/>
        </p:nvSpPr>
        <p:spPr>
          <a:xfrm>
            <a:off x="3276600" y="960120"/>
            <a:ext cx="2590800" cy="281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La mémoire auto-rédigée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Voyager (Wang et al., 2023) : l'expérience stockée en programmes réutilisables, jamais en poids.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Reflexion (Shinn et al., 2023) : l'agent analyse son échec, rédige une auto-réflexion en langue naturelle, la relit au tour suivant.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Ces architectures sont validées dans des environnements qui ne cherchent jamais à tromper l'agent.</a:t>
            </a:r>
          </a:p>
        </p:txBody>
      </p:sp>
      <p:sp>
        <p:nvSpPr>
          <p:cNvPr id="410" name="Shape 410"/>
          <p:cNvSpPr/>
          <p:nvPr/>
        </p:nvSpPr>
        <p:spPr>
          <a:xfrm>
            <a:off x="6096000" y="960120"/>
            <a:ext cx="2590800" cy="2817055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Shape 411"/>
          <p:cNvSpPr/>
          <p:nvPr/>
        </p:nvSpPr>
        <p:spPr>
          <a:xfrm>
            <a:off x="6095999" y="960120"/>
            <a:ext cx="45719" cy="2817055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Shape 412"/>
          <p:cNvSpPr txBox="1"/>
          <p:nvPr/>
        </p:nvSpPr>
        <p:spPr>
          <a:xfrm>
            <a:off x="6096000" y="960120"/>
            <a:ext cx="2590800" cy="281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 manque, et le positionnement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Information quasi publique, critères d'ingénierie, ou equilibre non calculable.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Trois dimensions confondues : biais de décision, stratégie GTO, stratégie exploitative.</a:t>
            </a:r>
          </a:p>
          <a:p>
            <a:pPr marL="205740" lvl="0" indent="-205740" algn="l" rtl="0">
              <a:spcBef>
                <a:spcPts val="500"/>
              </a:spcBef>
              <a:spcAft>
                <a:spcPts val="0"/>
              </a:spcAft>
              <a:buClr>
                <a:srgbClr val="333333"/>
              </a:buClr>
              <a:buSzPts val="800"/>
              <a:buFont typeface="Inter"/>
              <a:buChar char="●"/>
            </a:pP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Sans mémoire persistante, un agent est condamné à l'équilibre défensif </a:t>
            </a:r>
          </a:p>
        </p:txBody>
      </p:sp>
      <p:pic>
        <p:nvPicPr>
          <p:cNvPr id="4" name="Logo 201">
            <a:extLst>
              <a:ext uri="{FF2B5EF4-FFF2-40B4-BE49-F238E27FC236}">
                <a16:creationId xmlns:a16="http://schemas.microsoft.com/office/drawing/2014/main" id="{AFF9063F-C35E-1509-7DD0-94AC43C0D69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5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3. Méthodologie</a:t>
            </a:r>
          </a:p>
        </p:txBody>
      </p:sp>
      <p:sp>
        <p:nvSpPr>
          <p:cNvPr id="504" name="Shape 504"/>
          <p:cNvSpPr/>
          <p:nvPr/>
        </p:nvSpPr>
        <p:spPr>
          <a:xfrm>
            <a:off x="457200" y="960120"/>
            <a:ext cx="2590800" cy="18745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Shape 505"/>
          <p:cNvSpPr/>
          <p:nvPr/>
        </p:nvSpPr>
        <p:spPr>
          <a:xfrm>
            <a:off x="457200" y="960120"/>
            <a:ext cx="38100" cy="18745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Shape 506"/>
          <p:cNvSpPr txBox="1"/>
          <p:nvPr/>
        </p:nvSpPr>
        <p:spPr>
          <a:xfrm>
            <a:off x="457200" y="960120"/>
            <a:ext cx="2590800" cy="1874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La tâche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Poker de Kuhn :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3 cartes, 1 jeton d'ante, une mise, 12 ensembles d'information.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Vocabulaire réécrit partout</a:t>
            </a:r>
            <a:endParaRPr lang="fr" sz="1100" b="0" dirty="0">
              <a:solidFill>
                <a:srgbClr val="333333"/>
              </a:solidFill>
              <a:latin typeface="Times New Roman" panose="02020603050405020304" pitchFamily="18" charset="0"/>
              <a:ea typeface="Inter"/>
              <a:cs typeface="Times New Roman" panose="02020603050405020304" pitchFamily="18" charset="0"/>
              <a:sym typeface="Inter"/>
            </a:endParaRPr>
          </a:p>
        </p:txBody>
      </p:sp>
      <p:sp>
        <p:nvSpPr>
          <p:cNvPr id="507" name="Shape 507"/>
          <p:cNvSpPr/>
          <p:nvPr/>
        </p:nvSpPr>
        <p:spPr>
          <a:xfrm>
            <a:off x="3276600" y="960120"/>
            <a:ext cx="2590800" cy="18745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Shape 508"/>
          <p:cNvSpPr/>
          <p:nvPr/>
        </p:nvSpPr>
        <p:spPr>
          <a:xfrm>
            <a:off x="3276600" y="960120"/>
            <a:ext cx="38100" cy="18745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Shape 509"/>
          <p:cNvSpPr txBox="1"/>
          <p:nvPr/>
        </p:nvSpPr>
        <p:spPr>
          <a:xfrm>
            <a:off x="3276600" y="960120"/>
            <a:ext cx="2590800" cy="1874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Les trois adversaires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GTO :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équilibre exact (α = 1/3). Rien à exploiter : le contrôle négatif.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Station :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ne mise jamais, paie toujours.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Over-folder :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ne mise jamais, se couche toujours. </a:t>
            </a:r>
          </a:p>
        </p:txBody>
      </p:sp>
      <p:sp>
        <p:nvSpPr>
          <p:cNvPr id="510" name="Shape 510"/>
          <p:cNvSpPr/>
          <p:nvPr/>
        </p:nvSpPr>
        <p:spPr>
          <a:xfrm>
            <a:off x="6096000" y="960120"/>
            <a:ext cx="2590800" cy="18745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Shape 511"/>
          <p:cNvSpPr/>
          <p:nvPr/>
        </p:nvSpPr>
        <p:spPr>
          <a:xfrm>
            <a:off x="6096000" y="960120"/>
            <a:ext cx="38100" cy="18745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Shape 512"/>
          <p:cNvSpPr txBox="1"/>
          <p:nvPr/>
        </p:nvSpPr>
        <p:spPr>
          <a:xfrm>
            <a:off x="6096000" y="960120"/>
            <a:ext cx="2590800" cy="1874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Les trois traitements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SM : 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aucune mémoire. 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ICL :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les récapitulatifs passés empilés, fenêtre de 52 000 caractères (trois séries).</a:t>
            </a:r>
          </a:p>
          <a:p>
            <a:pPr marL="205740" lvl="0" indent="-205740" algn="l" rtl="0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AE :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le fichier de notes que l'agent lit et réécrit lui-même.</a:t>
            </a:r>
          </a:p>
        </p:txBody>
      </p:sp>
      <p:sp>
        <p:nvSpPr>
          <p:cNvPr id="513" name="Shape 5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Shape 514"/>
          <p:cNvSpPr/>
          <p:nvPr/>
        </p:nvSpPr>
        <p:spPr>
          <a:xfrm>
            <a:off x="457200" y="2926080"/>
            <a:ext cx="38100" cy="150876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Shape 515"/>
          <p:cNvSpPr txBox="1"/>
          <p:nvPr/>
        </p:nvSpPr>
        <p:spPr>
          <a:xfrm>
            <a:off x="457200" y="2926080"/>
            <a:ext cx="8229600" cy="1508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La série</a:t>
            </a:r>
          </a:p>
          <a:p>
            <a:pPr marL="205740" lvl="0" indent="-205740" algn="l" rtl="0">
              <a:spcBef>
                <a:spcPts val="32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Une série = K = 150 manches jouées sous un état mémoire fixe.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Un point de courbe correspond à un état mémoire.</a:t>
            </a:r>
          </a:p>
          <a:p>
            <a:pPr marL="205740" lvl="0" indent="-205740" algn="l" rtl="0">
              <a:spcBef>
                <a:spcPts val="32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La mémoire est capturée à l'ouverture, figée pendant la série, mise à jour à la seule frontière ; contexte neuf à chaque manche. Les écritures intra-série sont détectées, enregistrées, puis annulées.</a:t>
            </a:r>
          </a:p>
          <a:p>
            <a:pPr marL="205740" lvl="0" indent="-205740" algn="l" rtl="0">
              <a:spcBef>
                <a:spcPts val="32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1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Appariement : les trois traitements d'une même réplication reçoivent les mêmes distributions, manche par manche, nombres aléatoires communs.</a:t>
            </a:r>
          </a:p>
        </p:txBody>
      </p:sp>
      <p:pic>
        <p:nvPicPr>
          <p:cNvPr id="3" name="Logo 201">
            <a:extLst>
              <a:ext uri="{FF2B5EF4-FFF2-40B4-BE49-F238E27FC236}">
                <a16:creationId xmlns:a16="http://schemas.microsoft.com/office/drawing/2014/main" id="{311E85E5-D1A3-EED4-E5A7-BDF98D08E97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3. Méthodologie</a:t>
            </a:r>
          </a:p>
        </p:txBody>
      </p:sp>
      <p:sp>
        <p:nvSpPr>
          <p:cNvPr id="604" name="Shape 604"/>
          <p:cNvSpPr/>
          <p:nvPr/>
        </p:nvSpPr>
        <p:spPr>
          <a:xfrm>
            <a:off x="457200" y="960120"/>
            <a:ext cx="397764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Shape 605"/>
          <p:cNvSpPr/>
          <p:nvPr/>
        </p:nvSpPr>
        <p:spPr>
          <a:xfrm>
            <a:off x="457200" y="9601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Shape 606"/>
          <p:cNvSpPr txBox="1"/>
          <p:nvPr/>
        </p:nvSpPr>
        <p:spPr>
          <a:xfrm>
            <a:off x="457200" y="960120"/>
            <a:ext cx="397764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L'écart d'exploitation</a:t>
            </a:r>
          </a:p>
          <a:p>
            <a:pPr marL="0" lvl="0" indent="0" algn="ctr" rtl="0">
              <a:spcBef>
                <a:spcPts val="450"/>
              </a:spcBef>
              <a:spcAft>
                <a:spcPts val="0"/>
              </a:spcAft>
              <a:buNone/>
            </a:pPr>
            <a:r>
              <a:rPr lang="fr" sz="1050" b="1" dirty="0">
                <a:solidFill>
                  <a:srgbClr val="99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Écart = EV(meilleure réponse) − EV(politique observée)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Exact :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six distributions, arbre de profondeur trois</a:t>
            </a:r>
            <a:endParaRPr lang="fr" sz="1000" dirty="0">
              <a:solidFill>
                <a:srgbClr val="333333"/>
              </a:solidFill>
              <a:latin typeface="Times New Roman" panose="02020603050405020304" pitchFamily="18" charset="0"/>
              <a:ea typeface="Inter"/>
              <a:cs typeface="Times New Roman" panose="02020603050405020304" pitchFamily="18" charset="0"/>
              <a:sym typeface="Inter"/>
            </a:endParaRP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Insensible à la chance, les résultats 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portent sur la politique, pas sur les gains réalisés.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En jetons par manche.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Zéro signifie exploitation optimale.</a:t>
            </a:r>
          </a:p>
        </p:txBody>
      </p:sp>
      <p:sp>
        <p:nvSpPr>
          <p:cNvPr id="607" name="Shape 607"/>
          <p:cNvSpPr/>
          <p:nvPr/>
        </p:nvSpPr>
        <p:spPr>
          <a:xfrm>
            <a:off x="4709160" y="960120"/>
            <a:ext cx="397764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Shape 608"/>
          <p:cNvSpPr/>
          <p:nvPr/>
        </p:nvSpPr>
        <p:spPr>
          <a:xfrm>
            <a:off x="4709160" y="9601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Shape 609"/>
          <p:cNvSpPr txBox="1"/>
          <p:nvPr/>
        </p:nvSpPr>
        <p:spPr>
          <a:xfrm>
            <a:off x="4709160" y="960120"/>
            <a:ext cx="397764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La référence récitée</a:t>
            </a:r>
          </a:p>
          <a:p>
            <a:pPr marL="0" lvl="0" indent="0" algn="ctr" rtl="0">
              <a:spcBef>
                <a:spcPts val="450"/>
              </a:spcBef>
              <a:spcAft>
                <a:spcPts val="0"/>
              </a:spcAft>
              <a:buNone/>
            </a:pPr>
            <a:r>
              <a:rPr lang="fr" sz="1050" b="1" dirty="0">
                <a:solidFill>
                  <a:srgbClr val="99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Référence = EV(politique observée) − EV(équilibre)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U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n récitant y reste à zéro quel que soit l'adversaire ; un exploiteur s'en écarte positivement.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À adversaire fixé,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les deux mesures n'ont qu'un degré de liberté. </a:t>
            </a:r>
          </a:p>
        </p:txBody>
      </p:sp>
      <p:sp>
        <p:nvSpPr>
          <p:cNvPr id="610" name="Shape 610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Shape 611"/>
          <p:cNvSpPr/>
          <p:nvPr/>
        </p:nvSpPr>
        <p:spPr>
          <a:xfrm>
            <a:off x="457200" y="27889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Shape 612"/>
          <p:cNvSpPr txBox="1"/>
          <p:nvPr/>
        </p:nvSpPr>
        <p:spPr>
          <a:xfrm>
            <a:off x="457200" y="2788920"/>
            <a:ext cx="3977640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L'échelle de lecture</a:t>
            </a:r>
          </a:p>
        </p:txBody>
      </p:sp>
      <p:sp>
        <p:nvSpPr>
          <p:cNvPr id="613" name="Shape 613"/>
          <p:cNvSpPr txBox="1"/>
          <p:nvPr/>
        </p:nvSpPr>
        <p:spPr>
          <a:xfrm>
            <a:off x="685800" y="3326130"/>
            <a:ext cx="1073277" cy="937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 b="1" dirty="0">
                <a:solidFill>
                  <a:srgbClr val="99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Adversaire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Over-folder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Station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GTO</a:t>
            </a:r>
          </a:p>
        </p:txBody>
      </p:sp>
      <p:sp>
        <p:nvSpPr>
          <p:cNvPr id="614" name="Shape 614"/>
          <p:cNvSpPr txBox="1"/>
          <p:nvPr/>
        </p:nvSpPr>
        <p:spPr>
          <a:xfrm>
            <a:off x="1759077" y="3326130"/>
            <a:ext cx="822845" cy="937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 b="1" dirty="0">
                <a:solidFill>
                  <a:srgbClr val="99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Joueur parfait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1,0000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0,3333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0,0000</a:t>
            </a:r>
          </a:p>
        </p:txBody>
      </p:sp>
      <p:sp>
        <p:nvSpPr>
          <p:cNvPr id="615" name="Shape 615"/>
          <p:cNvSpPr txBox="1"/>
          <p:nvPr/>
        </p:nvSpPr>
        <p:spPr>
          <a:xfrm>
            <a:off x="2581922" y="3326130"/>
            <a:ext cx="715518" cy="937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 b="1" dirty="0">
                <a:solidFill>
                  <a:srgbClr val="99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Récitant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0,2222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0,2222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0,0000</a:t>
            </a:r>
          </a:p>
        </p:txBody>
      </p:sp>
      <p:sp>
        <p:nvSpPr>
          <p:cNvPr id="616" name="Shape 616"/>
          <p:cNvSpPr txBox="1"/>
          <p:nvPr/>
        </p:nvSpPr>
        <p:spPr>
          <a:xfrm>
            <a:off x="3297440" y="3326130"/>
            <a:ext cx="965949" cy="937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 b="1" dirty="0">
                <a:solidFill>
                  <a:srgbClr val="99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Réf. récitée max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+0,7778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+0,1111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50" b="0" dirty="0">
                <a:solidFill>
                  <a:srgbClr val="333333"/>
                </a:solidFill>
                <a:latin typeface="Inter"/>
                <a:ea typeface="Inter"/>
                <a:cs typeface="Times New Roman" panose="02020603050405020304" pitchFamily="18" charset="0"/>
                <a:sym typeface="Inter"/>
              </a:rPr>
              <a:t>0</a:t>
            </a:r>
          </a:p>
        </p:txBody>
      </p:sp>
      <p:sp>
        <p:nvSpPr>
          <p:cNvPr id="617" name="Shape 617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Shape 618"/>
          <p:cNvSpPr/>
          <p:nvPr/>
        </p:nvSpPr>
        <p:spPr>
          <a:xfrm>
            <a:off x="4709160" y="27889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Shape 619"/>
          <p:cNvSpPr txBox="1"/>
          <p:nvPr/>
        </p:nvSpPr>
        <p:spPr>
          <a:xfrm>
            <a:off x="4709160" y="2788920"/>
            <a:ext cx="397764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La campagne exécutée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24 exécutions </a:t>
            </a: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·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177 séries · 26 550 manches · 27 290 décisions de l'agent.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gpt-5.6-luna, effort medium, K = 150, 3 réplications, graine de campagne unique.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Coût :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47,27 $, sur deux jours et une machine unique.</a:t>
            </a:r>
          </a:p>
          <a:p>
            <a:pPr marL="205740" lvl="0" indent="-205740" algn="l" rtl="0">
              <a:spcBef>
                <a:spcPts val="35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0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Vérification :</a:t>
            </a: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225 tests automatisés</a:t>
            </a:r>
          </a:p>
        </p:txBody>
      </p:sp>
      <p:pic>
        <p:nvPicPr>
          <p:cNvPr id="4" name="Logo 201">
            <a:extLst>
              <a:ext uri="{FF2B5EF4-FFF2-40B4-BE49-F238E27FC236}">
                <a16:creationId xmlns:a16="http://schemas.microsoft.com/office/drawing/2014/main" id="{E190A51D-0D0B-6C56-4778-3236EBC1DB2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4. Hypothèses</a:t>
            </a:r>
            <a:endParaRPr sz="2600" b="1" dirty="0">
              <a:solidFill>
                <a:srgbClr val="993333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</p:txBody>
      </p:sp>
      <p:grpSp>
        <p:nvGrpSpPr>
          <p:cNvPr id="67" name="Google Shape;67;p9"/>
          <p:cNvGrpSpPr/>
          <p:nvPr/>
        </p:nvGrpSpPr>
        <p:grpSpPr>
          <a:xfrm>
            <a:off x="457200" y="952500"/>
            <a:ext cx="3905400" cy="1714500"/>
            <a:chOff x="0" y="0"/>
            <a:chExt cx="3905400" cy="1714500"/>
          </a:xfrm>
        </p:grpSpPr>
        <p:sp>
          <p:nvSpPr>
            <p:cNvPr id="68" name="Google Shape;68;p9"/>
            <p:cNvSpPr/>
            <p:nvPr/>
          </p:nvSpPr>
          <p:spPr>
            <a:xfrm>
              <a:off x="0" y="0"/>
              <a:ext cx="3905400" cy="1714500"/>
            </a:xfrm>
            <a:prstGeom prst="roundRect">
              <a:avLst>
                <a:gd name="adj" fmla="val 2285"/>
              </a:avLst>
            </a:prstGeom>
            <a:solidFill>
              <a:srgbClr val="FDFBF7"/>
            </a:solidFill>
            <a:ln w="9525" cap="flat" cmpd="sng">
              <a:solidFill>
                <a:srgbClr val="E5E5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9"/>
            <p:cNvSpPr/>
            <p:nvPr/>
          </p:nvSpPr>
          <p:spPr>
            <a:xfrm>
              <a:off x="0" y="0"/>
              <a:ext cx="38100" cy="1714500"/>
            </a:xfrm>
            <a:prstGeom prst="roundRect">
              <a:avLst>
                <a:gd name="adj" fmla="val 50000"/>
              </a:avLst>
            </a:prstGeom>
            <a:solidFill>
              <a:srgbClr val="9933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9"/>
            <p:cNvSpPr txBox="1"/>
            <p:nvPr/>
          </p:nvSpPr>
          <p:spPr>
            <a:xfrm>
              <a:off x="114300" y="95250"/>
              <a:ext cx="36768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50" b="1" dirty="0">
                  <a:solidFill>
                    <a:srgbClr val="993333"/>
                  </a:solidFill>
                  <a:latin typeface="Inter"/>
                  <a:ea typeface="Inter"/>
                  <a:cs typeface="Inter"/>
                  <a:sym typeface="Inter"/>
                </a:rPr>
                <a:t>H1 : Il y a adaptation, et elle vient de la mémoire.</a:t>
              </a:r>
              <a:endParaRPr sz="105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fr" sz="1100" b="0" dirty="0">
                  <a:solidFill>
                    <a:schemeClr val="tx1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Face à un adversaire exploitable, l'écart d'exploitation d'un agent doté d'une mémoire persistante auto-rédigée décroît au fil des séries, tandis que celui du même modèle privé de mémoire reste stationnaire.</a:t>
              </a:r>
              <a:endParaRPr sz="1100" b="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Mesure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pente de l’écart et écart final, condition AE contre condition SM.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Réfutation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AE ne se distingue pas de SM.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  <p:grpSp>
        <p:nvGrpSpPr>
          <p:cNvPr id="71" name="Google Shape;71;p9"/>
          <p:cNvGrpSpPr/>
          <p:nvPr/>
        </p:nvGrpSpPr>
        <p:grpSpPr>
          <a:xfrm>
            <a:off x="4743450" y="952500"/>
            <a:ext cx="3905400" cy="1714500"/>
            <a:chOff x="0" y="0"/>
            <a:chExt cx="3905400" cy="1714500"/>
          </a:xfrm>
        </p:grpSpPr>
        <p:sp>
          <p:nvSpPr>
            <p:cNvPr id="72" name="Google Shape;72;p9"/>
            <p:cNvSpPr/>
            <p:nvPr/>
          </p:nvSpPr>
          <p:spPr>
            <a:xfrm>
              <a:off x="0" y="0"/>
              <a:ext cx="3905400" cy="1714500"/>
            </a:xfrm>
            <a:prstGeom prst="roundRect">
              <a:avLst>
                <a:gd name="adj" fmla="val 2285"/>
              </a:avLst>
            </a:prstGeom>
            <a:solidFill>
              <a:srgbClr val="FDFBF7"/>
            </a:solidFill>
            <a:ln w="9525" cap="flat" cmpd="sng">
              <a:solidFill>
                <a:srgbClr val="E5E5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9"/>
            <p:cNvSpPr/>
            <p:nvPr/>
          </p:nvSpPr>
          <p:spPr>
            <a:xfrm>
              <a:off x="0" y="0"/>
              <a:ext cx="38100" cy="1714500"/>
            </a:xfrm>
            <a:prstGeom prst="roundRect">
              <a:avLst>
                <a:gd name="adj" fmla="val 50000"/>
              </a:avLst>
            </a:prstGeom>
            <a:solidFill>
              <a:srgbClr val="9933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9"/>
            <p:cNvSpPr txBox="1"/>
            <p:nvPr/>
          </p:nvSpPr>
          <p:spPr>
            <a:xfrm>
              <a:off x="114300" y="95250"/>
              <a:ext cx="36768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50" b="1" dirty="0">
                  <a:solidFill>
                    <a:srgbClr val="993333"/>
                  </a:solidFill>
                  <a:latin typeface="Inter"/>
                  <a:ea typeface="Inter"/>
                  <a:cs typeface="Inter"/>
                  <a:sym typeface="Inter"/>
                </a:rPr>
                <a:t>H2 : L'adaptation est exploitative.</a:t>
              </a:r>
              <a:endParaRPr sz="105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fr" sz="1100" b="0" dirty="0">
                  <a:solidFill>
                    <a:schemeClr val="tx1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L'adaptation observée consiste à s'écarter de l'équilibre dans la direction que commande l'adversaire rencontré : cesser de bluffer, engager toutes les mains...</a:t>
              </a:r>
              <a:endParaRPr sz="1100" b="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Mesure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signe et amplitude de la référence récitée, par adversaire.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Réfutation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l'écart ne descend que contre l'un des deux adversaires biaisés ; ou la référence récitée devient positive.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  <p:grpSp>
        <p:nvGrpSpPr>
          <p:cNvPr id="75" name="Google Shape;75;p9"/>
          <p:cNvGrpSpPr/>
          <p:nvPr/>
        </p:nvGrpSpPr>
        <p:grpSpPr>
          <a:xfrm>
            <a:off x="457200" y="2809875"/>
            <a:ext cx="3905400" cy="1714500"/>
            <a:chOff x="0" y="0"/>
            <a:chExt cx="3905400" cy="1714500"/>
          </a:xfrm>
        </p:grpSpPr>
        <p:sp>
          <p:nvSpPr>
            <p:cNvPr id="76" name="Google Shape;76;p9"/>
            <p:cNvSpPr/>
            <p:nvPr/>
          </p:nvSpPr>
          <p:spPr>
            <a:xfrm>
              <a:off x="0" y="0"/>
              <a:ext cx="3905400" cy="1714500"/>
            </a:xfrm>
            <a:prstGeom prst="roundRect">
              <a:avLst>
                <a:gd name="adj" fmla="val 2285"/>
              </a:avLst>
            </a:prstGeom>
            <a:solidFill>
              <a:srgbClr val="FDFBF7"/>
            </a:solidFill>
            <a:ln w="9525" cap="flat" cmpd="sng">
              <a:solidFill>
                <a:srgbClr val="E5E5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9"/>
            <p:cNvSpPr/>
            <p:nvPr/>
          </p:nvSpPr>
          <p:spPr>
            <a:xfrm>
              <a:off x="0" y="0"/>
              <a:ext cx="38100" cy="1714500"/>
            </a:xfrm>
            <a:prstGeom prst="roundRect">
              <a:avLst>
                <a:gd name="adj" fmla="val 50000"/>
              </a:avLst>
            </a:prstGeom>
            <a:solidFill>
              <a:srgbClr val="9933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9"/>
            <p:cNvSpPr txBox="1"/>
            <p:nvPr/>
          </p:nvSpPr>
          <p:spPr>
            <a:xfrm>
              <a:off x="114300" y="95250"/>
              <a:ext cx="36768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50" b="1" dirty="0">
                  <a:solidFill>
                    <a:srgbClr val="993333"/>
                  </a:solidFill>
                  <a:latin typeface="Inter"/>
                  <a:ea typeface="Inter"/>
                  <a:cs typeface="Inter"/>
                  <a:sym typeface="Inter"/>
                </a:rPr>
                <a:t>H3 : Le mécanisme de rétention détermine la forme.</a:t>
              </a:r>
              <a:endParaRPr sz="105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fr" sz="1100" b="0" dirty="0">
                  <a:solidFill>
                    <a:schemeClr val="tx1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La mémoire auto-rédigée produit une adaptation plus durable que la simple réinjection de l'historique brut, sujette à la saturation.</a:t>
              </a:r>
              <a:endParaRPr sz="1100" b="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Mesure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trajectoire, écart final, aire sous la courbe, série d'atteinte du plateau.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Réfutation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ICL égale ou surpasse AE ; ou AE ne présente aucune accumulation.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  <p:grpSp>
        <p:nvGrpSpPr>
          <p:cNvPr id="79" name="Google Shape;79;p9"/>
          <p:cNvGrpSpPr/>
          <p:nvPr/>
        </p:nvGrpSpPr>
        <p:grpSpPr>
          <a:xfrm>
            <a:off x="4743450" y="2809875"/>
            <a:ext cx="3905400" cy="1714500"/>
            <a:chOff x="0" y="0"/>
            <a:chExt cx="3905400" cy="1714500"/>
          </a:xfrm>
        </p:grpSpPr>
        <p:sp>
          <p:nvSpPr>
            <p:cNvPr id="80" name="Google Shape;80;p9"/>
            <p:cNvSpPr/>
            <p:nvPr/>
          </p:nvSpPr>
          <p:spPr>
            <a:xfrm>
              <a:off x="0" y="0"/>
              <a:ext cx="3905400" cy="1714500"/>
            </a:xfrm>
            <a:prstGeom prst="roundRect">
              <a:avLst>
                <a:gd name="adj" fmla="val 2285"/>
              </a:avLst>
            </a:prstGeom>
            <a:solidFill>
              <a:srgbClr val="FDFBF7"/>
            </a:solidFill>
            <a:ln w="9525" cap="flat" cmpd="sng">
              <a:solidFill>
                <a:srgbClr val="E5E5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9"/>
            <p:cNvSpPr/>
            <p:nvPr/>
          </p:nvSpPr>
          <p:spPr>
            <a:xfrm>
              <a:off x="0" y="0"/>
              <a:ext cx="38100" cy="1714500"/>
            </a:xfrm>
            <a:prstGeom prst="roundRect">
              <a:avLst>
                <a:gd name="adj" fmla="val 50000"/>
              </a:avLst>
            </a:prstGeom>
            <a:solidFill>
              <a:srgbClr val="9933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9"/>
            <p:cNvSpPr txBox="1"/>
            <p:nvPr/>
          </p:nvSpPr>
          <p:spPr>
            <a:xfrm>
              <a:off x="114300" y="95250"/>
              <a:ext cx="36768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50" b="1" dirty="0">
                  <a:solidFill>
                    <a:srgbClr val="993333"/>
                  </a:solidFill>
                  <a:latin typeface="Inter"/>
                  <a:ea typeface="Inter"/>
                  <a:cs typeface="Inter"/>
                  <a:sym typeface="Inter"/>
                </a:rPr>
                <a:t>H4 : L'adaptation coexiste avec des biais persistants.</a:t>
              </a:r>
              <a:endParaRPr sz="105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fr" sz="1100" b="0" dirty="0">
                  <a:solidFill>
                    <a:schemeClr val="tx1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Même si sa politique s'améliore, l'agent conserve des défaillances et une incapacité à stabiliser.</a:t>
              </a:r>
              <a:endParaRPr sz="1100" b="0" dirty="0">
                <a:solidFill>
                  <a:schemeClr val="tx1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Mesure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taux d'incohérence raisonnement ↔ action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fr" sz="1100" b="1" dirty="0">
                  <a:solidFill>
                    <a:srgbClr val="99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Réfutation :</a:t>
              </a:r>
              <a:r>
                <a:rPr lang="fr" sz="1100" dirty="0">
                  <a:solidFill>
                    <a:srgbClr val="1F2937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 les fréquences se stabilisent et l'incohérence devient négligeable.</a:t>
              </a:r>
              <a:endParaRPr sz="1100" dirty="0">
                <a:solidFill>
                  <a:srgbClr val="1F2937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  <p:pic>
        <p:nvPicPr>
          <p:cNvPr id="3" name="Logo 201">
            <a:extLst>
              <a:ext uri="{FF2B5EF4-FFF2-40B4-BE49-F238E27FC236}">
                <a16:creationId xmlns:a16="http://schemas.microsoft.com/office/drawing/2014/main" id="{9C45EBA9-C6B6-08E1-EA23-D609E2963E3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Shape 8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5. Résultats - H1 : l'adaptation vient de la mémoire</a:t>
            </a:r>
          </a:p>
        </p:txBody>
      </p:sp>
      <p:pic>
        <p:nvPicPr>
          <p:cNvPr id="804" name="Figure 8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000" y="914400"/>
            <a:ext cx="76200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805" name="Shape 805"/>
          <p:cNvSpPr/>
          <p:nvPr/>
        </p:nvSpPr>
        <p:spPr>
          <a:xfrm>
            <a:off x="457200" y="3749040"/>
            <a:ext cx="2590800" cy="68580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Shape 806"/>
          <p:cNvSpPr txBox="1"/>
          <p:nvPr/>
        </p:nvSpPr>
        <p:spPr>
          <a:xfrm>
            <a:off x="457200" y="3749040"/>
            <a:ext cx="2590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82296" rIns="91440" bIns="82296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Over-folder</a:t>
            </a:r>
          </a:p>
          <a:p>
            <a:pPr marL="0" lvl="0" indent="0" algn="ctr" rtl="0">
              <a:spcBef>
                <a:spcPts val="180"/>
              </a:spcBef>
              <a:spcAft>
                <a:spcPts val="0"/>
              </a:spcAft>
              <a:buNone/>
            </a:pPr>
            <a:r>
              <a:rPr lang="fr" sz="1500" b="1" dirty="0">
                <a:solidFill>
                  <a:srgbClr val="33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0,704 </a:t>
            </a:r>
            <a:r>
              <a:rPr lang="fr" sz="130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r>
              <a:rPr lang="fr" sz="1500" b="1" dirty="0">
                <a:solidFill>
                  <a:srgbClr val="33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0,000</a:t>
            </a:r>
          </a:p>
          <a:p>
            <a:pPr marL="0" lvl="0" indent="0" algn="ctr" rtl="0">
              <a:spcBef>
                <a:spcPts val="150"/>
              </a:spcBef>
              <a:spcAft>
                <a:spcPts val="0"/>
              </a:spcAft>
              <a:buNone/>
            </a:pPr>
            <a:r>
              <a:rPr lang="fr" sz="1050" b="0" dirty="0">
                <a:solidFill>
                  <a:srgbClr val="5B657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réduction +0,704 · 3 réplications sur 3</a:t>
            </a:r>
          </a:p>
        </p:txBody>
      </p:sp>
      <p:sp>
        <p:nvSpPr>
          <p:cNvPr id="807" name="Shape 807"/>
          <p:cNvSpPr/>
          <p:nvPr/>
        </p:nvSpPr>
        <p:spPr>
          <a:xfrm>
            <a:off x="3276600" y="3749040"/>
            <a:ext cx="2590800" cy="68580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Shape 808"/>
          <p:cNvSpPr txBox="1"/>
          <p:nvPr/>
        </p:nvSpPr>
        <p:spPr>
          <a:xfrm>
            <a:off x="3276600" y="3749040"/>
            <a:ext cx="2590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82296" rIns="91440" bIns="82296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Station</a:t>
            </a:r>
          </a:p>
          <a:p>
            <a:pPr marL="0" lvl="0" indent="0" algn="ctr" rtl="0">
              <a:spcBef>
                <a:spcPts val="180"/>
              </a:spcBef>
              <a:spcAft>
                <a:spcPts val="0"/>
              </a:spcAft>
              <a:buNone/>
            </a:pPr>
            <a:r>
              <a:rPr lang="fr" sz="1500" b="1" dirty="0">
                <a:solidFill>
                  <a:srgbClr val="33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0,222 </a:t>
            </a:r>
            <a:r>
              <a:rPr lang="fr" sz="130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r>
              <a:rPr lang="fr" sz="1500" b="1" dirty="0">
                <a:solidFill>
                  <a:srgbClr val="33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0,002</a:t>
            </a:r>
          </a:p>
          <a:p>
            <a:pPr marL="0" lvl="0" indent="0" algn="ctr" rtl="0">
              <a:spcBef>
                <a:spcPts val="150"/>
              </a:spcBef>
              <a:spcAft>
                <a:spcPts val="0"/>
              </a:spcAft>
              <a:buNone/>
            </a:pPr>
            <a:r>
              <a:rPr lang="fr" sz="1050" b="0" dirty="0">
                <a:solidFill>
                  <a:srgbClr val="5B657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réduction +0,220 · 2 réplications à zéro exact</a:t>
            </a:r>
          </a:p>
        </p:txBody>
      </p:sp>
      <p:sp>
        <p:nvSpPr>
          <p:cNvPr id="809" name="Shape 809"/>
          <p:cNvSpPr/>
          <p:nvPr/>
        </p:nvSpPr>
        <p:spPr>
          <a:xfrm>
            <a:off x="6096000" y="3749040"/>
            <a:ext cx="2590800" cy="68580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0" name="Shape 810"/>
          <p:cNvSpPr txBox="1"/>
          <p:nvPr/>
        </p:nvSpPr>
        <p:spPr>
          <a:xfrm>
            <a:off x="6096000" y="3749040"/>
            <a:ext cx="2590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" tIns="82296" rIns="91440" bIns="82296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GTO</a:t>
            </a:r>
          </a:p>
          <a:p>
            <a:pPr marL="0" lvl="0" indent="0" algn="ctr" rtl="0">
              <a:spcBef>
                <a:spcPts val="180"/>
              </a:spcBef>
              <a:spcAft>
                <a:spcPts val="0"/>
              </a:spcAft>
              <a:buNone/>
            </a:pPr>
            <a:r>
              <a:rPr lang="fr" sz="1500" b="1" dirty="0">
                <a:solidFill>
                  <a:srgbClr val="33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0,187 </a:t>
            </a:r>
            <a:r>
              <a:rPr lang="fr" sz="130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r>
              <a:rPr lang="fr" sz="1500" b="1" dirty="0">
                <a:solidFill>
                  <a:srgbClr val="33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0,008</a:t>
            </a:r>
          </a:p>
          <a:p>
            <a:pPr marL="0" lvl="0" indent="0" algn="ctr" rtl="0">
              <a:spcBef>
                <a:spcPts val="150"/>
              </a:spcBef>
              <a:spcAft>
                <a:spcPts val="0"/>
              </a:spcAft>
              <a:buNone/>
            </a:pPr>
            <a:r>
              <a:rPr lang="fr" sz="1050" b="0" dirty="0">
                <a:solidFill>
                  <a:srgbClr val="5B6570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réduction +0,178</a:t>
            </a:r>
          </a:p>
        </p:txBody>
      </p:sp>
      <p:pic>
        <p:nvPicPr>
          <p:cNvPr id="3" name="Logo 201">
            <a:extLst>
              <a:ext uri="{FF2B5EF4-FFF2-40B4-BE49-F238E27FC236}">
                <a16:creationId xmlns:a16="http://schemas.microsoft.com/office/drawing/2014/main" id="{21519AF2-6A5F-9EF9-F0E7-65E9A3CBF74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Shape 9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5. Résultats - H2 : elle exploite, elle ne récite pas</a:t>
            </a:r>
          </a:p>
        </p:txBody>
      </p:sp>
      <p:pic>
        <p:nvPicPr>
          <p:cNvPr id="904" name="Figure 9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960120"/>
            <a:ext cx="466344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905" name="Shape 905"/>
          <p:cNvSpPr/>
          <p:nvPr/>
        </p:nvSpPr>
        <p:spPr>
          <a:xfrm>
            <a:off x="457200" y="3419856"/>
            <a:ext cx="4663440" cy="1014984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6" name="Shape 906"/>
          <p:cNvSpPr/>
          <p:nvPr/>
        </p:nvSpPr>
        <p:spPr>
          <a:xfrm>
            <a:off x="457200" y="3419856"/>
            <a:ext cx="38100" cy="1014984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Shape 907"/>
          <p:cNvSpPr txBox="1"/>
          <p:nvPr/>
        </p:nvSpPr>
        <p:spPr>
          <a:xfrm>
            <a:off x="457200" y="3419856"/>
            <a:ext cx="466344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1714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 contrôle négatif</a:t>
            </a:r>
          </a:p>
          <a:p>
            <a:pPr marL="205740" lvl="0" indent="-205740" algn="l" rtl="0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39 séries contre l'adversaire à l'équilibre :</a:t>
            </a:r>
            <a:r>
              <a:rPr lang="fr" sz="11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la référence récitée n'est jamais positive, l'écart jamais négatif.</a:t>
            </a:r>
          </a:p>
          <a:p>
            <a:pPr marL="205740" lvl="0" indent="-205740" algn="l" rtl="0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750"/>
              <a:buFont typeface="Inter"/>
              <a:buChar char="●"/>
            </a:pPr>
            <a:r>
              <a:rPr lang="fr" sz="11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Six séries atteignent exactement zéro.</a:t>
            </a:r>
            <a:endParaRPr lang="fr" sz="1100" b="0" dirty="0">
              <a:solidFill>
                <a:srgbClr val="333333"/>
              </a:solidFill>
              <a:latin typeface="Times New Roman" panose="02020603050405020304" pitchFamily="18" charset="0"/>
              <a:ea typeface="Inter"/>
              <a:cs typeface="Times New Roman" panose="02020603050405020304" pitchFamily="18" charset="0"/>
              <a:sym typeface="Inter"/>
            </a:endParaRPr>
          </a:p>
        </p:txBody>
      </p:sp>
      <p:sp>
        <p:nvSpPr>
          <p:cNvPr id="908" name="Shape 908"/>
          <p:cNvSpPr/>
          <p:nvPr/>
        </p:nvSpPr>
        <p:spPr>
          <a:xfrm>
            <a:off x="5257800" y="960120"/>
            <a:ext cx="342900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9" name="Shape 909"/>
          <p:cNvSpPr/>
          <p:nvPr/>
        </p:nvSpPr>
        <p:spPr>
          <a:xfrm>
            <a:off x="5257800" y="9601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0" name="Shape 910"/>
          <p:cNvSpPr txBox="1"/>
          <p:nvPr/>
        </p:nvSpPr>
        <p:spPr>
          <a:xfrm>
            <a:off x="5257800" y="960120"/>
            <a:ext cx="3429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4310" tIns="137160" rIns="137160" bIns="13716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L'asymétrie, le test décisif</a:t>
            </a:r>
          </a:p>
          <a:p>
            <a:pPr marL="205740" lvl="0" indent="-205740" algn="l" rtl="0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Sans mémoire :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0,285 · 0,307 · 0,355 selon l'adversaire, pour un écart-type d'échantillonnage de 0,031. Rien ne les distingue, et c'est une propriété du dispositif.</a:t>
            </a:r>
          </a:p>
          <a:p>
            <a:pPr marL="205740" lvl="0" indent="-205740" algn="l" rtl="0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Avec mémoire :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1,000 contre Over-folder, 0,004 contre Station. </a:t>
            </a:r>
          </a:p>
          <a:p>
            <a:pPr marL="205740" lvl="0" indent="-205740" algn="l" rtl="0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Aucune application de l'équilibre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ne produit ce contraste : l'équilibre est un objet fixe, calculé contre un adversaire supposé jouer lui-même l'équilibre.</a:t>
            </a:r>
          </a:p>
        </p:txBody>
      </p:sp>
      <p:sp>
        <p:nvSpPr>
          <p:cNvPr id="911" name="Shape 911"/>
          <p:cNvSpPr/>
          <p:nvPr/>
        </p:nvSpPr>
        <p:spPr>
          <a:xfrm>
            <a:off x="5257800" y="2788920"/>
            <a:ext cx="342900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Shape 912"/>
          <p:cNvSpPr/>
          <p:nvPr/>
        </p:nvSpPr>
        <p:spPr>
          <a:xfrm>
            <a:off x="5257800" y="27889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3" name="Shape 913"/>
          <p:cNvSpPr txBox="1"/>
          <p:nvPr/>
        </p:nvSpPr>
        <p:spPr>
          <a:xfrm>
            <a:off x="5257800" y="2788920"/>
            <a:ext cx="3429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4310" tIns="137160" rIns="13716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L'amplitude, sur son maximum</a:t>
            </a:r>
          </a:p>
        </p:txBody>
      </p:sp>
      <p:sp>
        <p:nvSpPr>
          <p:cNvPr id="914" name="Shape 914"/>
          <p:cNvSpPr txBox="1"/>
          <p:nvPr/>
        </p:nvSpPr>
        <p:spPr>
          <a:xfrm>
            <a:off x="5452110" y="3291840"/>
            <a:ext cx="831744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Adversaire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Over-folder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Station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GTO</a:t>
            </a:r>
          </a:p>
        </p:txBody>
      </p:sp>
      <p:sp>
        <p:nvSpPr>
          <p:cNvPr id="915" name="Shape 915"/>
          <p:cNvSpPr txBox="1"/>
          <p:nvPr/>
        </p:nvSpPr>
        <p:spPr>
          <a:xfrm>
            <a:off x="6283854" y="3291840"/>
            <a:ext cx="57361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SM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+0,074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−0,111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−0,187</a:t>
            </a:r>
          </a:p>
        </p:txBody>
      </p:sp>
      <p:sp>
        <p:nvSpPr>
          <p:cNvPr id="916" name="Shape 916"/>
          <p:cNvSpPr txBox="1"/>
          <p:nvPr/>
        </p:nvSpPr>
        <p:spPr>
          <a:xfrm>
            <a:off x="6857470" y="3291840"/>
            <a:ext cx="57361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AE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+0,778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+0,110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−0,024</a:t>
            </a:r>
          </a:p>
        </p:txBody>
      </p:sp>
      <p:sp>
        <p:nvSpPr>
          <p:cNvPr id="917" name="Shape 917"/>
          <p:cNvSpPr txBox="1"/>
          <p:nvPr/>
        </p:nvSpPr>
        <p:spPr>
          <a:xfrm>
            <a:off x="7431086" y="3291840"/>
            <a:ext cx="57361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Max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+0,778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+0,111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</a:p>
        </p:txBody>
      </p:sp>
      <p:sp>
        <p:nvSpPr>
          <p:cNvPr id="918" name="Shape 918"/>
          <p:cNvSpPr txBox="1"/>
          <p:nvPr/>
        </p:nvSpPr>
        <p:spPr>
          <a:xfrm>
            <a:off x="8004702" y="3291840"/>
            <a:ext cx="544935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Atteint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 dirty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100 %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b="0" dirty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99 %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750" dirty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-</a:t>
            </a:r>
            <a:endParaRPr lang="fr" sz="750" b="0" dirty="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19" name="Shape 919"/>
          <p:cNvSpPr txBox="1"/>
          <p:nvPr/>
        </p:nvSpPr>
        <p:spPr>
          <a:xfrm>
            <a:off x="5452110" y="4059936"/>
            <a:ext cx="323469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" sz="900" b="0" i="1" dirty="0">
              <a:solidFill>
                <a:srgbClr val="5B6570"/>
              </a:solidFill>
              <a:latin typeface="Times New Roman" panose="02020603050405020304" pitchFamily="18" charset="0"/>
              <a:ea typeface="Inter"/>
              <a:cs typeface="Times New Roman" panose="02020603050405020304" pitchFamily="18" charset="0"/>
              <a:sym typeface="Inter"/>
            </a:endParaRPr>
          </a:p>
        </p:txBody>
      </p:sp>
      <p:pic>
        <p:nvPicPr>
          <p:cNvPr id="3" name="Logo 201">
            <a:extLst>
              <a:ext uri="{FF2B5EF4-FFF2-40B4-BE49-F238E27FC236}">
                <a16:creationId xmlns:a16="http://schemas.microsoft.com/office/drawing/2014/main" id="{7186B01D-DB3F-E6A5-A50F-66D291A3389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Shape 10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5. Résultats - H3 : le mécanisme de rétention</a:t>
            </a:r>
          </a:p>
        </p:txBody>
      </p:sp>
      <p:pic>
        <p:nvPicPr>
          <p:cNvPr id="1004" name="Figure 10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960120"/>
            <a:ext cx="4663440" cy="2098548"/>
          </a:xfrm>
          <a:prstGeom prst="rect">
            <a:avLst/>
          </a:prstGeom>
          <a:noFill/>
          <a:ln>
            <a:noFill/>
          </a:ln>
        </p:spPr>
      </p:pic>
      <p:sp>
        <p:nvSpPr>
          <p:cNvPr id="1005" name="Shape 1005"/>
          <p:cNvSpPr/>
          <p:nvPr/>
        </p:nvSpPr>
        <p:spPr>
          <a:xfrm>
            <a:off x="457200" y="3186684"/>
            <a:ext cx="4663440" cy="1248156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Shape 1006"/>
          <p:cNvSpPr/>
          <p:nvPr/>
        </p:nvSpPr>
        <p:spPr>
          <a:xfrm>
            <a:off x="457200" y="3186684"/>
            <a:ext cx="38100" cy="1248156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7" name="Shape 1007"/>
          <p:cNvSpPr txBox="1"/>
          <p:nvPr/>
        </p:nvSpPr>
        <p:spPr>
          <a:xfrm>
            <a:off x="457200" y="3186684"/>
            <a:ext cx="4663440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Les quatre décisions qui décident, contre Station</a:t>
            </a:r>
          </a:p>
        </p:txBody>
      </p:sp>
      <p:sp>
        <p:nvSpPr>
          <p:cNvPr id="1008" name="Shape 1008"/>
          <p:cNvSpPr txBox="1"/>
          <p:nvPr/>
        </p:nvSpPr>
        <p:spPr>
          <a:xfrm>
            <a:off x="685800" y="3723894"/>
            <a:ext cx="2344864" cy="53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50" b="1" dirty="0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Décision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 dirty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Engager le sceau faible : Ouvrant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 dirty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Engager le sceau faible : Répondant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 dirty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Engager le sceau fort : Ouvrant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 dirty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Engager le sceau fort : Répondant</a:t>
            </a:r>
          </a:p>
        </p:txBody>
      </p:sp>
      <p:sp>
        <p:nvSpPr>
          <p:cNvPr id="1009" name="Shape 1009"/>
          <p:cNvSpPr txBox="1"/>
          <p:nvPr/>
        </p:nvSpPr>
        <p:spPr>
          <a:xfrm>
            <a:off x="3030664" y="3723894"/>
            <a:ext cx="781621" cy="53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Meilleure rép.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0,000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0,000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1,000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1,000</a:t>
            </a:r>
          </a:p>
        </p:txBody>
      </p:sp>
      <p:sp>
        <p:nvSpPr>
          <p:cNvPr id="1010" name="Shape 1010"/>
          <p:cNvSpPr txBox="1"/>
          <p:nvPr/>
        </p:nvSpPr>
        <p:spPr>
          <a:xfrm>
            <a:off x="3812285" y="3723894"/>
            <a:ext cx="568452" cy="53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ICL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0,065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0,091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0,973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0,941</a:t>
            </a:r>
          </a:p>
        </p:txBody>
      </p:sp>
      <p:sp>
        <p:nvSpPr>
          <p:cNvPr id="1011" name="Shape 1011"/>
          <p:cNvSpPr txBox="1"/>
          <p:nvPr/>
        </p:nvSpPr>
        <p:spPr>
          <a:xfrm>
            <a:off x="4380737" y="3723894"/>
            <a:ext cx="568452" cy="53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AE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0,006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0,009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1,000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1,000</a:t>
            </a:r>
          </a:p>
        </p:txBody>
      </p:sp>
      <p:sp>
        <p:nvSpPr>
          <p:cNvPr id="1012" name="Shape 1012"/>
          <p:cNvSpPr/>
          <p:nvPr/>
        </p:nvSpPr>
        <p:spPr>
          <a:xfrm>
            <a:off x="5257800" y="960120"/>
            <a:ext cx="342900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3" name="Shape 1013"/>
          <p:cNvSpPr/>
          <p:nvPr/>
        </p:nvSpPr>
        <p:spPr>
          <a:xfrm>
            <a:off x="5257800" y="9601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Shape 1014"/>
          <p:cNvSpPr txBox="1"/>
          <p:nvPr/>
        </p:nvSpPr>
        <p:spPr>
          <a:xfrm>
            <a:off x="5257800" y="960120"/>
            <a:ext cx="3429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4310" tIns="137160" rIns="137160" bIns="13716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Ni la vitesse, ni l'oubli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ICL − AE :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+0,0381 contre Station (IC 95 % ± 0,0148, exclut zéro) ; +0,0039 contre Over-folder (contient zéro).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Aucun décrochage à la saturation.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AE se verrouille sur zéro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H3 est vérifiée, mais sous condition :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le mécanisme ne départage les deux mémoires que contre l'un des deux adversaires exploitables.</a:t>
            </a:r>
          </a:p>
        </p:txBody>
      </p:sp>
      <p:sp>
        <p:nvSpPr>
          <p:cNvPr id="1015" name="Shape 1015"/>
          <p:cNvSpPr/>
          <p:nvPr/>
        </p:nvSpPr>
        <p:spPr>
          <a:xfrm>
            <a:off x="5257800" y="2788920"/>
            <a:ext cx="342900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6" name="Shape 1016"/>
          <p:cNvSpPr/>
          <p:nvPr/>
        </p:nvSpPr>
        <p:spPr>
          <a:xfrm>
            <a:off x="5257800" y="27889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Shape 1017"/>
          <p:cNvSpPr txBox="1"/>
          <p:nvPr/>
        </p:nvSpPr>
        <p:spPr>
          <a:xfrm>
            <a:off x="5257800" y="2788920"/>
            <a:ext cx="3429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4310" tIns="137160" rIns="137160" bIns="13716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Une règle, ou deux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Over-folder :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une seule règle, positive. Les deux mécanismes l'extraient intégralement.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Station :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deux règles, dont une négative. Un engagement perdant figure dans l'historique comme une manche parmi 150 ; rien ne rassemble ces occurrences en interdiction.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900" b="1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L'apport est plus étroit que prévu :</a:t>
            </a:r>
            <a:r>
              <a:rPr lang="fr" sz="9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 la synthèse ne retient ni mieux ni plus longtemps, elle achève l'induction.</a:t>
            </a:r>
          </a:p>
        </p:txBody>
      </p:sp>
      <p:pic>
        <p:nvPicPr>
          <p:cNvPr id="3" name="Logo 201">
            <a:extLst>
              <a:ext uri="{FF2B5EF4-FFF2-40B4-BE49-F238E27FC236}">
                <a16:creationId xmlns:a16="http://schemas.microsoft.com/office/drawing/2014/main" id="{C571EF79-8A45-28CB-7990-64A318E2E0B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Shape 1103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5. Résultats - H4 : ce que l'adaptation coûte</a:t>
            </a:r>
          </a:p>
        </p:txBody>
      </p:sp>
      <p:pic>
        <p:nvPicPr>
          <p:cNvPr id="1104" name="Figure 1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960120"/>
            <a:ext cx="4663440" cy="176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05" name="Shape 1105"/>
          <p:cNvSpPr/>
          <p:nvPr/>
        </p:nvSpPr>
        <p:spPr>
          <a:xfrm>
            <a:off x="457200" y="2849880"/>
            <a:ext cx="4663440" cy="158496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6" name="Shape 1106"/>
          <p:cNvSpPr/>
          <p:nvPr/>
        </p:nvSpPr>
        <p:spPr>
          <a:xfrm>
            <a:off x="457200" y="2849880"/>
            <a:ext cx="38100" cy="158496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7" name="Shape 1107"/>
          <p:cNvSpPr txBox="1"/>
          <p:nvPr/>
        </p:nvSpPr>
        <p:spPr>
          <a:xfrm>
            <a:off x="457200" y="2849880"/>
            <a:ext cx="4663440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171450" rIns="17145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Ce que les quatre-vingt-dix notes contiennent</a:t>
            </a:r>
          </a:p>
        </p:txBody>
      </p:sp>
      <p:sp>
        <p:nvSpPr>
          <p:cNvPr id="1108" name="Shape 1108"/>
          <p:cNvSpPr txBox="1"/>
          <p:nvPr/>
        </p:nvSpPr>
        <p:spPr>
          <a:xfrm>
            <a:off x="685800" y="3387090"/>
            <a:ext cx="3443507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Recherché dans les notes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Un pourcentage (« 33 % »)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Une proportion en toutes lettres (« un tiers »)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Une fréquence prescrite pour sa propre action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Quantificateurs catégoriques (toujours, jamais)</a:t>
            </a:r>
          </a:p>
          <a:p>
            <a:pPr marL="0" lvl="0" indent="0" algn="l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Quantificateurs gradués (souvent, parfois)</a:t>
            </a:r>
          </a:p>
        </p:txBody>
      </p:sp>
      <p:sp>
        <p:nvSpPr>
          <p:cNvPr id="1109" name="Shape 1109"/>
          <p:cNvSpPr txBox="1"/>
          <p:nvPr/>
        </p:nvSpPr>
        <p:spPr>
          <a:xfrm>
            <a:off x="4129307" y="3387090"/>
            <a:ext cx="819882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50" b="1">
                <a:solidFill>
                  <a:srgbClr val="993333"/>
                </a:solidFill>
                <a:latin typeface="Inter"/>
                <a:ea typeface="Inter"/>
                <a:cs typeface="Inter"/>
                <a:sym typeface="Inter"/>
              </a:rPr>
              <a:t>Occurrences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221</a:t>
            </a:r>
          </a:p>
          <a:p>
            <a:pPr marL="0" lvl="0" indent="0" algn="r" rtl="0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lang="fr" sz="800" b="1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228</a:t>
            </a:r>
          </a:p>
        </p:txBody>
      </p:sp>
      <p:sp>
        <p:nvSpPr>
          <p:cNvPr id="1110" name="Shape 1110"/>
          <p:cNvSpPr/>
          <p:nvPr/>
        </p:nvSpPr>
        <p:spPr>
          <a:xfrm>
            <a:off x="5257800" y="960120"/>
            <a:ext cx="342900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1" name="Shape 1111"/>
          <p:cNvSpPr/>
          <p:nvPr/>
        </p:nvSpPr>
        <p:spPr>
          <a:xfrm>
            <a:off x="5257800" y="9601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2" name="Shape 1112"/>
          <p:cNvSpPr txBox="1"/>
          <p:nvPr/>
        </p:nvSpPr>
        <p:spPr>
          <a:xfrm>
            <a:off x="5257800" y="960120"/>
            <a:ext cx="3429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4310" tIns="137160" rIns="137160" bIns="13716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La dégénérescence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0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Contre un adversaire à l'équilibre, bien jouer exige d'engager le sceau faible une fois sur trois, et de façon imprévisible.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0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Sans mémoire : les fréquences se tiennent autour de 28%.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0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Dès qu'une note existe il y a des fréquences extrêmes plus d'une série sur deux. Il n'a pas oublié comment jouer, il a cessé de tirer au sort.</a:t>
            </a:r>
          </a:p>
        </p:txBody>
      </p:sp>
      <p:sp>
        <p:nvSpPr>
          <p:cNvPr id="1113" name="Shape 1113"/>
          <p:cNvSpPr/>
          <p:nvPr/>
        </p:nvSpPr>
        <p:spPr>
          <a:xfrm>
            <a:off x="5257800" y="2788920"/>
            <a:ext cx="3429000" cy="1645920"/>
          </a:xfrm>
          <a:prstGeom prst="roundRect">
            <a:avLst>
              <a:gd name="adj" fmla="val 2285"/>
            </a:avLst>
          </a:prstGeom>
          <a:solidFill>
            <a:srgbClr val="FDFBF7"/>
          </a:solidFill>
          <a:ln w="9525" cap="flat" cmpd="sng">
            <a:solidFill>
              <a:srgbClr val="E5E5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Shape 1114"/>
          <p:cNvSpPr/>
          <p:nvPr/>
        </p:nvSpPr>
        <p:spPr>
          <a:xfrm>
            <a:off x="5257800" y="2788920"/>
            <a:ext cx="38100" cy="1645920"/>
          </a:xfrm>
          <a:prstGeom prst="roundRect">
            <a:avLst>
              <a:gd name="adj" fmla="val 50000"/>
            </a:avLst>
          </a:prstGeom>
          <a:solidFill>
            <a:srgbClr val="99333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5" name="Shape 1115"/>
          <p:cNvSpPr txBox="1"/>
          <p:nvPr/>
        </p:nvSpPr>
        <p:spPr>
          <a:xfrm>
            <a:off x="5257800" y="2788920"/>
            <a:ext cx="3429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4310" tIns="137160" rIns="137160" bIns="13716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Le même mécanisme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000" b="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Ce qui rend la mémoire auto-écrite supérieure est exactement ce qui la rend incapable de randomiser. 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0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Face à des bots figés, abandonner le mélange ne coûte rien. Un adversaire capable de s'ajuster est hors périmètre.</a:t>
            </a:r>
          </a:p>
          <a:p>
            <a:pPr marL="205740" lvl="0" indent="-205740" algn="l" rtl="0">
              <a:spcBef>
                <a:spcPts val="280"/>
              </a:spcBef>
              <a:spcAft>
                <a:spcPts val="0"/>
              </a:spcAft>
              <a:buClr>
                <a:srgbClr val="333333"/>
              </a:buClr>
              <a:buSzPts val="700"/>
              <a:buFont typeface="Inter"/>
              <a:buChar char="●"/>
            </a:pPr>
            <a:r>
              <a:rPr lang="fr" sz="10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Un agent doté de mémoire est un meilleur exploiteur et un adversaire plus prévisible.</a:t>
            </a:r>
          </a:p>
        </p:txBody>
      </p:sp>
      <p:pic>
        <p:nvPicPr>
          <p:cNvPr id="3" name="Logo 201">
            <a:extLst>
              <a:ext uri="{FF2B5EF4-FFF2-40B4-BE49-F238E27FC236}">
                <a16:creationId xmlns:a16="http://schemas.microsoft.com/office/drawing/2014/main" id="{8D5B51F1-4A54-35A3-ECDC-26369C7B802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4"/>
          <p:cNvSpPr/>
          <p:nvPr/>
        </p:nvSpPr>
        <p:spPr>
          <a:xfrm>
            <a:off x="457200" y="32004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600" b="1" dirty="0">
                <a:solidFill>
                  <a:srgbClr val="993333"/>
                </a:solidFill>
                <a:latin typeface="Playfair Display SemiBold"/>
                <a:ea typeface="Playfair Display SemiBold"/>
                <a:cs typeface="Playfair Display SemiBold"/>
                <a:sym typeface="Playfair Display SemiBold"/>
              </a:rPr>
              <a:t>6. Limites</a:t>
            </a:r>
            <a:endParaRPr sz="2600" b="1" dirty="0">
              <a:solidFill>
                <a:srgbClr val="993333"/>
              </a:solidFill>
              <a:latin typeface="Playfair Display SemiBold"/>
              <a:ea typeface="Playfair Display SemiBold"/>
              <a:cs typeface="Playfair Display SemiBold"/>
              <a:sym typeface="Playfair Display SemiBold"/>
            </a:endParaRPr>
          </a:p>
        </p:txBody>
      </p:sp>
      <p:grpSp>
        <p:nvGrpSpPr>
          <p:cNvPr id="123" name="Google Shape;123;p14"/>
          <p:cNvGrpSpPr/>
          <p:nvPr/>
        </p:nvGrpSpPr>
        <p:grpSpPr>
          <a:xfrm>
            <a:off x="457200" y="1047750"/>
            <a:ext cx="3905400" cy="3333900"/>
            <a:chOff x="0" y="0"/>
            <a:chExt cx="3905400" cy="3333900"/>
          </a:xfrm>
        </p:grpSpPr>
        <p:sp>
          <p:nvSpPr>
            <p:cNvPr id="124" name="Google Shape;124;p14"/>
            <p:cNvSpPr/>
            <p:nvPr/>
          </p:nvSpPr>
          <p:spPr>
            <a:xfrm>
              <a:off x="0" y="0"/>
              <a:ext cx="3905400" cy="3333900"/>
            </a:xfrm>
            <a:prstGeom prst="roundRect">
              <a:avLst>
                <a:gd name="adj" fmla="val 2285"/>
              </a:avLst>
            </a:prstGeom>
            <a:solidFill>
              <a:srgbClr val="FDFBF7"/>
            </a:solidFill>
            <a:ln w="9525" cap="flat" cmpd="sng">
              <a:solidFill>
                <a:srgbClr val="E5E5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Accent 901"/>
            <p:cNvSpPr/>
            <p:nvPr/>
          </p:nvSpPr>
          <p:spPr>
            <a:xfrm>
              <a:off x="0" y="0"/>
              <a:ext cx="38100" cy="3333900"/>
            </a:xfrm>
            <a:prstGeom prst="roundRect">
              <a:avLst>
                <a:gd name="adj" fmla="val 50000"/>
              </a:avLst>
            </a:prstGeom>
            <a:solidFill>
              <a:srgbClr val="993333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4"/>
            <p:cNvSpPr txBox="1"/>
            <p:nvPr/>
          </p:nvSpPr>
          <p:spPr>
            <a:xfrm>
              <a:off x="0" y="0"/>
              <a:ext cx="39054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28600" tIns="190500" rIns="190500" bIns="19050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600" b="1" dirty="0">
                  <a:solidFill>
                    <a:srgbClr val="993333"/>
                  </a:solidFill>
                  <a:latin typeface="Playfair Display"/>
                  <a:ea typeface="Playfair Display"/>
                  <a:cs typeface="Playfair Display"/>
                  <a:sym typeface="Playfair Display"/>
                </a:rPr>
                <a:t>Limites du travail</a:t>
              </a:r>
              <a:endParaRPr sz="1600" b="1" dirty="0">
                <a:solidFill>
                  <a:srgbClr val="993333"/>
                </a:solidFill>
                <a:latin typeface="Playfair Display"/>
                <a:ea typeface="Playfair Display"/>
                <a:cs typeface="Playfair Display"/>
                <a:sym typeface="Playfair Display"/>
              </a:endParaRPr>
            </a:p>
            <a:p>
              <a:pPr marL="205740" lvl="0" indent="-205740" algn="l" rtl="0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Dispositif restreint : Repose sur seulement 3 réplications, 1 seul modèle, 1 tâche et un horizon de 10 séries.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205740" lvl="0" indent="-20574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Le plateau étant atteint dès les premières frontières, la vitesse d'adaptation est mal résolue.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205740" lvl="0" indent="-20574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La dégénérescence repose sur un seul ensemble d'information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  <p:grpSp>
        <p:nvGrpSpPr>
          <p:cNvPr id="126" name="Google Shape;126;p14"/>
          <p:cNvGrpSpPr/>
          <p:nvPr/>
        </p:nvGrpSpPr>
        <p:grpSpPr>
          <a:xfrm>
            <a:off x="4591050" y="1047750"/>
            <a:ext cx="4095900" cy="3333900"/>
            <a:chOff x="0" y="0"/>
            <a:chExt cx="4095900" cy="3333900"/>
          </a:xfrm>
        </p:grpSpPr>
        <p:sp>
          <p:nvSpPr>
            <p:cNvPr id="127" name="Google Shape;127;p14"/>
            <p:cNvSpPr/>
            <p:nvPr/>
          </p:nvSpPr>
          <p:spPr>
            <a:xfrm>
              <a:off x="0" y="0"/>
              <a:ext cx="4095900" cy="3333900"/>
            </a:xfrm>
            <a:prstGeom prst="roundRect">
              <a:avLst>
                <a:gd name="adj" fmla="val 2285"/>
              </a:avLst>
            </a:prstGeom>
            <a:solidFill>
              <a:srgbClr val="F5F7FA"/>
            </a:solidFill>
            <a:ln w="9525" cap="flat" cmpd="sng">
              <a:solidFill>
                <a:srgbClr val="E5E5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Accent 902"/>
            <p:cNvSpPr/>
            <p:nvPr/>
          </p:nvSpPr>
          <p:spPr>
            <a:xfrm>
              <a:off x="0" y="0"/>
              <a:ext cx="38100" cy="3333900"/>
            </a:xfrm>
            <a:prstGeom prst="roundRect">
              <a:avLst>
                <a:gd name="adj" fmla="val 50000"/>
              </a:avLst>
            </a:prstGeom>
            <a:solidFill>
              <a:srgbClr val="1E3A8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4"/>
            <p:cNvSpPr txBox="1"/>
            <p:nvPr/>
          </p:nvSpPr>
          <p:spPr>
            <a:xfrm>
              <a:off x="0" y="0"/>
              <a:ext cx="40959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28600" tIns="190500" rIns="190500" bIns="19050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600" b="1" dirty="0">
                  <a:solidFill>
                    <a:srgbClr val="1E3A8A"/>
                  </a:solidFill>
                  <a:latin typeface="Playfair Display"/>
                  <a:ea typeface="Playfair Display"/>
                  <a:cs typeface="Playfair Display"/>
                  <a:sym typeface="Playfair Display"/>
                </a:rPr>
                <a:t>Next Steps et Prolongements</a:t>
              </a:r>
              <a:endParaRPr sz="1600" b="1" dirty="0">
                <a:solidFill>
                  <a:srgbClr val="1E3A8A"/>
                </a:solidFill>
                <a:latin typeface="Playfair Display"/>
                <a:ea typeface="Playfair Display"/>
                <a:cs typeface="Playfair Display"/>
                <a:sym typeface="Playfair Display"/>
              </a:endParaRPr>
            </a:p>
            <a:p>
              <a:pPr marL="205740" lvl="0" indent="-205740" algn="l" rtl="0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Des séries plus courtes et plus nombreuses pour mieux cerner la vitesse et l'oubli.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205740" lvl="0" indent="-20574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Un jeu avec plusieurs ensembles d'information à équilibre mixte et plusieurs modèles.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205740" lvl="0" indent="-20574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Affronter un adversaire biaisé puis à l'équilibre en conservant la mémoire (charge cognitive).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205740" lvl="0" indent="-20574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Même protocole joué par des humains pour obtenir la référence comportementale manquante.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  <a:p>
              <a:pPr marL="205740" lvl="0" indent="-20574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050"/>
                <a:buFont typeface="Inter"/>
                <a:buChar char="●"/>
              </a:pPr>
              <a:r>
                <a:rPr lang="fr" sz="1200" dirty="0">
                  <a:solidFill>
                    <a:srgbClr val="333333"/>
                  </a:solidFill>
                  <a:latin typeface="Times New Roman" panose="02020603050405020304" pitchFamily="18" charset="0"/>
                  <a:ea typeface="Inter"/>
                  <a:cs typeface="Times New Roman" panose="02020603050405020304" pitchFamily="18" charset="0"/>
                  <a:sym typeface="Inter"/>
                </a:rPr>
                <a:t>Adversaire LLM : Intégrer un modèle de langage chez l'adversaire pour faire de la prévisibilité une variable dynamique.</a:t>
              </a:r>
              <a:endParaRPr sz="1200" dirty="0">
                <a:solidFill>
                  <a:srgbClr val="333333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endParaRPr>
            </a:p>
          </p:txBody>
        </p:sp>
      </p:grpSp>
      <p:pic>
        <p:nvPicPr>
          <p:cNvPr id="3" name="Logo 201">
            <a:extLst>
              <a:ext uri="{FF2B5EF4-FFF2-40B4-BE49-F238E27FC236}">
                <a16:creationId xmlns:a16="http://schemas.microsoft.com/office/drawing/2014/main" id="{EE3451C9-7905-3B6F-6665-544BB4140B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4533" y="4661239"/>
            <a:ext cx="975794" cy="32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1677</TotalTime>
  <Words>5743</Words>
  <Application>Microsoft Office PowerPoint</Application>
  <PresentationFormat>Affichage à l'écran (16:9)</PresentationFormat>
  <Paragraphs>279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Times New Roman</vt:lpstr>
      <vt:lpstr>Arial</vt:lpstr>
      <vt:lpstr>Inter</vt:lpstr>
      <vt:lpstr>Calibri</vt:lpstr>
      <vt:lpstr>Playfair Display</vt:lpstr>
      <vt:lpstr>Playfair Display SemiBold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Leo Videt</cp:lastModifiedBy>
  <cp:revision>4</cp:revision>
  <dcterms:modified xsi:type="dcterms:W3CDTF">2026-09-09T08:13:44Z</dcterms:modified>
</cp:coreProperties>
</file>