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layfair Display"/>
      <p:bold r:id="rId18"/>
      <p:boldItalic r:id="rId19"/>
    </p:embeddedFont>
    <p:embeddedFont>
      <p:font typeface="Inter"/>
      <p:bold r:id="rId20"/>
      <p:boldItalic r:id="rId21"/>
    </p:embeddedFont>
    <p:embeddedFont>
      <p:font typeface="Playfair Display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PlayfairDisplaySemiBold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PlayfairDisplaySemiBold-italic.fntdata"/><Relationship Id="rId23" Type="http://schemas.openxmlformats.org/officeDocument/2006/relationships/font" Target="fonts/PlayfairDisplay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layfairDisplay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f43d40a468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g3f43d40a468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Slide de titre.</a:t>
            </a:r>
            <a:endParaRPr/>
          </a:p>
        </p:txBody>
      </p:sp>
      <p:sp>
        <p:nvSpPr>
          <p:cNvPr id="10" name="Google Shape;10;g3f43d40a468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b2f260372_1_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fb2f260372_1_9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22" name="Google Shape;22;g3fb2f260372_1_9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b2f260372_1_6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g3fb2f260372_1_6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30" name="Google Shape;30;g3fb2f260372_1_6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b2f260372_1_1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g3fb2f260372_1_15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38" name="Google Shape;38;g3fb2f260372_1_15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b2f260372_1_3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b2f260372_1_3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46" name="Google Shape;46;g3fb2f260372_1_3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2f260372_1_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fb2f260372_1_1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54" name="Google Shape;54;g3fb2f260372_1_1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b2f260372_1_1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fb2f260372_1_11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62" name="Google Shape;62;g3fb2f260372_1_11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b2f260372_1_12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fb2f260372_1_12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86" name="Google Shape;86;g3fb2f260372_1_12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2f260372_1_1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fb2f260372_1_13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94" name="Google Shape;94;g3fb2f260372_1_13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b2f260372_1_1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fb2f260372_1_13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102" name="Google Shape;102;g3fb2f260372_1_13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b2f260372_1_1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fb2f260372_1_17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110" name="Google Shape;110;g3fb2f260372_1_17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2f260372_1_1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fb2f260372_1_14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 pôles, 3 rôles strictement distincts. Horton est l'hypothèse testée et nuancée, pas un socle à parité avec Rahwan.</a:t>
            </a:r>
            <a:endParaRPr/>
          </a:p>
        </p:txBody>
      </p:sp>
      <p:sp>
        <p:nvSpPr>
          <p:cNvPr id="118" name="Google Shape;118;g3fb2f260372_1_14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videtleo@gmail.com" TargetMode="External"/><Relationship Id="rId4" Type="http://schemas.openxmlformats.org/officeDocument/2006/relationships/hyperlink" Target="mailto:leovidet@universite-paris-saclay.fr" TargetMode="Externa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640075" y="2301000"/>
            <a:ext cx="71322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fr" sz="3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Exercice 3 : Soutenance </a:t>
            </a:r>
            <a:endParaRPr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640080" y="307069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C0C8"/>
              </a:buClr>
              <a:buSzPts val="1500"/>
              <a:buFont typeface="Calibri"/>
              <a:buNone/>
            </a:pPr>
            <a:r>
              <a:rPr i="1" lang="fr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Sujet : Dans un environnement stratégique à information imparfaite, un agent LLM autonome équipé d'une mémoire persistante développe-t-il une adaptation comportementale s'apparentant à une stratégie ?</a:t>
            </a:r>
            <a:endParaRPr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" name="Google Shape;14;p3"/>
          <p:cNvCxnSpPr/>
          <p:nvPr/>
        </p:nvCxnSpPr>
        <p:spPr>
          <a:xfrm>
            <a:off x="640080" y="3756490"/>
            <a:ext cx="2560200" cy="0"/>
          </a:xfrm>
          <a:prstGeom prst="straightConnector1">
            <a:avLst/>
          </a:prstGeom>
          <a:noFill/>
          <a:ln cap="flat" cmpd="sng" w="19050">
            <a:solidFill>
              <a:srgbClr val="9933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3"/>
          <p:cNvSpPr/>
          <p:nvPr/>
        </p:nvSpPr>
        <p:spPr>
          <a:xfrm>
            <a:off x="640075" y="3985100"/>
            <a:ext cx="36801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C0C5"/>
              </a:buClr>
              <a:buSzPts val="1200"/>
              <a:buFont typeface="Calibri"/>
              <a:buNone/>
            </a:pPr>
            <a:r>
              <a:rPr lang="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Videt Léo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C0C5"/>
              </a:buClr>
              <a:buSzPts val="1200"/>
              <a:buFont typeface="Calibri"/>
              <a:buNone/>
            </a:pPr>
            <a:r>
              <a:rPr lang="fr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videtleo@gmail.com</a:t>
            </a:r>
            <a:r>
              <a:rPr lang="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C0C5"/>
              </a:buClr>
              <a:buSzPts val="1200"/>
              <a:buFont typeface="Calibri"/>
              <a:buNone/>
            </a:pPr>
            <a:r>
              <a:rPr lang="fr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leo.videt@universite-paris-saclay.fr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75" y="1415221"/>
            <a:ext cx="2410608" cy="8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1194" y="1313300"/>
            <a:ext cx="2276494" cy="80150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438025" y="4248500"/>
            <a:ext cx="110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C0C5"/>
              </a:buClr>
              <a:buSzPts val="1200"/>
              <a:buFont typeface="Calibri"/>
              <a:buNone/>
            </a:pPr>
            <a:r>
              <a:rPr lang="fr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Septembre 2026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1. Motivations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2</a:t>
            </a: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. Revue de littérature 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2. Revue de littérature 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3</a:t>
            </a: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. </a:t>
            </a: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Méthodologie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3</a:t>
            </a: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. </a:t>
            </a: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Méthodologie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9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4</a:t>
            </a: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. Hypothèses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grpSp>
        <p:nvGrpSpPr>
          <p:cNvPr id="67" name="Google Shape;67;p9"/>
          <p:cNvGrpSpPr/>
          <p:nvPr/>
        </p:nvGrpSpPr>
        <p:grpSpPr>
          <a:xfrm>
            <a:off x="457200" y="952500"/>
            <a:ext cx="3905400" cy="1714500"/>
            <a:chOff x="0" y="0"/>
            <a:chExt cx="3905400" cy="1714500"/>
          </a:xfrm>
        </p:grpSpPr>
        <p:sp>
          <p:nvSpPr>
            <p:cNvPr id="68" name="Google Shape;68;p9"/>
            <p:cNvSpPr/>
            <p:nvPr/>
          </p:nvSpPr>
          <p:spPr>
            <a:xfrm>
              <a:off x="0" y="0"/>
              <a:ext cx="3905400" cy="1714500"/>
            </a:xfrm>
            <a:prstGeom prst="roundRect">
              <a:avLst>
                <a:gd fmla="val 3333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0" y="0"/>
              <a:ext cx="38100" cy="1714500"/>
            </a:xfrm>
            <a:prstGeom prst="roundRect">
              <a:avLst>
                <a:gd fmla="val 50000" name="adj"/>
              </a:avLst>
            </a:prstGeom>
            <a:solidFill>
              <a:srgbClr val="99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9"/>
            <p:cNvSpPr txBox="1"/>
            <p:nvPr/>
          </p:nvSpPr>
          <p:spPr>
            <a:xfrm>
              <a:off x="114300" y="95250"/>
              <a:ext cx="36768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5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H1 : Il y a adaptation, et elle vient de la mémoire.</a:t>
              </a:r>
              <a:endParaRPr b="1" sz="1050">
                <a:solidFill>
                  <a:srgbClr val="99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fr" sz="9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Face à un adversaire exploitable, l'écart d'exploitation d'un agent doté d'une mémoire persistante auto-rédigée décroît au fil des séries, tandis que celui du même modèle privé de mémoire reste stationnaire.</a:t>
              </a:r>
              <a:endParaRPr b="0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fr" sz="90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Mesure :</a:t>
              </a:r>
              <a:r>
                <a:rPr lang="fr" sz="9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pente de l’écart et écart final, condition AE contre condition SM.</a:t>
              </a:r>
              <a:endParaRPr sz="9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fr" sz="90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Réfutation :</a:t>
              </a:r>
              <a:r>
                <a:rPr lang="fr" sz="9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AE ne se distingue pas de SM.</a:t>
              </a:r>
              <a:endParaRPr sz="9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1" name="Google Shape;71;p9"/>
          <p:cNvGrpSpPr/>
          <p:nvPr/>
        </p:nvGrpSpPr>
        <p:grpSpPr>
          <a:xfrm>
            <a:off x="4743450" y="952500"/>
            <a:ext cx="3905400" cy="1714500"/>
            <a:chOff x="0" y="0"/>
            <a:chExt cx="3905400" cy="1714500"/>
          </a:xfrm>
        </p:grpSpPr>
        <p:sp>
          <p:nvSpPr>
            <p:cNvPr id="72" name="Google Shape;72;p9"/>
            <p:cNvSpPr/>
            <p:nvPr/>
          </p:nvSpPr>
          <p:spPr>
            <a:xfrm>
              <a:off x="0" y="0"/>
              <a:ext cx="3905400" cy="1714500"/>
            </a:xfrm>
            <a:prstGeom prst="roundRect">
              <a:avLst>
                <a:gd fmla="val 3333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9"/>
            <p:cNvSpPr/>
            <p:nvPr/>
          </p:nvSpPr>
          <p:spPr>
            <a:xfrm>
              <a:off x="0" y="0"/>
              <a:ext cx="38100" cy="1714500"/>
            </a:xfrm>
            <a:prstGeom prst="roundRect">
              <a:avLst>
                <a:gd fmla="val 50000" name="adj"/>
              </a:avLst>
            </a:prstGeom>
            <a:solidFill>
              <a:srgbClr val="99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9"/>
            <p:cNvSpPr txBox="1"/>
            <p:nvPr/>
          </p:nvSpPr>
          <p:spPr>
            <a:xfrm>
              <a:off x="114300" y="95250"/>
              <a:ext cx="36768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5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H2 : L'adaptation est exploitative, non récitée.</a:t>
              </a:r>
              <a:endParaRPr b="1" sz="1050">
                <a:solidFill>
                  <a:srgbClr val="99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fr" sz="9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L'adaptation observée consiste à s'écarter de l'équilibre dans la direction que commande l'adversaire rencontré : cesser de bluffer, engager toutes les mains...</a:t>
              </a:r>
              <a:endParaRPr b="0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fr" sz="90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Mesure :</a:t>
              </a:r>
              <a:r>
                <a:rPr lang="fr" sz="9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signe et amplitude de la référence récitée, par adversaire.</a:t>
              </a:r>
              <a:endParaRPr sz="9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fr" sz="90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Réfutation :</a:t>
              </a:r>
              <a:r>
                <a:rPr lang="fr" sz="9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l'écart ne descend que contre l'un des deux adversaires biaisés ; ou la référence récitée devient positive.</a:t>
              </a:r>
              <a:endParaRPr sz="9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5" name="Google Shape;75;p9"/>
          <p:cNvGrpSpPr/>
          <p:nvPr/>
        </p:nvGrpSpPr>
        <p:grpSpPr>
          <a:xfrm>
            <a:off x="457200" y="2809875"/>
            <a:ext cx="3905400" cy="1714500"/>
            <a:chOff x="0" y="0"/>
            <a:chExt cx="3905400" cy="1714500"/>
          </a:xfrm>
        </p:grpSpPr>
        <p:sp>
          <p:nvSpPr>
            <p:cNvPr id="76" name="Google Shape;76;p9"/>
            <p:cNvSpPr/>
            <p:nvPr/>
          </p:nvSpPr>
          <p:spPr>
            <a:xfrm>
              <a:off x="0" y="0"/>
              <a:ext cx="3905400" cy="1714500"/>
            </a:xfrm>
            <a:prstGeom prst="roundRect">
              <a:avLst>
                <a:gd fmla="val 3333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0" y="0"/>
              <a:ext cx="38100" cy="1714500"/>
            </a:xfrm>
            <a:prstGeom prst="roundRect">
              <a:avLst>
                <a:gd fmla="val 50000" name="adj"/>
              </a:avLst>
            </a:prstGeom>
            <a:solidFill>
              <a:srgbClr val="99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9"/>
            <p:cNvSpPr txBox="1"/>
            <p:nvPr/>
          </p:nvSpPr>
          <p:spPr>
            <a:xfrm>
              <a:off x="114300" y="95250"/>
              <a:ext cx="36768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5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H3 : Le mécanisme de rétention détermine la forme.</a:t>
              </a:r>
              <a:endParaRPr b="1" sz="1050">
                <a:solidFill>
                  <a:srgbClr val="99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fr" sz="9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La mémoire auto-rédigée produit une adaptation plus durable que la simple réinjection de l'historique brut, sujette à la saturation.</a:t>
              </a:r>
              <a:endParaRPr b="0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fr" sz="90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Mesure :</a:t>
              </a:r>
              <a:r>
                <a:rPr lang="fr" sz="9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trajectoire, écart final, aire sous la courbe, série d'atteinte du plateau.</a:t>
              </a:r>
              <a:endParaRPr sz="9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fr" sz="90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Réfutation :</a:t>
              </a:r>
              <a:r>
                <a:rPr lang="fr" sz="9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ICL égale ou surpasse AE ; ou AE ne présente aucune accumulation.</a:t>
              </a:r>
              <a:endParaRPr sz="9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9" name="Google Shape;79;p9"/>
          <p:cNvGrpSpPr/>
          <p:nvPr/>
        </p:nvGrpSpPr>
        <p:grpSpPr>
          <a:xfrm>
            <a:off x="4743450" y="2809875"/>
            <a:ext cx="3905400" cy="1714500"/>
            <a:chOff x="0" y="0"/>
            <a:chExt cx="3905400" cy="1714500"/>
          </a:xfrm>
        </p:grpSpPr>
        <p:sp>
          <p:nvSpPr>
            <p:cNvPr id="80" name="Google Shape;80;p9"/>
            <p:cNvSpPr/>
            <p:nvPr/>
          </p:nvSpPr>
          <p:spPr>
            <a:xfrm>
              <a:off x="0" y="0"/>
              <a:ext cx="3905400" cy="1714500"/>
            </a:xfrm>
            <a:prstGeom prst="roundRect">
              <a:avLst>
                <a:gd fmla="val 3333" name="adj"/>
              </a:avLst>
            </a:prstGeom>
            <a:solidFill>
              <a:srgbClr val="F9FAFB"/>
            </a:solidFill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0" y="0"/>
              <a:ext cx="38100" cy="1714500"/>
            </a:xfrm>
            <a:prstGeom prst="roundRect">
              <a:avLst>
                <a:gd fmla="val 50000" name="adj"/>
              </a:avLst>
            </a:prstGeom>
            <a:solidFill>
              <a:srgbClr val="9933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9"/>
            <p:cNvSpPr txBox="1"/>
            <p:nvPr/>
          </p:nvSpPr>
          <p:spPr>
            <a:xfrm>
              <a:off x="114300" y="95250"/>
              <a:ext cx="36768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05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H4 : L'adaptation coexiste avec des biais persistants.</a:t>
              </a:r>
              <a:endParaRPr b="1" sz="1050">
                <a:solidFill>
                  <a:srgbClr val="99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fr" sz="9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Même si sa politique s'améliore, l'agent conserve des défaillances : incohérence raisonnement/action (GTBENCH : 45,1 % d'erreurs), incapacité à stabiliser.</a:t>
              </a:r>
              <a:endParaRPr b="0" sz="9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fr" sz="90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Mesure :</a:t>
              </a:r>
              <a:r>
                <a:rPr lang="fr" sz="9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taux d'incohérence raisonnement ↔ action</a:t>
              </a:r>
              <a:endParaRPr sz="9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fr" sz="900">
                  <a:solidFill>
                    <a:srgbClr val="993333"/>
                  </a:solidFill>
                  <a:latin typeface="Inter"/>
                  <a:ea typeface="Inter"/>
                  <a:cs typeface="Inter"/>
                  <a:sym typeface="Inter"/>
                </a:rPr>
                <a:t>Réfutation :</a:t>
              </a:r>
              <a:r>
                <a:rPr lang="fr" sz="9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 les fréquences se stabilisent et l'incohérence devient négligeable.</a:t>
              </a:r>
              <a:endParaRPr sz="9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5</a:t>
            </a: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. Résultats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5. Résultats 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2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5</a:t>
            </a: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. Résultats 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5. Résultats 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53" y="4768707"/>
            <a:ext cx="975794" cy="32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0420" y="4727450"/>
            <a:ext cx="921506" cy="32444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/>
          <p:nvPr/>
        </p:nvSpPr>
        <p:spPr>
          <a:xfrm>
            <a:off x="457200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6</a:t>
            </a:r>
            <a:r>
              <a:rPr lang="fr" sz="2600">
                <a:solidFill>
                  <a:srgbClr val="993333"/>
                </a:solidFill>
                <a:latin typeface="Playfair Display SemiBold"/>
                <a:ea typeface="Playfair Display SemiBold"/>
                <a:cs typeface="Playfair Display SemiBold"/>
                <a:sym typeface="Playfair Display SemiBold"/>
              </a:rPr>
              <a:t>. Limites et next step</a:t>
            </a:r>
            <a:endParaRPr sz="2600">
              <a:solidFill>
                <a:srgbClr val="993333"/>
              </a:solidFill>
              <a:latin typeface="Playfair Display SemiBold"/>
              <a:ea typeface="Playfair Display SemiBold"/>
              <a:cs typeface="Playfair Display SemiBold"/>
              <a:sym typeface="Playfair Display SemiBold"/>
            </a:endParaRPr>
          </a:p>
        </p:txBody>
      </p:sp>
      <p:grpSp>
        <p:nvGrpSpPr>
          <p:cNvPr id="123" name="Google Shape;123;p14"/>
          <p:cNvGrpSpPr/>
          <p:nvPr/>
        </p:nvGrpSpPr>
        <p:grpSpPr>
          <a:xfrm>
            <a:off x="457200" y="1047750"/>
            <a:ext cx="3905400" cy="3333900"/>
            <a:chOff x="0" y="0"/>
            <a:chExt cx="3905400" cy="33339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3905400" cy="3333900"/>
            </a:xfrm>
            <a:prstGeom prst="roundRect">
              <a:avLst>
                <a:gd fmla="val 2285" name="adj"/>
              </a:avLst>
            </a:prstGeom>
            <a:solidFill>
              <a:srgbClr val="FDFBF7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 txBox="1"/>
            <p:nvPr/>
          </p:nvSpPr>
          <p:spPr>
            <a:xfrm>
              <a:off x="0" y="0"/>
              <a:ext cx="3905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600">
                  <a:solidFill>
                    <a:srgbClr val="993333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Limites du travail</a:t>
              </a:r>
              <a:endParaRPr b="1" sz="1600">
                <a:solidFill>
                  <a:srgbClr val="993333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Inter"/>
                <a:buChar char="●"/>
              </a:pPr>
              <a:r>
                <a:rPr b="1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Dispositif restreint :</a:t>
              </a:r>
              <a:r>
                <a:rPr b="0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Repose sur seulement 3 réplications, 1 seul modèle, 1 tâche et un horizon de 10 séries.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Inter"/>
                <a:buChar char="●"/>
              </a:pPr>
              <a:r>
                <a:rPr b="1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Mesure de la vitesse :</a:t>
              </a:r>
              <a:r>
                <a:rPr b="0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Le plateau étant atteint dès les premières frontières, la vitesse d'adaptation est mal résolue.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Inter"/>
                <a:buChar char="●"/>
              </a:pPr>
              <a:r>
                <a:rPr b="1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Contrôle négatif :</a:t>
              </a:r>
              <a:r>
                <a:rPr b="0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Non conduit en condition de réinjection (arbitrage assumé dû au dimensionnement).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Inter"/>
                <a:buChar char="●"/>
              </a:pPr>
              <a:r>
                <a:rPr b="1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Dégénérescence :</a:t>
              </a:r>
              <a:r>
                <a:rPr b="0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Repose sur un seul ensemble d'information (contrôle interne sur 3 séries).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Inter"/>
                <a:buChar char="●"/>
              </a:pPr>
              <a:r>
                <a:rPr b="1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Codage manuel :</a:t>
              </a:r>
              <a:r>
                <a:rPr b="0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Écarté du périmètre (aurait pu préciser le taux d'incohérence non couvert).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14"/>
          <p:cNvGrpSpPr/>
          <p:nvPr/>
        </p:nvGrpSpPr>
        <p:grpSpPr>
          <a:xfrm>
            <a:off x="4591050" y="1047750"/>
            <a:ext cx="4095900" cy="3333900"/>
            <a:chOff x="0" y="0"/>
            <a:chExt cx="4095900" cy="3333900"/>
          </a:xfrm>
        </p:grpSpPr>
        <p:sp>
          <p:nvSpPr>
            <p:cNvPr id="127" name="Google Shape;127;p14"/>
            <p:cNvSpPr/>
            <p:nvPr/>
          </p:nvSpPr>
          <p:spPr>
            <a:xfrm>
              <a:off x="0" y="0"/>
              <a:ext cx="4095900" cy="3333900"/>
            </a:xfrm>
            <a:prstGeom prst="roundRect">
              <a:avLst>
                <a:gd fmla="val 2285" name="adj"/>
              </a:avLst>
            </a:prstGeom>
            <a:solidFill>
              <a:srgbClr val="F5F7FA"/>
            </a:solidFill>
            <a:ln cap="flat" cmpd="sng" w="9525">
              <a:solidFill>
                <a:srgbClr val="E5E5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 txBox="1"/>
            <p:nvPr/>
          </p:nvSpPr>
          <p:spPr>
            <a:xfrm>
              <a:off x="0" y="0"/>
              <a:ext cx="40959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1600">
                  <a:solidFill>
                    <a:srgbClr val="1E3A8A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Next Steps &amp; Prolongements</a:t>
              </a:r>
              <a:endParaRPr b="1" sz="1600">
                <a:solidFill>
                  <a:srgbClr val="1E3A8A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Inter"/>
                <a:buChar char="●"/>
              </a:pPr>
              <a:r>
                <a:rPr b="1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Nouveau protocole :</a:t>
              </a:r>
              <a:r>
                <a:rPr b="0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Séries plus courtes et plus nombreuses pour mieux cerner la vitesse et l'oubli.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Inter"/>
                <a:buChar char="●"/>
              </a:pPr>
              <a:r>
                <a:rPr b="1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Généralisation :</a:t>
              </a:r>
              <a:r>
                <a:rPr b="0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Jeu avec plusieurs ensembles d'information à équilibre mixte et plusieurs modèles.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Inter"/>
                <a:buChar char="●"/>
              </a:pPr>
              <a:r>
                <a:rPr b="1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Bras de transfert :</a:t>
              </a:r>
              <a:r>
                <a:rPr b="0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Affronter un adversaire biaisé puis à l'équilibre en conservant la mémoire (charge cognitive).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Inter"/>
                <a:buChar char="●"/>
              </a:pPr>
              <a:r>
                <a:rPr b="1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Bras humain :</a:t>
              </a:r>
              <a:r>
                <a:rPr b="0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Même protocole joué par des humains pour obtenir la référence comportementale manquante.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527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Inter"/>
                <a:buChar char="●"/>
              </a:pPr>
              <a:r>
                <a:rPr b="1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Adversaire LLM :</a:t>
              </a:r>
              <a:r>
                <a:rPr b="0" lang="fr" sz="1050">
                  <a:solidFill>
                    <a:srgbClr val="333333"/>
                  </a:solidFill>
                  <a:latin typeface="Inter"/>
                  <a:ea typeface="Inter"/>
                  <a:cs typeface="Inter"/>
                  <a:sym typeface="Inter"/>
                </a:rPr>
                <a:t> Intégrer un modèle de langage chez l'adversaire pour faire de la prévisibilité une variable dynamique.</a:t>
              </a:r>
              <a:endParaRPr b="0" sz="105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